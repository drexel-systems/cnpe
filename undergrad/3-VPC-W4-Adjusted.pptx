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62" r:id="rId3"/>
    <p:sldId id="284" r:id="rId4"/>
    <p:sldId id="283" r:id="rId5"/>
    <p:sldId id="298" r:id="rId6"/>
    <p:sldId id="317" r:id="rId7"/>
    <p:sldId id="322" r:id="rId8"/>
    <p:sldId id="318" r:id="rId9"/>
    <p:sldId id="299" r:id="rId10"/>
    <p:sldId id="304" r:id="rId11"/>
    <p:sldId id="305" r:id="rId12"/>
    <p:sldId id="306" r:id="rId13"/>
    <p:sldId id="300" r:id="rId14"/>
    <p:sldId id="319" r:id="rId15"/>
    <p:sldId id="314" r:id="rId16"/>
    <p:sldId id="321" r:id="rId17"/>
    <p:sldId id="320" r:id="rId18"/>
    <p:sldId id="307" r:id="rId19"/>
    <p:sldId id="301" r:id="rId20"/>
    <p:sldId id="308" r:id="rId21"/>
    <p:sldId id="302" r:id="rId22"/>
    <p:sldId id="309" r:id="rId23"/>
    <p:sldId id="310" r:id="rId24"/>
    <p:sldId id="311" r:id="rId25"/>
    <p:sldId id="312" r:id="rId26"/>
    <p:sldId id="313" r:id="rId27"/>
    <p:sldId id="315" r:id="rId28"/>
    <p:sldId id="316" r:id="rId29"/>
    <p:sldId id="303" r:id="rId30"/>
    <p:sldId id="259" r:id="rId31"/>
    <p:sldId id="260" r:id="rId32"/>
    <p:sldId id="26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8435"/>
    <a:srgbClr val="F68633"/>
    <a:srgbClr val="669DF6"/>
    <a:srgbClr val="00AF50"/>
    <a:srgbClr val="156082"/>
    <a:srgbClr val="4285F4"/>
    <a:srgbClr val="126D99"/>
    <a:srgbClr val="FFB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3"/>
    <p:restoredTop sz="93356"/>
  </p:normalViewPr>
  <p:slideViewPr>
    <p:cSldViewPr snapToGrid="0">
      <p:cViewPr varScale="1">
        <p:scale>
          <a:sx n="114" d="100"/>
          <a:sy n="114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1:32.8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1 241 13469,'23'-11'1080,"-2"0"-810,-9 0 179,1 2-179,-1-2 0,3 2 0,1-2 90,3 2-91,0 0 91,-1 2-90,4-1 360,-8 3-270,12-3-91,-9 3 1,8-1-180,-2 1 90,-4 2-90,4-2 90,0 2-90,1-1 90,2 1 0,-1 0 0,4 1 179,26-3 1,12 1 0,4-2-180,23-2-772,-20 2 1,-6 1 681,-15 0 165,40-5-165,-39 4 0,3 0 0,-1 1 0,-17 1-90,19 0 90,-27 3 90,11 1-90,-7 1 90,17 4-90,-24-1 179,47 10-269,-38-7 90,28 5 1271,-37-4-1181,25 3-163,-19-4 73,51 9-90,-53-10 0,27 3 0,-37-4 90,24 0-90,-17-2 0,41 4 0,-40-4 0,29 3 0,-32-5 90,26 3-90,-25-2 0,14 0 0,-13 0 0,-8 0 0,13-1 0,-14 0 0,23 0 89,-18-1-89,19 0 90,-16 0-90,2-1 180,29-2-180,-21 2 90,37-3-90,-39 2 0,43-2 90,-38 2-3482,32-1 3392,-42 2 90,37-1-90,-36 2 0,21-2 0,-31 3 0,23-1 0,-13 1 0,47-1 0,-38 0 0,54-1 0,-52 0 0,39 2 0,-45-1-296,35 1 386,-37-1-90,29 0-90,-33 0 180,37 2-90,-29-1 0,39 2 0,-39-3 0,55 4 0,-43-2 0,1 0 0,0 0 0,0 0 0,1 1 0,2-1 0,11 2 0,0-1 0,0 0 0,-3 1 0,-9-1 0,-2-1 0,-5 1 0,51 2 0,-48-1 0,45 3 0,-52-4 0,7 0 0,1 0 0,-4 0 0,46 3 0,-60-4 3245,19 1-3245,-23 0 0,27 0 0,-27-1 0,26 2 0,-27-3 0,39 3 0,-29-4 0,39 5 0,-38-6 0,49 4 0,-39-3 0,45 2 443,-50-1-443,42-1 0,-42 0 0,51-1 0,-53 1 0,35-2 0,-41 1 0,40-1 0,-37 1 0,55-1 0,-50 2 0,47 1 0,-42 1 0,9 0 0,2 0 0,1 1 0,6-1 0,0 1 0,-8 0 0,12 0 0,1 0 0,-9 0-1696,-9-1 0,-3 1 1696,-7-1-344,35 1 344,-28-1 0,2 0 0,-1-1 0,-8 0 0,38 2 0,-43-3 0,50 3 0,-38-2 0,7 1 0,1 0 0,1 0 0,8 0 0,2 0 0,2-1-1077,-7 0 0,-1 0 1077,-2-1-347,5-2 1,1 0 346,2 0 0,10-2 0,-1 0 0,-15 0 0,-10 1 0,-3 0 0,-10 1 1266,42-5-1266,-41 5 0,43-5 0,-42 5 2,57-2-2,-44 2 0,21 1 0,3 0 0,-7 1 0,7 0 0,-1 1 0,-11-1 0,-3 0 0,-3 0 0,-6-1 0,41 0 0,-58 0 844,38 0-844,-41 0 0,22-1-1484,-33 0 1484,5 1 225,-3 0-225,17-2 0,-8 2 0,48-1 0,-35 3 0,3 1 0,1 0 0,7 2 0,9 1 0,1 1 0,8 0 0,-4 0 0,0 0 2233,-3-2-2233,4-1 0,0-1 0,0 1 0,11-3 0,-1-1 0,-13-2 0,-3-1 0,0-1 0,0-1 0,1-1 0,0-1 0,5 0 0,-4 1 0,-1 0 0,-6 0 0,-3 3 0,1 1 0,5-1 0,12 4 0,2 1 0,-1 1 0,-2 0 0,-1 2 0,-5-1 0,-4 2 0,-2 1 0,-1-2 0,1 4 0,-2-1 0,-13 0 0,44 7 0,-54-7 0,47 6 0,-42-5 0,46 4 0,-47-5 0,5-2 0,3-1 0,9 2 0,2-1 0,1-1 0,-3-1 0,-10 1 0,-3-1 0,-6-2 90,28 2-90,-32-2 180,44 1-180,-39-1 180,54 0-90,-50-3 90,47 0-90,-37 0 0,0 0 0,0 0 0,7 0-45,-8 1 0,-2-1-45,-3 1 45,7 1 0,3 0 45,8 0-1,15 1 1,1 0-1042,-3 1 997,-19-1 0,-1-1 45,5 1 90,-1-1 0,1 1-90,6-1-45,-11 1 0,-5-1 2913,-17 0-2778,39-2-90,-38 1 90,40-1-180,-53 2 90,21-2 0,-22 1 90,57-6-90,-44 4 90,55-4-180,-54 3 180,47-3-180,-44 3 90,35-4-1,-45 5 1582,35-2-1671,-33 2 90,42-3-90,-44 3 90,15-1-90,-24 3 90,27-2-90,-22 1 0,34-2 90,-38 1 0,38-3-90,-29 1 0,37-1 0,-37 1 0,47-4 0,-36 3 0,9-1 0,1 0 0,-6 2 0,46-6 0,-56 8 0,43-5 0,-43 5 0,37-2 0,-40 1 0,45-1 0,-38 2-3392,38-1 3392,-43 2-428,43 0 428,-40 0 0,56-1 0,-57 1 0,37 1 0,-43 1 0,27 1 0,-31 0 0,21-1 0,-21 1 0,-1-2 3181,0 1-3181,-8 0-171,3-1-1448,-1 0-2339,-6-1 3419,-26-11-721,5 5 541,-28-9-900,12 5 719,0 0-2608,-15-10 2069,14 11-3868,-24-9 5307,17 12 0,-26-6 0,5 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0.7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14 418 9332,'-6'-16'8365,"1"0"-4407,3-3-3689,14 27-89,-3-9-90,12 28 90,-12-15-90,6 5 90,-8-7-90,7 10 90,-6-10-90,6 6 90,-3-6 90,1 2-1,7-5-179,4-9 0,2-5 0,3-9 0,-4-2 0,0-2 0,3-7 90,1 0 0,6-13 0,1-2-90,2 2-45,-1-4 0,-2 2 45,-14 18-90,14-15-90,-19 22-270,8-10-180,-11 14-719,0-2-1799,0 4 3058,-4 0 0,-14-5 0,-5-1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2.1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 37 12030,'-15'24'180,"3"3"-5750,11-10 5660,1 5 1408,0-4-1228,1 14-90,0-7 180,2 19-180,0-17 1219,8 26-1219,-2-25 360,16 25-450,-12-34 269,17 11-269,-13-21 3752,21-3-3752,-17-8 90,18-13-90,-21 1 90,10-27-90,-16 15 0,2-28-90,-11 25 90,-5-22-90,-1 22-270,-5-21 0,0 21-540,1-2-629,1 9-3598,1 10 5037,3-7 0,9-1 0,5-6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2.5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75 1 10951,'-16'8'1889,"-2"0"-1350,4-1-269,-3 1-90,8 5-90,11 4-90,6 0 90,8-2-90,-2-4 0,-2-4 0,1 2 90,6 5 90,1 4-90,0-1 180,-1 7-90,-8-4 89,-2-1 91,-6 6-270,-9-5 0,0 0 270,-11 2-630,-5-3-270,-1-3-719,-2 0-2159,6-11 3418,1-5 0,9-1 0,1-4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2.8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50 13379,'22'0'2879,"1"-2"-2340,-4-6-359,6 0 90,-11 4-270,14-4-90,-14 5-90,11-4-719,-12 4 899,6-1 0,-12 3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3.4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37 243 11400,'21'-14'540,"-2"-1"-270,-8 5-90,3-2 0,1-2 0,1 0 0,0-1 0,0 1 89,6-6 1,-9 6 540,11-11-181,-14 9-89,2-6-360,-14 4 0,-8 7 0,-12 2-90,-8 11 0,4 1 90,-1 3 179,1 2-179,2-1 0,0 1 0,1 2-90,10-3 0,-1 5 0,9 4 0,8-1 0,9 1-90,4-2 90,2-6-90,3 3 0,-6-6 0,7 4 0,-6-4 0,3 2 90,-2 0 0,-14 12 0,-3-4 0,-15 9-1,2-8 1,-4 4 0,2-1 0,-1 1 0,2-1 90,-2 4 0,4-6-90,1 8 0,7-4 0,3 2 0,6-1 0,0-6-90,8 1 90,-4-7 0,8 2-270,-5-4 0,10 1-630,-7-5 91,10 2-4408,6-11 2698,-9 0 2429,12-15 0,-15-5 0,7-9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3.9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1 14009,'-33'1'2788,"3"1"-2518,8-1-180,2 8 0,8-1 0,-2 10 90,-2 7-90,4-4 180,-12 28-90,14-27-180,-7 19 180,12-26-1,-1 6-89,9-3-90,5-5 0,10-2-90,5-11 90,4-4-89,-6 0 89,2-5 0,-7 5-90,3-2-450,-1 2-270,4 4-1079,-4 1-89,6 4-2160,-7-2 4138,5-2 0,-1-7 0,3-4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4.2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90 21 14009,'-22'-13'1979,"-3"6"-2159,6 12 90,15 13 90,9-1-90,13 0 90,-2-3 0,-3-2 0,0 1 0,-1 3 0,-5 0 90,-2 6-90,-6 4 0,-5-6-3392,-2 1 3392,-1-7-270,-6 3-90,-1-2-1798,-1-4 898,-2-11 91,12-7-450,-3-11 3122,9 0-1503,4-5 0,6-17 0,3-6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4.5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 14998,'0'23'1530,"0"-2"-1261,4-2 1,-1-2 0,0 2-90,0 0 0,-1 2 0,-1 1 0,0 1 0,-3 24-270,-1-14-1260,-7 47-89,5-46 450,-4 22 989,7-39 0,0-3 0,1-10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4.6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1 111 18416,'22'-18'360,"-5"3"-809,10 7-1440,-11 3-1260,9-2 1800,-7 0-3598,0 0 4947,1-5 0,1-1 0,7-5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4.9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 0 18866,'9'19'1709,"-1"-2"-1349,-1-6 0,-1 4-90,-1 6-90,-1 7 89,-1 8 1,-4 11-90,-1 3 90,-8 27-270,0 3-360,0-12-3598,0 4 3958,8-47 0,-2 1 0,3-18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6.9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0 105 19766,'33'-18'2069,"-7"3"-7370,4 13 6111,15-1 958,-6-1-1004,34-5 1,5-1-585,-12 2 45,11-2 0,-4 1 904,-31 5-499,34-2-450,-36 4 270,26 1-271,-38 0 91,5 2-180,-7-1 270,5 2 3302,-3-1-3752,2 0-900,-8-1-2338,-3-1 3328,-1-2 0,-10 1 0,-3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7.9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88 164 13289,'16'-12'5487,"1"2"-4947,-19 29 90,3-8-181,-13 23 91,4-14-3482,-1 2 3302,-1 0 629,-9 16-269,3-8-540,-3 9 89,8-19 1,3-2-360,1-5 3392,11-35-3392,0 9-90,12-34 91,1 13-91,2-1 90,4-3 0,-3 4-90,7-7 90,-10 14-90,11-15 90,-14 22 0,7-9 90,-11 15-180,10-8 180,-9 15 0,7 4 0,-7 12 90,-2 10-90,-4 4 90,0 3 0,-1 6 0,1 41 0,-4-25-90,2 30 90,-4-41 0,-3 42-90,2-41-90,-4 39 0,4-56-1259,-1 15-2699,0-18-2069,-6 0 1710,-1-25 4407,-2-4 0,-3-20 0,4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8.1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53 17607,'43'-3'720,"-5"0"-451,-16-1-89,0 2-90,1-2-90,-1 1-180,-2 1-179,5-1-631,-8 1-449,8 0-2159,-9 0-1709,3 3 5307,2-3 0,-3-6 0,2-5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8.6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 16348,'26'2'1349,"-2"-2"-809,-5-5 89,2 2-269,-2 5-180,-1 8 270,-7 2-180,-8 14-1,-5-4 1,-4 9 0,-1-1 90,-3 0 269,-5 17 451,-3 8-720,3-8 449,0 5-449,10-26 629,5 12-629,4-16 450,13 9-450,-2-19-91,8 2 1,-1-7 0,-2-2-90,4-1-90,-2-1 0,0-1-180,1 0-90,5-1-540,-7 0-2248,16 0-6863,-17 1 7971,-15 8 0,-18-7 1,-24 5-1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08.9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92 15898,'18'-4'1529,"0"1"-719,-2 1 89,2 0-89,3-2-1,3 0 1,2-2-91,2 2 1080,26-6-1349,-19 5 180,27-4-450,-34 5-360,12-1-540,-20 3-2968,21-1-989,-23 4-4408,14 0 9085,-14-5 0,0-4 0,2-6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19.5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69 283 13469,'-16'2'1889,"-4"-2"-1439,5-3-90,0-6-90,12-8-1,6-1 1,5-1 90,0 4 0,-2 3 359,6-7 361,8-8-810,-2 3 449,16-15-539,-18 22 270,18-16-270,-20 22 0,12-7-90,-13 14 0,1 9 0,-7 5-90,-5 12 90,-8-1 179,-30 52-179,16-36 0,-28 46 0,31-59 90,-11 16-90,16-23-90,-4 6 0,11-12-90,10 0 0,8-2 0,8-2 90,4-6-180,11 2 90,-8-1-90,45 12 180,-39-5 90,24 9 0,-37-7 90,-4 0-90,-1 3 90,-5-1 0,-2 5 90,-5 1 180,-6 12-270,-4-5 539,-21 33-539,8-28 270,-23 21-270,22-32 269,-22 7-269,22-16 90,-19 2-270,14-11-1439,-11-2-1619,8-1-990,1-2 4048,9-1 0,5-10 0,1-2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21.2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 71 17787,'-11'-22'4497,"2"0"-2338,4 8-630,-1 2-1349,-1 26 0,1-5 90,1 22-180,4-6 90,1-5 0,2 5-91,1-6 1,2-3 270,11 12-90,17-2-180,-6-3-630,20-7 181,-15-17-811,12-4 361,-6-2-181,0-5-359,-8 0-450,0-2-180,3-8 90,-3 0-1979,-1-5-2338,-5 2 6206,-4-1 0,5-10 0,2-3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21.5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174 0 17157,'-14'11'1529,"2"-2"450,1-2-809,0 3-91,3 1-629,2 11-91,4-4 1,4 6-90,-1-1 90,0 2-90,0 2 359,-2 38-449,-1-22-90,-3 21 0,-2 2-180,-2-6-135,-1 3 0,-2-2-134,1-10-1530,-7 38 989,9-49-3147,-5 31 2248,9-48 1799,-3 8 0,6-24 0,0-2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2:23.0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43 221 14009,'-16'-8'3328,"12"-6"-3058,4-15-90,10 3 90,-3 11 0,2 0 359,7-13-179,-5 11-270,9-11 539,-1 11-539,1 4 90,1 2-90,3 13 180,3 19-180,-4-2 0,3 30-90,-19-17 89,-9 58-179,-7-37 90,-9 10 0,-3-1-90,-5-8 90,-2-5 0,-2-3-90,5-15 90,-18 11 0,25-29-90,-9 2 90,11-10-90,18-19 0,2 6 0,34-19 90,-12 19 0,30-2 0,-20 5-90,13 1 90,-2 3 0,-11 0-90,8 2 0,-18 0 0,-1 1-270,4 1 0,-6-1-1529,17 2 1170,-14-1-901,3-1-988,-1 0-2969,-3 0 1979,2 1 3508,-4 1 0,-13-1 0,-5-2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0.8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570 316 10051,'-18'-15'5037,"2"1"990,6 2-5757,19 0 0,-1 2-1,19 1-89,-4 5-90,4 0 0,-6 0 0,3 0-90,-7 0 90,3 1 90,14-4-180,-9 3 180,31-5-90,-27 4 90,17-3 0,-17 3 0,4-1-90,-2 0 179,16-3-179,-13 3 0,11-1 0,-16 2 180,40-8-180,-30 7 0,40-8-90,-49 10 180,32-6-180,-28 4 0,43-8 90,-44 8-90,18-2 0,-29 4 90,30-1-90,-21 1 0,32-3 0,-37 6 90,28-4-90,-25 4 0,15-2 0,-8 0 0,10-1 0,-8 1 0,7-2 90,-20 4-90,4-2 0,-5 1-90,-2 0 180,-1-1-90,1 2 90,-2-2 0,11 2-90,-12 1 90,16 0-90,-3-1 0,-1 1 89,1-1 1,17 2-90,-21 0 0,26 0 0,-35 0 0,9 0 0,-8 0 0,4 1 0,0 1 0,-4-1 0,7 0 90,9 2-90,-5-1-90,25 3 90,-32-3 0,22 1 0,-26-1 90,15 0-90,-17 0-90,12 1 180,-13-1-90,3-1 90,-1 1 180,-4 0-180,6 0 180,3 1-180,0-1 180,21 2-180,-19-1 0,23 0 0,-24-1 0,24 1-1,-25-2 1,21 3-90,-21-3 90,0 1-90,-2-2 90,2 2-90,2-1 0,2 1 90,-4 0-90,16 2 0,-14-2 0,26 5 0,-25-4 0,25 4 0,-25-4 0,21 3 0,-28-4 90,12 2-90,-9-2 0,-2 1 0,5-1 90,-12 0-90,21 1 90,5 1-90,-1-1 0,24 4 90,-34-4-90,26 4 0,-29-3 0,24 2 0,-22-2 0,9 1 0,-13-1 0,-5-2-90,2 3 90,-2 0 90,-4 0-90,5 3 0,-4 1 0,16 10 0,-11-7 0,16 11 0,-18-12 0,23 17 0,-21-15 0,19 12 0,-24-14 0,8 9 0,-12-8 0,11 16-90,-13-12 180,8 16-90,-12-16 0,7 27 0,-7-22-90,3 22 180,-5-26-90,2 20 0,-3-17-90,3 21 90,-5-22 0,5 25 90,-4-21-90,5 30 0,-5-29 0,3 20 0,-4-23 0,6 21 0,-4-19 0,5 20 0,-4-22 0,7 22 0,-6-22 0,5 20 0,-6-21 0,3 16 0,-4-17 0,1 13 0,-2-17 0,2 22 0,-1-13 0,0 7 0,0-13 0,-1 5 0,1-8 0,2 13 0,-3-15 0,2 11 0,-2-5 0,1 7 0,0-2 0,-1 2 0,-1-2 0,0-3 0,0 3 0,-1-10 0,0 9 90,0 1-90,0-2 0,0 4 0,0-7 0,2 1 90,0-6-90,2 2 90,0-2-90,2 5 0,-2-1 180,5 11-180,-5-13 90,3 16-90,-3-16 0,3 20 0,-3-17 90,3 18-90,-4-19 0,1 24 0,-2-22 90,2 29-90,-2-28 0,1 27 0,-3-27 0,3 20 0,-2-21 0,3 23 0,-3-19 0,2 16 0,-1-20 0,0 16 0,-1-15 0,2 27 0,-3-26 0,2 23 0,-2-25-90,1 27 90,-1-24 0,1 23 0,0-25-90,3 30 90,-1-26-90,1 23 90,-1-29-90,1 19 90,-1-17 0,2 18 0,-3-20-90,3 22 90,-2-19 0,4 30 0,-4-29-90,1 12 90,-3-17 0,1 18 0,0-14 0,2 28 0,-3-29 0,3 28 0,-4-27 0,3 19 0,-3-22 0,0 26 0,1-25 0,0 23 0,-1-20 0,1 6 0,-1-6 0,0 3 0,1-11 0,0 11 0,1-5 0,3 7 0,-3-8 0,2 0 0,-2-5 0,-1 0 0,1 0 0,0 0 0,0 8 0,0-5 0,1 15 90,-2-13-90,1 25 0,-1-21 0,1 24 0,-1-25 0,0 29 0,0-25 0,-1 28 90,1-28-90,-4 34 0,1-29 0,-3 28 0,1-32 0,-3 26 0,3-25 0,-5 30 0,5-34 0,-3 17 0,5-24 0,-2 4 0,0 3-3392,1-5 3392,-1 5 0,1-3 0,1-10 0,-2 10 0,3-10-90,-5 32 90,4-24 3392,-5 31-3482,4-35 90,-2 13 0,2-16 0,0 6 0,1-4 0,-2 3 0,1-1 0,0 0 0,-1 0 0,1-4 0,-1 2 0,-2 5 0,-2 2-90,0 2 180,-1-5-180,4-3 90,-1-4 0,-1 2 0,0-1 0,-1 0 0,-1-1 90,0-2-90,-3 2 0,3-5 90,-13 10-90,9-8 90,-14 10-90,14-11 0,-4 4 0,6-6 90,-16 8-90,11-6 90,-19 10-90,18-11 180,-19 10-90,17-11-90,-23 11 0,24-12 0,-21 6 0,19-7 0,-6 0 0,-1-3 0,1-2 0,-3-1 0,-11-2 0,16 0 0,-34-4 0,29 2 0,-28-4 0,31 6 0,-24-6 0,25 4 0,-33-6 0,34 6 0,-25-4 0,26 6 0,-36-4 0,25 5 0,-36-3 0,33 5 0,-51-1 0,47 1 0,-40 0 0,52 0 0,-25-2 0,25 2 0,-20-2 0,25 1 0,-14-1 0,15 1 0,-31 0 0,24 0 0,-32 0 0,30 3 0,-55-1 0,43 1 0,-48 0 0,54-1 0,-35 0 0,37 0 0,-28-1 0,37 0 0,-26-1 0,26 1 0,-25-1 0,26 0 0,-33-1 0,25 0 0,-48-1 0,42 2 0,-40 1 0,40-1 0,-43 1 0,42 0 0,-33 0 0,43 2 0,-27-3 0,28 2 0,-33-3 0,35 2 0,-36 0 0,36 0 0,-27 0 0,27 0 0,-32-1 0,25 1 0,-30-2 0,31 1 0,-18-1 0,20 1 0,-25-2 0,27 1 0,-24 0 0,29 0 0,-8 1 0,8 1 0,6-1 0,-8 3 0,-2 0 0,2 2 0,-28 5 0,28-4 0,-29 6 0,33-6 0,-23 5 0,25-5 0,-16 4 0,24-6 0,-7 3 0,7-2 0,-4 1 0,-2-1 0,-10 5 0,6-1 0,-7 2 0,11-4 0,-29 7 0,20-4 0,-30 6 0,36-9 0,-9 2 0,12-3 0,-3 2 0,3-2 0,1-1 0,1 0 0,0-2 0,-2 0 0,1-2 0,0-2 0,-2 0 0,4-3 0,0 1 0,2-2 0,0 0 0,2-1 0,-3-1 0,4 1 0,-2-2 0,2-1 0,2-1 0,0-1 0,-3-4 0,5 5 0,-3-3 0,1-1 0,-3-2 0,0-2 0,-2-4 0,5 9 0,-2-6 0,3 7 0,1 0 0,-1-5 0,3 8 0,-3-10 0,2 2 0,-1-7 0,1-1 0,1-1-90,2-3 0,2 1 0,0-3 90,1 6-180,0-7 180,0 7-90,0-6 90,0 3 0,0 7 0,0-3-90,0 10 90,1-9 0,0 6 0,0-1 0,-1-13 0,0 14 0,0-17-90,0 20 180,-1-15-90,1 11 0,-2-8-90,3 8 90,1 1 0,2-1 0,0 5 0,1-2 0,1 3 0,-1 2 0,5-12 0,-4 4 0,1-3 0,-3-1 0,-2 9 0,1-10 90,-4-1-90,1 1 0,-2-13 0,3 10 0,-1-8 0,1 8 0,1 5 0,1 0 0,-1 3 0,0-1 0,1-2 0,-2 5 0,-1-6 0,0 6 0,-3-9 0,1 9 0,-2-6-3392,2 5 3392,0 2 0,3-22-90,3 3 90,1-5-90,5 2 90,-3 22-180,9-18 180,-8 18-90,7-12 90,-9 15 3302,3-8-3302,-5 2-90,-1 0 90,-4-6 0,-3-1 0,0 4-90,-3-12 0,4 16-89,-3-7 89,3 6-90,2 1 90,-1-3 0,2 5-90,-2-7 180,-2 6 0,0 0-90,-3 2 0,0 3 90,-1-1-90,-5-14 90,4 11-90,-6-16 0,7 15 0,1-2 0,1-2 0,1-1 0,2-1 90,-1-3 0,4 9 0,-2-5 0,1 3 0,-1 0 0,0-1 0,0-6 90,0 7-90,0-16 90,2 15-90,4-28 90,-3 24-90,6-24 0,-4 32 90,4-16-90,-3 11 90,-1-4-90,2 3 90,-3 10 0,0-9 90,0-2-180,0 0 90,0 0-90,1 2 0,1 9 90,0-7-90,0 7 0,2-9 0,-1 3 0,2-2 0,-1-3 0,-2 9 0,3-15 90,-4 15-90,3-16 0,-2 3-90,-2-12 180,-2 5-180,-2-6 90,0 19 0,-3-23 90,1 22-180,-2-21 90,2 24 0,-1-13 0,1 13 0,-4-10 90,3 7 0,-3-6-90,0 3 0,4 5 0,-3-1 0,4 8 0,-1-14 0,2 7 0,2-11 0,1 12 0,4-6 0,-2 9 0,6-11 0,-2 11-90,9-19 90,-7 17-90,8-17 90,-8 17-90,6-19 90,-7 17 0,3-12 0,-5 9 0,3-10 0,-3 1 0,3-5 0,-5 16 0,2-3 0,-2 3 0,0 0 0,1-2 0,-1 5 0,1-4 90,-1 3 0,1 0 0,-1-1 0,0 3-90,-1-3 90,-2 2-90,2-6 0,-3 2 0,2-5 0,-1 9 90,2-7-90,-2 6-90,2-2 90,-1-3 0,-1 10 0,2-10 0,-3 11 90,2-10-90,-1 2 0,0-3 0,1-3 0,-1 5-90,1 5 90,1-3-90,1-2 0,2-5 90,0 1 0,0 2 0,1 6 0,-3 0 0,2 5-90,-1-2 90,-1 1-90,2-1 90,-1-2 0,0 0 0,-1 2 0,-1-2 0,0 2 0,0 0 0,-1-2 0,0 2 0,-2-3 0,1 2 0,0-3 0,-3 0 0,1 0 0,-2 1-90,-2 3 90,3-1 0,-4 0 0,3 2 90,-3-1-90,3 1 0,-2-1 0,2 0 0,-3-1 0,2 2 0,-1-4 0,4-2-90,0 0 90,3-1 0,-2 4-180,4 1 180,4 8 0,9 4 0,6 5 0,1 2 180,21-1-180,-15-1 90,27-2-90,-26 0 180,30-3-180,-28 1 180,22-2-180,-24 2 0,-2 0 90,0 0-450,-11 2-1709,6-1-1259,-2 2 629,-4 3-809,-3 5-629,-7 6 4137,-8 6 0,-8 15 0,-7 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4:16.9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92 128 8342,'-2'-19'2159,"3"0"-1889,1 2 0,3 2 89,1 3 1,1-1 450,1 3 89,-2-2 181,1 1-990,-8 25 0,0-5 0,-6 25-1,0-12 1,-2 15 90,-13 34-180,10-24 90,-12 30-90,17-52 90,-3 7-90,4-14 0,1-2 90,2-1-540,-3 6 450,1-6 0,1 0 0,2-8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4:17.4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180 25 9961,'-10'34'720,"1"-5"-450,-1-12-90,-1-2 89,0 0-89,-1 3 0,-1 1 0,1 1-90,0 1 90,0-1 180,-10 23-270,10-21 90,-7 15 0,10-23 89,4-4-269,13-20 0,0-1 0,16-22 0,-5 8 0,18-21-90,4-2 90,7-9 0,-12 17 0,-6 9 0,-12 12 0,-1 2-89,-1 2 178,-6 8 1,0 17-90,-6 1 90,-3 16-90,-6-4-3392,1 3 3482,-3 3-2358,-8 27 2358,6-20-756,-13 48 486,15-53-1349,-6 23 1529,7-35 0,3-5 0,-1-7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4:17.6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71 11670,'44'-3'270,"-7"-1"-360,-14 1-90,-6-1 0,2 0-179,0-2-91,0 0 0,0 0-1439,6-2 540,-5 2 1349,2 0 0,-1-1 0,0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4:18.1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71 0 9152,'6'20'1799,"-5"0"-900,-7-1-449,-5 7-90,3-10 0,-1 6 359,2-7-449,-2 3 180,2-4-90,-2 6 179,4-6 1,-2 3-450,22-25-90,-8 5 0,18-21 90,-14 12-90,1 1 0,3-2 0,-2 1 90,2 1-90,3 12-90,-6 5-90,8 5 90,1-11 0,4-7 90,3-6-90,-7 3 90,-2 3 90,-3 1 90,7 5 0,-5 3 0,2 8-90,-10 3-1080,-2 1 990,-3 3 0,-3-9 0,0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4:22.9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190 154 13649,'30'-14'540,"-1"2"-6111,-13 5 5841,10-1 1409,-8 1-1589,15-3 949,-16 3-679,7 0-90,-6 0 90,0 0 3212,5-1-3212,-6 2-271,7 0 361,12-2-270,-4 2 90,26-2-180,-24 4 360,43-2-360,-35 4 269,39-4-179,-44 5 0,23-1 0,-30 2 450,28-2-450,-26 2 89,9-2 1,-10 2 0,4 0-180,-4 0 0,6 0 90,-13 0-90,1 0 0,17 0 0,-6 1 0,43 1 0,-34-1 0,38 3-90,-45-2 90,30 3-90,-38-4 0,23 2 0,-33-2 90,23 3-90,-21-2 0,32 4 0,-28-2 89,31 2-89,-28-3 0,40 2 0,-33-2 0,33 0 0,-39-2 0,28 1 0,-24 0 0,7 0 90,-10 1-90,-14-3 90,16 3-90,12 2 0,-6-1 0,25 3 90,-31-3-3482,39 3 3392,-35-2-290,44 3 290,-48-5 0,26 3 0,-34-4 90,27 1-90,-26-2 0,25 1 90,-26-2-90,29 0 90,-26 1-90,29-1 0,-26 1 0,37 1 0,-30-1 90,50 1-90,-49-2 0,31 0 0,-39 0 0,27-1 0,-28 1 90,30-3-90,-31 2 0,38-5 0,-32 4 0,50-7 0,-48 5 3248,22-2-3248,-29 2 0,1 1 434,-2 0-434,10 1 0,-9-1 0,15-1 0,-15 1 0,0 2 0,1-2 0,5 2 0,-5-1 0,15 1 0,-21 0 0,29-1 0,-24 2 0,39-2 90,-38 2-90,26-3 0,-30 3 0,6-2 0,-3 1 180,0-2-180,6-1 180,3 0-180,-8 1 0,2-1 90,-8 2-90,0-2 0,1 3 0,0 0 0,2 1 0,-1 0 0,-4 1 0,4-1 0,-4 2 0,1-1 0,3 1 0,-7 0 0,5-1-90,-4 2 90,1-1-90,-2 1 90,0 1 0,-6 1-90,-2 2 90,-4 10 0,-3-4 90,1 14-90,-2-11 0,-1 7 0,3 3 0,-3-6 0,2 14 0,-1-8 0,0 0 0,-2 4 0,-3 4 0,0-6 90,-6 15-90,2-21 0,-9 26 0,7-24 90,-9 32-90,10-33 0,-9 29 90,10-29-90,-2 11 0,2-16 90,-1 17-90,1-12 0,-1 21 0,2-15 90,1 15-90,1-15 0,2 4 0,1-10 0,-1-5 0,2 11 90,-3 1-90,-1-5 0,-1 16 90,-1-21-90,-1 23 0,1-18 0,1 4 0,0-3 0,1-6 0,0 0 89,1 4-89,-1-3 0,0 5 0,0-6 0,-1 5 0,1-4 0,-1 0 0,0 4 0,0-7 0,-1 7 0,1-3 0,0 2 0,-1-2 0,0 3 0,-1-7 0,1 6 0,0-7 0,-1 6 90,1-3-90,-2-2 0,3-1 180,-2-1 540,0 1-360,-5-3-90,-3-4-181,-7-6 1,-8-5 0,8-4 270,-20-1-90,5-1-90,-3 2 0,2-1 180,0 2-270,8 0-1,-7-1 91,9 2-90,4-1-90,-3 1 90,-1-2 0,7 2 0,-9-3 0,9 3 90,-20-2 0,14 3 90,-38-5-180,28 4 90,-34-4-180,37 4 0,-21-3 0,25 3 0,-28-3 0,29 2 0,-25-2 0,27 3 0,-27-2 0,24 2 0,-35-2 0,35 2 0,-25 0 0,28 0 0,-35 0 0,31 1 0,-21 0 0,28 2 0,-8-1 0,2 2 0,-15-1 0,12 0 0,-3 0 0,4 0 0,9 0 0,-4 0 0,0 0 0,3 0 0,-8-1 0,-5 2 0,-9-1 0,2 2 0,-23 0 0,35-1 0,-31 2 0,32-2 0,-9-1 0,13 1 0,3-1 0,-7-1 0,9 2 0,-29-2 0,20 3-3392,-21-2 3392,14 2-2269,-3 0 2269,1-1 0,-1 0 0,-59 3 0,49-2 0,-44 2 0,67-2 0,3-2 2269,-5 1-2269,-6 0 3392,0 0-3392,-11 2 0,17-2 0,-17 3 0,17-3 0,-27 3 0,16 0 0,-52 4 0,43-4 0,-40 3 0,50-4 0,-24 3 0,33-3 0,-17 1 0,23-1 0,-2-1 0,3 0 0,-3 0 0,7 1 0,-17 2 0,10-2 0,-41 8 0,26-5 0,-37 7 0,41-7 0,-31 5 0,36-6 0,-15 3 0,22-5 0,1 1 0,-3 0 0,3-2 0,0 1 0,3-2 0,-5 1 0,-2-3 0,2 0 0,-11-2 0,12 0 0,-38-4 0,28 2 0,-38-3 0,38 3 0,-35-1 0,37 3 0,-15-2 0,20 2 0,-3-1 0,3 1 0,-3-1 0,9 1 0,-2-1 0,1 2 0,4-1 0,-1 0 0,2 0 0,-3 0 0,1-2 0,3 1 0,1-2 0,1 0 0,-2-2 0,2 2 0,-4-3 0,6 4 0,-8-4 0,9 5 0,-7-6 0,4 2 0,-2-1 0,0-1 0,4 3 0,-1-6 0,3 2 0,-1-4 0,1 2 0,1 0 0,2-1 0,-1-3 0,2 0 0,1-3 0,-1 0 0,2 0 0,1 0 0,-1-1 0,2-1 0,2-2 0,0-3 0,1 4 0,0-5 0,-1 10 0,3-11 0,-1 11 0,1-10 0,0 11 0,1-9 0,-1 10 0,0-10 0,0 11 0,0-8 0,0 4 0,0-4 0,1 1 0,0 1 0,1-1 0,-1 4 0,2-5 0,-2 8 0,6-25 0,-4 21 0,3-16 0,-4 21 0,1-5 0,1-1 0,2-6 0,-3 6 0,4-7 0,-6 7 0,3-2 0,-2 1 0,-2 9 0,1-8 0,1 1 0,1-3 0,-1-1 0,-1 6 0,0-9 0,-1 7 0,1-7 0,-1 8 0,-1-2 0,-1 6 0,0-9 0,0 6 0,1-3 0,1 0 0,-1 3 0,0 1 0,-1 1 0,1-1 0,-1 0 0,1-1 0,0-1 0,-1-1 0,2 2 0,-1 0 0,1 0 0,-1 2 0,0-2 0,-2 1 0,0-1-180,-1 0-9651,1-1 0,5 6 9372,5-2 0,11 2 0,2-3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00.688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242 1255 10951,'-4'-16'3688,"3"6"-2249,12-15-180,-1 8-629,-3-1 269,-2 1-449,-2-7-90,-1 4 0,0-5-181,2 2 91,-1 4-180,3-7 90,-3 11-90,2-7 180,-1 7-90,2-9 0,-1 7 180,2-21 89,-3 0-359,0 1 90,1-10 0,1 11-90,0-11 0,2 7 0,1-8-90,-2 20 90,5-19-90,-5 21 180,7-22-180,-7 20 90,2-4 0,-4 7-90,-1 6 0,-1-5 90,-1 2-90,-1 1 90,-1-1-90,0 1 0,-1-2-90,-1 4 0,0-1 90,-21 23 0,11-3 0,-15 18 90,-6 7 0,14-11-1,-27 20-89,26-19 90,-20 15-90,21-15 90,-15 10-90,17-13 0,-1 1 0,3-2 0,3-1 90,-4 0-90,3 0 0,-2 1 0,0-1 90,3-1 0,-3 2-90,32-25 0,-8 8 0,35-26-90,-22 16 90,10-4 0,-8 4 0,1-1 0,19-14 0,-15 11 0,21-16 0,-28 20 0,24-19 0,-26 19 0,16-13 0,-25 20 0,5-4 0,-5 5 0,3-3 0,-2 1 0,1 1 0,1-1-90,-2 1 0,3-1 180,3 13 0,-4 0 90,2 12-180,-4 0 90,-2-3 0,4 4 0,-6-6 0,9 9-90,-7-7 90,4 4-90,1 1 90,-3-4-90,8 10 0,-8-10 90,6 10-90,-5-7 0,0 0 0,0 1 90,-3-4-90,0 3 90,1-2 0,-1-2 359,0 1-449,-15-27 0,3 7 90,-15-26-90,9 14 0,-1-3 0,1 2 0,-2-1 90,4 5-90,-5-6 0,4 9 0,-3-5 90,-6-4 0,5 8 0,-10-10 0,12 13-90,-6-6 90,4 6 0,-1-4-90,-3 2 0,3 0 0,-2 1 0,-1 1 0,-2 5-90,-6 5 90,-1 4 0,-1 2 0,4 2 0,1 1 0,-2 1 0,6-1 90,-6 1-90,8-3-90,-5 3 90,-2-1 0,-13 11 0,5-2 0,-18 14 0,23-12 0,-13 12-90,17-12 90,-15 17 0,19-19 0,-12 15 0,13-15 0,0-1 0,2 1 0,2-7 0,-1 5-90,1-3 90,2 2 0,26-17 0,-7 3 0,23-16-90,5-8 180,-11 5-90,28-20-90,-27 16 180,29-26-90,-29 22 0,26-28 0,-33 33 0,11-13 0,-19 21 0,4-6 0,-5 8-90,0-3 0,0 3-90,-1 0 180,3 4-90,2 12 90,0 8 0,-2 5 0,-5 3 0,-2-5 0,1 2 0,7 17 0,-6-11 0,9 21-90,-10-24 180,11 26-90,-10-24 0,8 18 0,-11-27 0,3 5 90,-2-5-90,1 3-1259,-2-2 1259,1 2 0,-4-9 0,-1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05.243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0 980 13649,'17'-15'180,"-2"1"90,-7 3 450,18-14-91,7-1-269,13-9 0,3 4-728,-2 5 728,3-1 0,9-3-1,5-2-89,7-1 90,3-3-90,2 2 0,1 0-90,1 0-1531,-24 12 0,1 0 1531,23-9-615,10-1 0,-2 1 525,-12 6-294,-2 1 1,-3 2 293,-24 8 417,23-7-417,-38 12 2459,14-6-2369,-24 8 2034,2 0-2124,-5 1 1235,-3 1-1325,0-1 0,-3 0 0,-5-6-90,-8-1 90,-26-3 0,7 7 0,-27 2 0,20 4 0,-25-3 0,19 2 0,-28-4 0,23 3 0,-28-6 0,27 4 0,-37-10 0,39 9 0,-36-11 0,47 12 0,-19-5 0,25 7-90,-2-2 90,36-1 0,4 3 0,73-4 0,-23 5-45,6 0 0,3 0 45,13 0 0,6 1 0,1-1 0,-6 1 0,-11 1 0,-6 0 0,-17 0 0,23 1 0,-47 1 0,9 0 90,-22 3 0,-7 1 0,-4 10 269,-22 18-269,-1-4 360,-36 38-270,20-32 180,-37 39-270,36-41 90,-22 22-90,32-32 90,-20 19-90,22-22-1,-13 13-89,16-19 90,-6 8-90,9-10-269,-14 10-991,17-12-1708,-10 8-4858,14-9 7826,0 4 0,3-5 0,2-2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44.950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394 1 15358,'-24'6'5757,"4"1"-5217,5 0-271,2 6 181,-1 6-180,0 1 540,-20 51-271,7-4-359,-6 12 630,2 12-540,19-51-1,-11 26 1,11-28-337,-5 6 336,4-4-89,-4 5-20,4-1 20,-1 0 0,1 4 0,-1 12 0,4-13 0,0 36-90,9-42 0,3 32 0,3-41 0,8 22-90,-2-26 90,23 27 0,-14-31 90,37 23-180,-31-31 179,40 14-89,-36-19 0,29 6-90,-30-11 90,38 0-90,-30-5 0,35-1 0,-35-2 157,25-2-157,-23 0-179,38-9 179,-36 7 20,30-8-110,-44 8 180,19-4 90,-23 6-90,7-2-90,-12 4 0,-1-2 0,-6-2 0,-8-10-90,-6 2-90,-9-3 180,-2 1-90,4 5 0,-6-4 0,-4-3 90,1 7 0,-16-13 0,12 12 0,-29-13 90,26 15-90,-32-11 0,37 14 0,-12-3-90,14 5 0,2-1-180,0 1 0,0-1 180,2 1 90,21 15 0,-3-7 0,22 12 0,-5-9 0,4-1 0,28 5 0,-19-3 0,21 2 0,-27-5 0,21 3 0,-10 0 0,13 1 0,-25-3 180,5 3 90,-16-3 0,4 7-90,-14 5 180,-10 6-360,-4 1 0,-10 6 0,6-11 0,-14 17 0,14-19 0,-11 12 0,14-18 0,-6 5-540,8-7-360,-3 4-988,0-5-451,-2-3 720,-4-6-450,0-5 180,3-4-7942,-1-6 9680,6-4 0,-1-12 1,6-3-1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47.23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14 684 13919,'-14'13'5487,"26"-15"-4947,1-1-1,17-10 1,-9 4 0,-6 1-91,0 2 1171,24-8-1081,-8 5 180,17-4 1,4 1-360,7-1-1696,4 1 0,3-1 1696,4 1-91,-7 2 1,1-1-32,14-1 32,-9 1 0,12-1 0,-9 1-270,-20 4 0,0 0 0,20-3 0,11-3 0,-13 3 0,10 0 0,4-2 0,1 0 0,2 0 0,1 0 0,-1 0 0,-5 0 0,7 1 0,0 0 3376,0 0-3376,-24 4 0,9-2 0,-9 2 0,28-3-1134,-2 0 1,1 0 1133,4 1 0,3 0 0,0 0 0,-47 5 0,0 0 0,43-2 0,-2 0-49,-7 1 49,2 2 0,1 0-515,5 1 515,-6-1 0,-1 0 0,-6 3 0,14-3 0,1 0 0,-11 3 0,1-2 0,-4 0 0,-24 3 0,11-1 0,3 0 0,4 0 0,6-1 0,1 0 0,-3-1 0,6-3 0,1 0 0,6-1 0,-23 1 0,11-2 0,-10 1 0,27-1 0,-26 1 0,9 0 0,-10 0 0,22-2 0,-5 1 0,-1 2 0,-8 0 0,-12 1 0,-1 1 0,9 1 0,4 1 0,1 0 0,4 2 874,-5 2 1,0-1-875,-4-1-1490,3 3 0,1 0 1490,3-2 0,-2 1 0,-1 0 429,-4 0-429,18-2 0,2-1 0,-6 1 0,3-1 0,-5-1 0,-24 1 0,-5 0 0,0-1 0,-3 0 0,-3 1 0,-1 0 0,-2 0 0,49 0 0,-46 0 0,44-2 0,-52 2 0,14-2 0,1 0 0,-5 0 0,5 0 0,-1-1 0,-12 1 0,42-3 0,-43 2 0,51-1 0,-56 3 0,32-1 0,-42 1 0,18 1 0,-22 1 289,27 2-289,-26-2 3392,31 4-3392,-27-1 0,7 0 0,-8 0 0,-13-2 0,7 2 0,-7-2 0,4 1 0,-1 1 0,1-2 0,-5-4-1530,-10-10-3327,-7-2 2699,-6-8 2158,-3-4 0,-5 0 0,-3-6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50.283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 0 17247,'17'17'2519,"4"2"-2070,-3-8 91,6 7 0,7 1 0,6 3 89,7 3 1,4-1 449,13 3 1,3 1-631,6 5 91,7 3 0,8 7 269,1 6 1,-3 1-888,-20-14 0,3 2 78,6 2 0,7 4 0,-9-6 0,-21-13 0,1-1 0,17 6 0,9 3 0,-7-4 0,-12-7 0,-1-1 0,12 5 0,6 1 0,-7-5 0,-18-7 0,0-3 0,37 11 0,-2-2 0,-1-3 0,-13-4 0,-5 0 0,-21-7-989,15 5-720,-40-9-8122,3 2 7544,-37-10 0,3-4 0,-28-7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50.58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1152 0 18686,'-23'18'2609,"-6"5"-1710,-10 9 1,-7 11 44,8-4 1,-2 1-136,-21 25-449,21-21 0,1 1-1017,-17 21 1196,-1 7-209,20-20 0,-5 9 0,4-5-330,3-5 0,-1 2-30,-9 16 0,-5 8 0,8-9-105,13-21 0,3 0-345,-6 13 0,-2 8 1,5-8-241,-9 30-1707,7-7 0,4-2 1167,11-15-449,5-11 0,0-1-270,0 2 1979,-1 0 0,-1-1 0,-2-2 0,-9 31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55.22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529 10 13199,'-33'-3'3329,"8"-3"-3239,9 15-1,11-3 91,-2 20 0,5-6 0,2 4 0,-2 2 450,-1 33-181,1 0-269,-1 12 90,-1-18 0,1-2-90,-2-1 0,0 7 0,-1-2-90,3-15 180,-3 40-181,4-52 91,0 29-90,1-38 0,0 14 0,1-12-90,0 3 0,-2 3 90,1-1-90,-1-5 0,0 5 0,0-8 90,0 7-90,0-2 0,1-1 0,-2 0 90,1-3 180,-2 1 90,-1-3-90,-10-10-91,-3-7 1,-4-8-90,1-5 0,9 4 0,-4-3 0,1 0-90,0 2 90,-3-5-90,7 7 90,-9-8-90,8 7 0,-10-7 0,9 4 0,-7-4 0,8 4 0,-2-1 0,0-1-90,2 2 0,-4-2-180,6 5-90,-2 0-89,1 1 449,2 16-90,4 1 90,5 19 90,4-9-90,3 10 0,-1-13 90,5 19-90,-3-16 0,3 10 0,-2-11 90,14 24 0,-10-18-90,18 28 0,-20-34 90,11 15-90,-10-16 0,2 0 89,-1-1-89,-2-6 90,3 2 0,0-2 0,3-4 90,2-2-90,3-4-90,0-4 90,0-2-90,-5-1 90,2-3-90,-6 2 180,2-3-180,-2-1 90,-2-3-90,-2 2 0,4-9 90,-5 7-90,9-15 0,-5 11 0,8-15 0,-7 14 90,9-17-90,-9 18 0,2-7 0,-4 10 0,3-5 0,-2 1 0,1 0-180,-5 6-9445,-1 1 3329,-24 13 6296,7 0 0,-22 16 0,13-4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1:01.805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2210 369 17337,'-9'-18'5577,"6"4"-5487,-28 5 90,10 2-90,-4 0 90,4 1 0,-13-1-91,7 1 1,-6 0 0,7 2-90,7 1 180,-11 0-180,-3 0 0,-1 1 0,1 0 90,10 2-90,0 0 0,-1 1 0,1 0 0,-1 1 0,-9 0 90,7 1-90,-7 0 0,11 0 0,-1-1 0,-2 2 0,-15 1 0,9 0 0,-28 4 0,24-3 90,-41 10-90,37-5 0,-24 4 0,30-4-90,-27 11 90,23-8 0,-50 22 0,54-21 0,-23 10 0,34-15 0,-17 9 0,14-6 0,-30 15 0,30-14 0,-35 22 0,31-17 0,-47 36 0,40-26 0,-23 19 0,26-17 45,-3 8 0,0 2-45,-4 6 0,0 5 0,2 0 0,11-8 0,-21 44 0,26-43 45,1 3 0,2 0-45,4-7 90,-12 38 0,16-42 180,-9 43-180,10-37 90,-5 35-180,10-42 90,-3 34 0,6-34-90,-1 30 89,4-36-89,7 31 90,-2-31 0,7 27-90,-7-32 90,5 13 0,-5-17 270,8 22-270,-8-21 180,5 10-180,-5-12 270,3 1-181,2 4 1,3 2-90,-4-7 180,12 13-180,-8-16 90,23 27-180,-18-25 180,20 20-90,-21-23 360,19 18-450,-19-18 0,12 13 0,-17-16 0,8 9 0,-6-8 0,2 2 0,-1-1 0,1-3 0,0 0 0,16 7 0,-15-9 0,20 10 0,-19-12 0,26 8 0,-19-8 0,28 6 0,-27-7 0,36 6 0,-31-7 0,42 6 0,-41-8 0,40 6 0,-41-7 0,28 3 0,-33-4 0,31 0 0,-26-1 0,33-3 0,-32 1 0,28-4 0,-26 2 0,15-2 0,2-1 0,-2 2 0,5-2 0,-1 0 0,-9 2 0,51-5 0,-45 5 0,44-3 0,-52 5 0,41-2 0,-42 3 0,53-2 0,-54 2 0,23-1 0,-26 0 0,58-3 0,-39 1 0,11-1 0,0 0 0,-12 0 0,4-1 0,0 0 0,-2 1 0,-6 0 0,-1 0 0,-3 2 0,8-3 0,1 0 0,-3 1 0,40-5 0,-55 7 0,37-3 0,-28 2 0,9 0 0,-1 0 0,-6 0 0,48 0 0,-55 2 0,51 0 0,-50 1 0,48-1 0,-52 1 0,10 1 0,1-2 0,-5 1 0,45 0 0,-58 0 0,30 2 0,-32-1 0,27 1 0,-30 0 0,17 0 0,-15 0 0,33 1 0,-29-2 0,48 1 0,-45-1 0,50 0 0,-47-1 0,36 1 0,-40 0 0,40-1 0,-37 2 0,38-3 0,-41 2 0,43-2 0,-34 0-3392,41 0 3392,-41 0-555,47-2 555,-43 2 0,5-1 0,-2-1 0,-5 2 0,43-3 0,-46 2 0,52-2 0,-46 2-2085,45-2 2085,-49 2-1208,43-1 1208,-42 3 514,6-1 1,0 0-515,-5 1 355,49-1-355,-50-1 0,4 2 0,2 0 0,2-1 0,2 0 0,1 2 0,-1-1 0,6 1 0,2 0 0,2 0 329,15 1 0,1 1-329,-12-1 0,12 1 0,1 0 0,-12-1 0,-7 0 0,-1 0 0,6-2 0,10 2 480,-22-2-480,-6 1 0,-2 0 0,39-1 0,-30 1 0,6-1 0,0 2 0,-10 1 0,30 0 0,-40 0 0,39 2 0,-28-2 0,6 2 0,0 0 0,-10 1 1368,-1-1 0,-2 0-1368,-7 1 0,44 1 0,-44-4 1813,37 2-1813,-42-3 0,42 0 0,-38-1 0,9 0 0,2 0 0,-4-1 0,10 0 0,0 0 0,-2 0 0,-2 1 0,-1 0 0,-1 0 0,43 1 0,-47 0-3223,30 0 3223,-45 0-42,27 0 42,-30 0 0,33 2 0,-35-2 0,21 1 0,-26 0 0,22-1 0,-21 0 0,25-1 0,-24 0 0,19-3 0,-1 0 0,30-6 0,-19 3 0,43-9 0,-52 8 0,39-8 0,-46 8 3372,37-12-3372,-40 10 0,30-11 0,-37 10 62,25-11-62,-28 11 0,32-17 0,-35 16 0,21-14 0,-24 12 0,21-17 0,-20 12 0,11-11 0,-14 8 0,0 0 0,1-4 0,6-14 0,-6 7 0,23-51 0,-23 42-1696,4-8 0,1 0 1696,-5 5-372,2-7 1,1-1 371,0-3-111,1-9 0,0-1 111,-3 5 0,8-33 0,-11 23 0,0-15 0,-4 14 0,-7 19 0,-3 4 0,-3 7 0,-4-21 0,0 30 0,-18-41 0,10 33 0,-22-40 0,20 50 0,-23-30 0,19 29 0,-22-28 0,21 33 0,-26-31 0,20 29 0,-25-26 0,27 30 2914,-45-30-2914,34 29 0,-50-27 0,46 33 0,-45-14 1071,39 17-1071,-12 0 0,-2 1 0,-4-1 44,-1 1 1,-1 2-45,-8-2 0,4 4 0,-15-2 0,10 2 0,16 3 0,1 1-194,-14-3 1,-7 0 0,11 1 193,-21 0 0,8 1 0,-2 1 0,-14-1-1036,25 2 1,-10-1-1,11 1 1036,-24-3 0,17 3 0,-12-2 0,11 2-246,27 2 1,1 0 245,-19-1 0,-9 0 0,11 1 0,-21 2 0,2 1 0,-3 1 0,36 1 0,-1 2 0,-21 1 0,-9 2 0,8-1 0,15 0 0,2 1 0,-9 0 0,-5 2 0,9 0 0,-26 3 0,37-4 0,1 1 0,-22 2 0,3-2 0,0 0 0,-28 1 164,24-3-164,-15-1 0,-2-1 0,3-1 0,21-1 0,-11 0 0,11-1 0,-19-1-417,3 1 0,2-1 417,0 2 0,13-1 0,1 1 0,-12 1 0,-5 0 0,0 0 0,-5 1 0,1 0 0,2 1 419,1 1-419,-4 0 0,-1-1 0,-3-1-471,26-2 0,-10 1 1,10-2 470,-28 0 0,5-1 0,0 1 873,3-1-873,-3 1 0,-1 0 0,0 0 1060,5 1 1,2-1-1061,15 0-1171,9-2 0,3 1 1171,6-1-485,-28-2 485,49 1 81,-29-2-81,23 1 215,-13-1-215,18 2 2269,8-1-2269,5 1 3392,-7-1-3392,-2 1 0,0 0 0,-24 1 0,23 0 0,-16 1 0,20 0 0,-35 2 0,25-1 0,-40 2 0,46-2 0,-33 2 0,31-1 0,-25 0 0,31 0-5937,-48 14 3688,27-2-944,-15 9 0,-4 4-5511,-14 8 8704,23-9 0,-3 3 0,-2-1 0,0 1 0,-5 2 0,0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1:04.464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269 92 13919,'-3'-22'-180,"-5"5"1260,-6 8-271,-9 5 1,4 2-451,-8 2 1,8 2 0,-1 3 719,-14 17-809,13-6 360,-19 22-360,25-15 629,-2 25-539,15-21 180,15 21-270,6-26 179,27 11-179,-9-18 45,13-6 0,2-4-225,0-4 45,8-6 0,0-4-45,-15-4 179,42-25-269,-53 16 180,17-21-90,-37 21 270,-13-27-270,-12 23 180,-23-24-180,7 28 0,-10-2 90,8 12-90,0 3 89,-1 5-89,-2 1 180,-18 6-180,12 3 90,-13 4-90,17 0 0,1 3 0,2 1 90,-6 6-90,9-3 0,-11 15-180,20-14 0,-5 11-90,17-16-270,0 7 270,9-5-359,11-4 359,6-3-270,24-12 270,-12-1-180,31-10 270,-28 6 0,37-17 90,-44 12 0,17-12-180,-37 12-1439,-2-3-1439,-8-3 3058,-1 6 0,0 3 0,2 7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1:05.949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43 2730 12930,'-16'-7'9830,"0"0"-4009,5-4-5731,16-5-90,0 3 0,12-2 0,-3 4 0,-3 1 0,3-3 0,37-36 0,-22 22 0,8-10 0,1-1 0,-7 3 0,15-17 0,-3-1-3392,7-5 3392,-1-1 0,2 8 0,1 1-37,7-6 37,-11 13 0,8-7 0,-6 7 0,22-19 0,-21 15 0,7-7 0,-7 6 0,17-20-192,-15 15 1,-1-2 191,-13 10 0,-3 3 3185,21-25-3185,-21 23 0,0 0 52,10-13-52,-3 5 0,1 0 0,8-9-962,5 0 0,0 2 962,-1 7 0,11-3 0,3-1 100,3-1-100,-2 4 0,-1 2 0,-10 7 0,-10 8 0,0 0 0,3-2 0,8-7 0,-2 0 0,-7 6 0,-8 5 0,-4 3 0,-17 10 0,8-9 0,-13 12 1949,15-19-1949,-19 22 450,2-5-450,-4 7-270,-5 4 90,2-3 0,-1 3 90,-1-3 90,1 1 360,-2 0-270,-9-3-90,-2 4 0,-8-2 90,-2 3 0,2 2-90,-5-2 0,4 5 0,-11 4 90,-2 8-90,-1 2 0,-16 13 0,10-2 0,-7 7 0,-1 2 0,-5 5 0,3-2 0,2-2 0,8-3 0,-26 18 0,33-26 0,-17 14 0,26-22 0,-5 4 0,7-5 0,-2 3-810,0-3-3507,4-2 1078,-5-2 1171,5-3 269,-3-1-1799,1 2-2249,2 0 5847,-2 1 0,-16 7 0,-3 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1:06.852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 2744 14279,'18'-12'1259,"3"-2"-809,-9 2-90,2 0-4342,0-1 4342,-1 2 769,1-1-769,0 1-90,3-3 1439,14-11-1259,-11 7 359,9-6 3752,-15 10-3031,-1 4-541,0-4 0,-1 1-539,1-5 0,-4 3-90,2-6-1,-2 2 91,2-6 270,12-30-360,-3 9-360,4-16 0,1-3-564,3-9 564,-1-4 0,0-1 0,-2-4 0,0-7 0,0-2-1763,0-4 1763,-7 22 0,-1-2 0,-6 20 0,0 4-1080,6-35 1080,-7 33 0,1-2 0,0-4 0,-1 3 0,7-26 0,-6 25 0,0 2-788,4-9 788,1-4 0,-3 15 0,0 0 0,2-14 0,-3 11 0,0 2 0,-4 9 297,2-26-297,-7 37 0,-3-30 0,-2 40 0,-10-19 0,3 27 1414,-15-14-1414,10 16 1226,-15-9-1226,16 13 990,-4-1-5128,5 3 3327,-2 15-269,4-3 1,-1 16-1260,-1 8 990,3-1-1889,-10 26 269,8-16 2969,-5 25 0,5-12 0,-1 12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1:07.967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1419 2899 18506,'9'-28'3598,"0"1"-1889,-4 11-629,-2-5-271,-4 0 1,-4 1-91,-3 0 1,1 2 0,0 0-720,1-2 0,0 3 0,-2-7 0,2 7 0,-2-9 0,2 5 0,-8-21 0,-1 2 0,-6-13 0,-4-3 0,-10-13-297,-5-1 1,-4-1 296,-12 0 0,5 13 0,-12-9 0,7 8 0,14 15 0,-1 0 0,-15-16 0,-7-9 0,10 9 0,22 20 0,3 1 0,-8-12 0,1-3 0,9-2 0,6 1 0,-7-32 0,14 31 0,4 0 0,8-28 0,11 4 0,12 6 0,4 0 0,4-11 0,4 9 0,-1 6 0,-6 24 0,9-28 0,-22 45 0,-5-22 0,-14 28 0,-51-45 0,19 35 0,-9-3 0,-1 1 0,4 11 0,-1 2 0,0 0 0,7 4 0,-32-14 0,46 22 0,-15-8 0,19 9 593,-3-3-593,7 4 0,6 3 0,-4-3 0,2 2 0,0 0 0,0-2 0,-1 3 0,0-1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6:51.0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1077 30 12570,'-19'-5'5397,"1"-1"-1619,5-1-2159,-1 2-990,-1 0-269,-6 3 90,2 3-180,-5 1 269,7 2-269,-6 0 0,9-1 0,-5 1 719,-13 5-809,12-3 270,-18 5-270,21-5 270,-18 5-450,17-5 0,-22 8 0,23-7 0,-9 5 0,10-5 0,1 0 0,-9 4 0,6-3 0,-20 13 0,18-9 0,-17 13 0,21-14 0,-21 19 0,20-15 0,-16 15 0,19-17 0,-12 14 0,12-13 0,-11 14 0,13-15 0,-15 23 0,14-19 0,-13 20 0,18-22 0,-8 17 0,9-14 0,-7 15 0,9-15 0,-3 8 0,2-3 0,-2 7 0,1-6 0,-3 15 0,4-17 0,-5 27 0,6-28 0,-3 23 0,4-25 0,-4 25 0,4-21 0,-5 28 0,4-29 0,-4 20 0,5-23 0,-3 14 0,4-13 0,-5 29 0,5-25 0,-1 20 0,3-25 0,0 27 0,1-21 0,0 26 0,1-32 0,0 20 0,1-18 0,-1 9 0,1-8 0,-1 5 0,-1-4 0,1 15 0,0-17 0,1 6 0,0-1 0,0-12 0,0 5 0,0-5 0,2 4 0,0-3 0,8 18 0,-6-15 0,7 17 0,-7-18 0,9 28 0,-8-23-90,8 24 90,-9-28-90,7 18 0,-6-17 90,8 15-90,-7-18 90,10 14 90,-9-16 90,9 13-90,-7-12-90,2 4 0,-3-4 0,8 5 0,-9-10 0,12 12 0,-11-14 0,7 10 0,-8-12 0,10 9 0,-6-7 0,4 4 0,-1-2 0,-7-5 0,5 4 0,-5-3 0,2 1 0,-1 1 0,1-1-90,1 2 0,-1-3 0,5 3 0,-1-3-270,9 1 270,2-1-90,4-2 90,-4-1 0,13-1 90,-18-3-90,21 3 90,-23-3 0,12 1 0,-3-3-90,-2 2 90,9-1-90,-10 2 0,9 0-89,-12 1-1,14 0 0,-17-1 90,12 2-90,-12-2 90,3 1 0,-3 0 0,-1 0 0,-1 1 0,0 0-360,-1 0 720,0 0-180,-31-14 0,8 7 90,-23-11-90,12 8 90,7 1-90,-8-3 180,8 4 90,-13-7-271,7 5 91,-3-2 0,0 2-90,3 3 90,0 0 90,-3-1 90,6 1-90,-3 0-270,2-1 0,-1 1 0,2-1 0,20-3 0,4 8 0,14-2 0,-3 10 0,-5 0 0,-4-1 0,4 3 0,-6-5 0,7 6 0,-8-5 0,8 4 0,-6-4 0,11 6 0,-9-5 0,9 8 0,-15-7 0,7 6 0,-7-5 0,4 11 0,-4-7 0,4 8 0,-4-6 0,1 0 0,-2-2 0,0 2 0,-1-1 0,-2 2 0,-5 5 0,-10-3 0,-1-2 0,-8-5 0,6-7 0,-7 1 0,5-2 0,-13 2 0,10-3 0,-11 2 0,7-2 0,0 1 0,-1 1 0,8-2 0,-2 1 0,1-1-3778,1 2 3778,3 2 0,5-2 0,5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0.205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452 66 23364,'-24'-5'719,"0"-1"-539,2 2 0,1-1-90,-2 0 90,4 1-90,-1-1-90,0 1 90,1 0-90,-5-1 0,4 0 0,-4 1 0,2 0-90,0 2 0,0 1 0,1-1 0,0 1 90,8 10 0,5 4 0,7 15 0,3-4 0,-1 5 0,1-4 0,-1 14 0,1-7 0,-1 11 0,-1-15 90,-2 41-90,2-31 0,-3 57 0,1-59 0,-2 33 0,1-38 0,0 32 0,1-32 0,0 26 0,2-33 0,-1 26 0,2-17 0,-2 6 0,3-11 0,-2 10 90,0-12-90,-2 33 0,-1-33 0,-3 32 0,3-32 0,-2 18 0,3-24 0,0 9 0,0-12 0,1 6 0,-1-6 90,0 1-90,0 0 180,0-3 0,-3 1 0,0-3-180,1 0 0,2 4-90,3-3 90,4 1 90,2-4-180,6-3 180,4-3-90,1-1 0,10-2 0,-8-1 0,24-2 0,-21 1 0,18-2 0,-24 1 89,11 0-89,-6-1 0,4 1 0,-2-2 90,-3 1-90,3 0 0,-5 0 90,6 1-989,-4-1-5038,-2 2 900,-7 7-1709,-11 7 6746,-6 3 0,-1-3 0,1-6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18.251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262 2 14819,'-14'1'4047,"4"-4"-3957,-7 32 90,7-11-90,0 3 0,-2 2 180,-6 12 0,-4 3-90,2 0 179,-8 18-179,15-27-3392,-10 28 3302,13-30 102,-10 33-102,12-33 90,-6 16 0,10-23-1,-1 0 1,2 3-90,5 2 0,3-6 3489,15 9-3579,-5-14 341,10 6-251,-7-10-90,1-2 90,3 1 0,11 1-90,-7-2 180,34 3-180,-26-6 90,35 3 0,-31-4 0,46 3 0,-39-5 0,49 2 0,-59-5 179,16 3 91,-24-2 0,-1 1 270,1 0-91,-4 1 91,-4 2-630,-20-20 90,-2 6-90,-19-17 0,8 15 0,1-1 0,3 5 0,-4-6 0,2 4 0,-12-13 0,7 9 0,-2-3 0,4 3 90,5 4-90,-1-1 0,1 0-90,2 2 90,15-2 0,4 9 0,15 2 0,-6 6 0,3 3 0,-4-1 0,-1 0 0,1 0 0,-2 1 0,2 2 0,6 5 0,-5 0 90,-3-2 0,-7 3 180,-7-5-90,-4 14-1,-5-6 271,-19 28-180,5-17 180,-25 28-180,18-28-270,-23 27 0,26-31 0,-13 14 0,24-26 0,-4 6 0,7-10 0,-2 2-4138,3-3 4138,0 0 0,22-21 0,5-4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1.985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41 98 12750,'-17'-13'2698,"4"0"-1618,8-4 629,2 3 0,0-6-1350,13 9 1,4 4-270,19 5 90,-5 5 0,7 0-90,-9-1 0,1 1 0,4-2 0,-5 1 359,63 5-359,-51-3 0,55 5 0,-65-6 0,5 1 0,-8-1-90,-2-2 90,-5 2-90,2 0 0,-4 5 90,1 12-90,-5-2 0,3 20 0,-8-15 0,3 10 0,-5-8 0,1 1 0,0 15 0,-4-7 0,-6 65 90,-4-41-45,-7 17 0,-3 2-45,-2-9 45,-4 5 0,-1-1 45,4-13-90,3-8 0,2-2 0,4-9 90,-5 25-90,11-37 0,-3 13 0,5-18 90,1-7-90,-1 10 0,4-9 0,-4 6 90,4-4-90,-3 0-90,0-2 450,1 1 89,-13-10-269,-8-8 180,-9-8-180,1-3 270,-1 1-360,5 3 90,0-1-91,-3 2 91,8 1-180,-2 1-180,1-2-1079,7 4-2968,-3-3 629,5 8-1170,3 2 4768,1 7 0,7-5 0,1-2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2.954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399 642 14279,'-25'-6'899,"6"3"-539,-2-4 0,6 2 270,1 0-91,-5-2-89,3 2 0,-3-2-360,-3 6 90,6 4-90,-6 5-1,6 5-3481,-4 4 3482,0 3 0,-2 2 0,-5 8 0,8-8 90,-11 18-90,17-20 0,-6 14 90,14-17-180,8 5 90,7-9 3392,5-6-3482,12-13 0,-6-7 0,8-7 90,20-47-90,-19 18 0,-5 3 0,-1-3 0,0-19-1696,-4-8 0,-2-3 1696,1-4-375,-3 5 0,-3 7 375,-9 32 0,2-20 0,-5 32 0,2-7 0,-1 15 0,-7 38 3021,3-10-2931,-5 35 1031,5-16-1121,0 2 90,2 2-90,1 2 0,1 2 90,2 1-90,1 1 0,0-2 90,8 29-90,-6-25 0,11 41 0,-11-48-180,6 26-90,-7-33-1619,5 22 989,-4-25-1888,9 13 1349,-5-24 1439,18-2 0,-3-11 0,12-3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3.347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159 220 12840,'-5'-21'3058,"1"5"-2878,17-2-90,-4 8 90,3-3 0,-3 2-90,1 0-1,-2-1 1,1 1 0,2-9 90,-5-1-180,-5-3 0,-7 8 90,-13 4 90,-12 10-180,6 1 90,-17 8 0,24 1 0,-13 7-90,17-3 90,-5 5-90,9-5 0,1 2 90,3-2 0,2 2 0,0 9-90,7 7-90,-1-1 0,6-1-180,-3-13-180,3 0-2068,14 7 1079,-5-10-1980,23 5 721,-17-15 2698,9-2 0,4-7 0,3-1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3.713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267 58 12120,'-13'-15'1889,"2"3"-1259,-3 3-361,1 1 181,-1 1 0,-2 2-270,-1 3 90,-6 4-180,2 3 0,4-1 90,1 3-91,6-1 1,5 8-90,7-1 0,6 2 0,4-3 90,-1-2-90,0 0 180,14 20-90,-12-14 360,9 31-270,-20-28 0,-1 13-90,-8-14 359,-18 14-359,7-12 0,-15 9-90,15-18 90,0 0-450,3-4-539,-3-2 179,4-12-269,2-3-360,7-10-90,7-5-4588,17-51 6027,-4 25 0,-1 2 0,0-1 0,6-10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4.001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 0 13919,'14'18'630,"-2"1"-689,-5 16 239,-4-10 76,4 16 104,-1 6-360,-2-15 264,2 26-264,-4-30-89,-2 25-91,1-27-810,-3 17 451,0-19-1992,0-3 2531,-3-3 0,3-12 0,0-1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4.19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14 79 11131,'-13'-7'2608,"19"-4"-2338,3 5 0,17-3-90,-4 5 90,3 0-180,2 0-90,2-1-270,1 1-270,-1 1-449,0 0-361,0 0-3327,5-2 4677,-5 0 0,-7 1 0,-10 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5.016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371 192 10411,'15'-18'1709,"-4"3"-1259,-4-2 179,-4 3 181,1-3 0,-4-2-451,-2 1 361,-2 0-90,-2 0-361,-1 4 271,-2 1-180,-5 2-180,-7 14-90,-5 2 90,-10 14-90,2 4 179,-21 19-179,14-6 90,-19 18 90,17 8-270,13-21 180,8 18-180,24-36 90,16 5 0,-3-14-90,18-8 0,-13-11 0,28-22 0,-22 6 0,21-24 0,-29 21 0,8-13 0,-16 18-90,5-8 90,-8 10 0,2-1-90,-3 4 90,0 21 0,-3 3 0,-3 19 0,-1-8 0,-2-1-90,0 3-360,-2 2 1,-1 0-2969,-2 12 629,4-14-2248,3 7 5037,7-14 0,5-8 0,2-3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5.549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303 541 13199,'-17'-27'1979,"3"5"-1349,3 5-90,1 4-91,1-4 271,-1 4-360,-3 3-180,-6 11-3392,-2 4 3391,-4 11-89,4-1 270,-9 11-270,8-7 180,-9 12-180,17-13 270,-8 11 3212,14-9-3392,3 7-90,9-12-1,10-4-89,6-13 90,2-7-90,1-8 90,29-62-90,-25 30 0,0 1 0,-2-1 0,-12 4 0,9-36 0,-14 36 0,8-33 90,-12 52-90,3-17 0,-5 18 0,4-3-90,-3 9 180,0 7 0,-5 32-90,1-11 90,-5 30 0,1-17 0,1 16 0,0-8-90,2 11 0,1-11 90,0 0-180,2 26-180,-1-20-629,5 33 179,-3-37-2608,10 32 1709,-6-32-2159,12 19 450,-8-34 3328,7 1 0,2-8 0,2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6.050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304 495 14459,'-8'-20'2338,"-2"5"-1888,-4 3-270,-8 7 0,4 5 0,-8 3 0,3 4 0,-3 3 0,-2 3 89,-7 8-89,9-5 180,-10 15 90,20-6-270,0 3 0,16-7-90,12-13 0,13-10-90,-1-5 179,35-40-179,-24 15 0,20-32 0,-26 21 0,-5-5-414,-2 0 414,-5-1 0,-2 4 0,-5 6 0,-1 3 89,-1 7-89,-2 1 0,1-10 0,-3 17 0,2-15-89,-2 22 593,4 22-504,-3 8 0,2 17 0,-4-1 0,-1-7 0,1 2 0,-1 0 0,2 12 0,0-10-180,1 10-449,-1-1 179,1-12-809,2 20 449,-2-24-1079,4 15 810,-3-18-3329,6 10 4408,-5-17 0,5 9 0,-2-10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7:46.315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0 511 12030,'5'22'4228,"-3"-2"-2789,-4-2-1259,9-36-90,2 0 0,10-30-3392,-3 10 3392,2 0-69,0 0 69,1 0 540,33-42-541,-23 37 91,12-4 0,0 3-180,-11 14 180,26-11-270,-34 26-719,12 4-1260,-14 7 885,21 5-1065,-13 1-572,6-1 2821,-10-4 0,-1-6 0,3-2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34.119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45 96 11221,'-15'-18'1169,"2"-1"-899,6 7 809,2-4 1889,5 0-719,-4 1-2159,12 28 90,-4-3 0,11 24-90,8-4 90,6 1-90,3 2 90,11 4 0,-16-15 179,18 12-89,-18-14 450,24 18-540,-22-18 449,49 31-449,-42-28-395,28 16 305,-33-25 270,32 8-270,-24-10 269,54 11-269,-55-17-90,24 4 90,-31-8 0,-1 0-90,-2-2 90,10 0 0,-10-1 0,17-2 0,-20 2 180,27-6-270,-25 4 180,31-7-90,-33 5-90,18-3 90,-25 5 215,4-2-215,-1 2 0,-4-1 0,7 0-180,-7-1-2429,0 0-7285,-1 1 7465,-34 4 2339,12 1 0,-42 2 0,17-2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34.602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54 56 11221,'-16'-4'989,"4"-3"1350,2-3-630,2-4 809,0 4-2248,19 3-90,-1 3-90,21 5 90,-12 0-90,9 0-90,-11 0 90,7-1 0,-7 1 0,15 1-90,-12 0 90,17 2-90,-21-1 180,11 4 89,-14-3 1,7 7 90,-12-1-180,-1 5 180,-2 0-180,-4 3-1,-2-3-89,-4 1-90,-4 0 90,0-6-90,-2 1 0,-2-1 0,-2 1-180,1 0-809,1-2-450,0 0-720,2-1-2338,-4 1 4497,5-1 0,5-5 0,0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35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58 0 14189,'7'31'899,"-2"-2"-6,-2 25-533,-4-22 0,-1 29 236,-1-32-57,-3 14 31,-2-1-390,1 1-180,-3 2-180,4-21 101,-1 6-2440,1-8 2519,-2 4 0,4-11 0,-1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0:35.539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96 107 13919,'-13'28'1529,"1"4"-6919,10-9 5929,1 0 1050,-1 9-869,0 0 499,0-4-859,0 5 90,0-15-91,-1 3 3393,0-1-3752,4-33 0,3-11 0,3-21 0,6-13 0,-5 24 0,3-9 90,-1 10-90,-3 9 90,5-8-90,-6 15 90,7-10-90,-4 14 90,4-4-90,0 9 180,2 3 0,6 2 90,-2 5 89,0 3 271,-5 1-180,-5 6-270,-11 0 179,-9 6-179,-4-3 90,-12 2-180,10-8-180,-20 5-539,18-8-901,-15 3-1078,15-6-3689,-1 0 1890,-3-7 4407,8 0 0,-6-7 0,5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21:14.969"/>
    </inkml:context>
    <inkml:brush xml:id="br0">
      <inkml:brushProperty name="width" value="0.08571" units="cm"/>
      <inkml:brushProperty name="height" value="0.08571" units="cm"/>
      <inkml:brushProperty name="color" value="#66CC00"/>
    </inkml:brush>
  </inkml:definitions>
  <inkml:trace contextRef="#ctx0" brushRef="#br0">1176 184 9871,'14'-5'9830,"-27"-2"-3379,5-5-6271,-23 0 0,12 1-90,1 1 0,-3 0 0,1 1 90,1 1-180,-1 1 90,4 1-1,-6-2 1,8 3 0,-8-2 90,3 1-90,-4 1 90,0-2-180,-1 1 90,5 1 0,-4 0-90,9 2 90,-7-1-90,5 0 90,-2 0-90,1 0 0,1 1 0,-4-1 90,3 2-90,-4 0 0,3 2 0,-5-1 0,4 1 0,-3-1 0,3 1 0,-1-1 0,0 2 0,0 1 0,0-1 0,-1 2 0,1-2 0,-3 4 0,7-2 0,-5 3 0,9-2 0,-6 2 0,1-1 0,2 1 0,-8 2 0,7 0 0,-15 7 0,15-6-90,-20 12 90,22-12 0,-13 10 0,16-11 0,-8 10 0,7-4 0,-4 6 0,6-4-90,-6 11 90,9-11 0,-7 14 0,8-14 0,-5 22 0,7-17 0,-5 20 0,6-23 0,-1 6 0,1-6 0,1 2 0,1-3 0,1 19 0,0-13 0,2 14 0,-1-17 0,4 23 0,-1-18 90,2 18-90,-2-27 0,1 12 90,0-6 0,1 11-90,1-11 90,-1-4-90,2 1 90,-3-9-90,5 7 180,5 0-180,1 0 0,1-1 0,-4-5 0,3 1 0,-2-2 0,2 2 0,-1-2 0,-3-3 0,0 0 0,3 1 0,-1-3 0,6 2 0,-3-3 0,13-2 0,-6 0 0,5-2 0,-1-1 0,1 0 0,-6 0 0,8 0 0,-12 0 0,2 1 0,0 0 0,-2 0 0,-1 0 0,1-1 0,1 2 0,4-2 0,-4 2 0,2-1 0,-5 0 0,22-3 0,-13 2 0,15-4 0,-8 0 0,9-2 0,-6 1 0,10-1 0,-22 4 0,-1-1 0,1 0 0,-9 1 0,6 0 0,-1 0 0,-4 2 0,2-2 0,14-2 0,-10 0 0,13-1 0,-14 2 0,18-2 0,-13 2 0,27-4 0,-25 5 0,4-1 0,-7 2 0,-10 0 0,6 0 0,-5 1 0,3-1 0,-1 1 0,1 1 0,3-1 0,1 3 0,-3-2 0,6 0 0,-4 1 0,7-1 0,-6 1 0,5-1 0,-12 1 0,9-2 0,2 1 0,0 0 0,5 0 0,-13 1 0,7-1 0,-11 0 0,18-1 0,-15 2 0,18-2 0,-18 3 0,13-2 0,-5 1 0,0-1 0,5-1 0,3 3 0,-2-1 0,3 1 0,-12-1 0,-4 1 0,7 1 0,-4 1 0,1-1 0,0 1 0,-2-3 0,0 3 0,9-1 0,-12-1 0,15 0 0,-7-1 0,7 0 0,-3 1 0,-4-2 0,-6 1 0,1 0 0,-2-2 0,-1 2 0,6-1 0,-8 0 0,10 0 0,12-4 0,-12 1 0,20-4 0,-28 4 0,9-2 0,-9 2 0,-1-2 0,1 1 0,-5-1 0,8-2 0,-7 1 0,4-2 0,3-3 0,-5 3 0,19-8 0,-16 7 0,7-3 0,-10 3 0,-6 4 0,7-4 0,-7 3 0,3-1 0,-2-1 0,0 1 0,6-8 0,-4 6 0,8-10 0,-9 10 0,14-14 0,-13 11 0,10-10 0,-15 14 0,2-6 0,-3 2 0,-2-5 0,-3-3 0,-3 2 0,-3-2 0,-7-16 0,2 13 0,-9-24 0,8 25 0,-11-23 0,10 22 0,-13-24 0,14 28 0,-5-9 0,3 11 0,-3-2 0,0 1 0,-14-9 0,13 14 0,-28-14 0,22 16 0,-13-5 0,13 6 0,0 1 0,2 2 0,-1-1 0,-6 0 0,5 0 0,-13-2 0,14 4 0,-24-4 0,22 6 0,-26-3 0,26 4 0,-33-1 0,23 4 0,-34 1 0,30 1 0,-40 5 0,34-2 0,-46 5 0,48-4 0,-38 4 0,47-6 0,-25 2 0,33-3 0,-25 2 0,25-3 0,-18 2 0,23-3 0,-22 2 0,18-1 0,-30-1 0,30-1 0,-24-1 0,23 1 0,-39 0 0,33 0 0,-22 0 0,30-1 0,-6-1 0,-1 0 0,-7 0 0,4 0 0,-6-1 0,13 0 0,-15 0 0,20-1 0,-31-3 0,25 2 0,-25-1 0,27 1 0,-30 1 0,26 1 0,-26-1 0,29 3 0,-14 0 0,12 1 0,-11-1 0,11 0 0,-3-1 0,10 0 0,0 1 0,1 0 0,-9 3 0,7 3 0,-4 1-2159,2 5 810,7-3-91,-4 2-1348,8-3-2249,-5 7 3508,4-3-5847,-2 4 7376,-1-3 0,-1-3 0,-7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905CF6-A74B-6442-8641-C51712A866E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F77D4-DDE9-DC4C-A50E-6758A07AB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68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FB37-BB34-75F1-C8DE-46E07910D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E173E-C5B3-2CAC-3464-8192BC047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4E165-139E-401D-DDB7-1AA6E250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D2D36-BB97-361D-EA9F-E30ED86F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CD6DA-7B99-E92E-93BF-6C2F7092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0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A864-A996-F71E-246B-0653B590A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87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D5A1-7088-AEAD-5225-75BCFD48D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3CE29-ACEE-574E-C9A1-B84566FF9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FC0D4-C46D-9C62-B67E-104A826C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54D0A-2E0C-28FC-E825-5BAC8F9E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6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9D1A-1BC2-8DDD-126F-CAC99B3BE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425CD-98B7-3707-4BA1-4C2334D1B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DDBDA-E254-257F-CE6F-DABC4F5DE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58D8F-16A8-9944-4C4E-DCC33B1E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74406-EF16-A29C-06E4-4928F611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2376-0384-A58E-5CCA-1046F98A6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ADDE-4EDD-A1B6-52CD-695B21046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0B07F-34A6-81F4-8959-3308FEE4A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6AF81-01AC-14EE-E1CC-134E35CB2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26B2B-DE7C-37AE-DA4C-4AECAA37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13DFE-C4C3-98BB-71A3-B25E0CE7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3FC5-4816-D493-010B-77E9256B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B526C-5D1E-47C1-6097-E929D6414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B11BD-6044-1C40-CB8A-9CEB9EDFB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AA9D6-C018-3BD6-53F4-03830C33A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253FD-1A02-1A16-B998-35B8C4398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25DBAA-C41F-993E-FBCF-6A0C7EC1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768F4-AE17-04BE-39F6-0C23E7C7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99EA49-DF32-0D50-21D2-83AFAB039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4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BB86-049C-D463-30C2-25A2B724C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13066-BEE2-C2CE-75B6-3A712E2F5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1744D-3D21-84DD-A81E-8DE69632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39AC6-4EAC-C8E3-216A-9250B4D3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3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F0169-F095-A895-B4F2-D5EFFA6D3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6EA386-3478-7354-7205-4BE5809D6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609BD-D21C-05E9-D8B2-63DAA5E4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1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A0B5-4708-7555-7CE4-D3CEC5440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E74F0-77DC-5122-1418-AAF87E1B3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1F181-7334-79A4-178E-E85D9381C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42CD2-BE7C-3542-52DB-930B0688C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F4FB5-83DB-1A98-62D9-ADEEC502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6A890-C567-E87D-8AF6-B34C46D0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3BF13-6F0C-528D-D62B-F4DAFC407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A0F83-2BD9-5A01-36B9-F1A2AB822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D50D9-FD43-D1B7-079D-6F18C2FA5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562E4-DAB0-229B-D711-086B7660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17913-2915-8054-96A6-1D7000B53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C4269-CBDF-B077-7A1A-35DFBC29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1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DC84A-646F-E3CC-6C99-80D35E22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1A998-4AA2-DC9D-8C88-416D38A6F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9176F-5102-21A0-1711-A1CC5C3A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90AA-3838-E7D5-3E62-EB5A23A3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870E-04F4-CB6E-7C3C-871B5B0F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5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BEE9F-07D3-F81D-9D14-667E8773A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34A7C-AA91-351F-EFC3-B345EA062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A9973-E32E-5A2D-1E2E-5FCD65ABD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99B81-CED0-194B-B020-EBC8858F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08541-185A-2687-60EE-04B038C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47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34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7B2519-5E56-A315-7C16-60389617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9525"/>
            <a:ext cx="110871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20675-5C55-9CB3-DD41-6ECF1FC71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825625"/>
            <a:ext cx="11671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AD68D-05DC-E468-D7CA-DCBBF8057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BB000-F5AD-F946-BBD9-632D82EA26D8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F5B6-2269-2483-E0B4-949B543F0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B49B7-D89C-D2CE-D153-15414FA51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91EE5-6CE0-D24A-A3E1-696684970D5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Drexel College of Computing &amp; Informatics (@DrexelCCI) / X">
            <a:extLst>
              <a:ext uri="{FF2B5EF4-FFF2-40B4-BE49-F238E27FC236}">
                <a16:creationId xmlns:a16="http://schemas.microsoft.com/office/drawing/2014/main" id="{F4E77C9E-C2CC-36E9-5ACF-8D8B4C9685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4846" y="0"/>
            <a:ext cx="1077153" cy="101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35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.xml"/><Relationship Id="rId18" Type="http://schemas.openxmlformats.org/officeDocument/2006/relationships/image" Target="../media/image15.png"/><Relationship Id="rId26" Type="http://schemas.openxmlformats.org/officeDocument/2006/relationships/image" Target="../media/image19.png"/><Relationship Id="rId39" Type="http://schemas.openxmlformats.org/officeDocument/2006/relationships/customXml" Target="../ink/ink17.xml"/><Relationship Id="rId21" Type="http://schemas.openxmlformats.org/officeDocument/2006/relationships/customXml" Target="../ink/ink8.xml"/><Relationship Id="rId34" Type="http://schemas.openxmlformats.org/officeDocument/2006/relationships/image" Target="../media/image23.png"/><Relationship Id="rId42" Type="http://schemas.openxmlformats.org/officeDocument/2006/relationships/image" Target="../media/image27.png"/><Relationship Id="rId47" Type="http://schemas.openxmlformats.org/officeDocument/2006/relationships/customXml" Target="../ink/ink21.xml"/><Relationship Id="rId50" Type="http://schemas.openxmlformats.org/officeDocument/2006/relationships/image" Target="../media/image31.png"/><Relationship Id="rId55" Type="http://schemas.openxmlformats.org/officeDocument/2006/relationships/customXml" Target="../ink/ink25.xml"/><Relationship Id="rId7" Type="http://schemas.openxmlformats.org/officeDocument/2006/relationships/customXml" Target="../ink/ink1.xml"/><Relationship Id="rId2" Type="http://schemas.openxmlformats.org/officeDocument/2006/relationships/image" Target="../media/image5.png"/><Relationship Id="rId16" Type="http://schemas.openxmlformats.org/officeDocument/2006/relationships/image" Target="../media/image14.png"/><Relationship Id="rId29" Type="http://schemas.openxmlformats.org/officeDocument/2006/relationships/customXml" Target="../ink/ink12.xml"/><Relationship Id="rId11" Type="http://schemas.openxmlformats.org/officeDocument/2006/relationships/customXml" Target="../ink/ink3.xml"/><Relationship Id="rId24" Type="http://schemas.openxmlformats.org/officeDocument/2006/relationships/image" Target="../media/image18.png"/><Relationship Id="rId32" Type="http://schemas.openxmlformats.org/officeDocument/2006/relationships/image" Target="../media/image22.png"/><Relationship Id="rId37" Type="http://schemas.openxmlformats.org/officeDocument/2006/relationships/customXml" Target="../ink/ink16.xml"/><Relationship Id="rId40" Type="http://schemas.openxmlformats.org/officeDocument/2006/relationships/image" Target="../media/image26.png"/><Relationship Id="rId45" Type="http://schemas.openxmlformats.org/officeDocument/2006/relationships/customXml" Target="../ink/ink20.xml"/><Relationship Id="rId53" Type="http://schemas.openxmlformats.org/officeDocument/2006/relationships/customXml" Target="../ink/ink24.xml"/><Relationship Id="rId58" Type="http://schemas.openxmlformats.org/officeDocument/2006/relationships/image" Target="../media/image35.png"/><Relationship Id="rId5" Type="http://schemas.openxmlformats.org/officeDocument/2006/relationships/image" Target="../media/image8.jpeg"/><Relationship Id="rId19" Type="http://schemas.openxmlformats.org/officeDocument/2006/relationships/customXml" Target="../ink/ink7.xml"/><Relationship Id="rId4" Type="http://schemas.openxmlformats.org/officeDocument/2006/relationships/image" Target="../media/image7.png"/><Relationship Id="rId9" Type="http://schemas.openxmlformats.org/officeDocument/2006/relationships/customXml" Target="../ink/ink2.xml"/><Relationship Id="rId14" Type="http://schemas.openxmlformats.org/officeDocument/2006/relationships/image" Target="../media/image13.png"/><Relationship Id="rId22" Type="http://schemas.openxmlformats.org/officeDocument/2006/relationships/image" Target="../media/image17.png"/><Relationship Id="rId27" Type="http://schemas.openxmlformats.org/officeDocument/2006/relationships/customXml" Target="../ink/ink11.xml"/><Relationship Id="rId30" Type="http://schemas.openxmlformats.org/officeDocument/2006/relationships/image" Target="../media/image21.png"/><Relationship Id="rId35" Type="http://schemas.openxmlformats.org/officeDocument/2006/relationships/customXml" Target="../ink/ink15.xml"/><Relationship Id="rId43" Type="http://schemas.openxmlformats.org/officeDocument/2006/relationships/customXml" Target="../ink/ink19.xml"/><Relationship Id="rId48" Type="http://schemas.openxmlformats.org/officeDocument/2006/relationships/image" Target="../media/image30.png"/><Relationship Id="rId56" Type="http://schemas.openxmlformats.org/officeDocument/2006/relationships/image" Target="../media/image34.png"/><Relationship Id="rId8" Type="http://schemas.openxmlformats.org/officeDocument/2006/relationships/image" Target="../media/image10.png"/><Relationship Id="rId51" Type="http://schemas.openxmlformats.org/officeDocument/2006/relationships/customXml" Target="../ink/ink23.xml"/><Relationship Id="rId3" Type="http://schemas.openxmlformats.org/officeDocument/2006/relationships/image" Target="../media/image6.jpeg"/><Relationship Id="rId12" Type="http://schemas.openxmlformats.org/officeDocument/2006/relationships/image" Target="../media/image12.png"/><Relationship Id="rId17" Type="http://schemas.openxmlformats.org/officeDocument/2006/relationships/customXml" Target="../ink/ink6.xml"/><Relationship Id="rId25" Type="http://schemas.openxmlformats.org/officeDocument/2006/relationships/customXml" Target="../ink/ink10.xml"/><Relationship Id="rId33" Type="http://schemas.openxmlformats.org/officeDocument/2006/relationships/customXml" Target="../ink/ink14.xml"/><Relationship Id="rId38" Type="http://schemas.openxmlformats.org/officeDocument/2006/relationships/image" Target="../media/image25.png"/><Relationship Id="rId46" Type="http://schemas.openxmlformats.org/officeDocument/2006/relationships/image" Target="../media/image29.png"/><Relationship Id="rId20" Type="http://schemas.openxmlformats.org/officeDocument/2006/relationships/image" Target="../media/image16.png"/><Relationship Id="rId41" Type="http://schemas.openxmlformats.org/officeDocument/2006/relationships/customXml" Target="../ink/ink18.xml"/><Relationship Id="rId54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5" Type="http://schemas.openxmlformats.org/officeDocument/2006/relationships/customXml" Target="../ink/ink5.xml"/><Relationship Id="rId23" Type="http://schemas.openxmlformats.org/officeDocument/2006/relationships/customXml" Target="../ink/ink9.xml"/><Relationship Id="rId28" Type="http://schemas.openxmlformats.org/officeDocument/2006/relationships/image" Target="../media/image20.png"/><Relationship Id="rId36" Type="http://schemas.openxmlformats.org/officeDocument/2006/relationships/image" Target="../media/image24.png"/><Relationship Id="rId49" Type="http://schemas.openxmlformats.org/officeDocument/2006/relationships/customXml" Target="../ink/ink22.xml"/><Relationship Id="rId57" Type="http://schemas.openxmlformats.org/officeDocument/2006/relationships/customXml" Target="../ink/ink26.xml"/><Relationship Id="rId10" Type="http://schemas.openxmlformats.org/officeDocument/2006/relationships/image" Target="../media/image11.png"/><Relationship Id="rId31" Type="http://schemas.openxmlformats.org/officeDocument/2006/relationships/customXml" Target="../ink/ink13.xml"/><Relationship Id="rId44" Type="http://schemas.openxmlformats.org/officeDocument/2006/relationships/image" Target="../media/image28.png"/><Relationship Id="rId52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customXml" Target="../ink/ink30.xml"/><Relationship Id="rId26" Type="http://schemas.openxmlformats.org/officeDocument/2006/relationships/customXml" Target="../ink/ink34.xml"/><Relationship Id="rId3" Type="http://schemas.openxmlformats.org/officeDocument/2006/relationships/image" Target="../media/image37.png"/><Relationship Id="rId21" Type="http://schemas.openxmlformats.org/officeDocument/2006/relationships/image" Target="../media/image50.png"/><Relationship Id="rId34" Type="http://schemas.openxmlformats.org/officeDocument/2006/relationships/customXml" Target="../ink/ink38.xml"/><Relationship Id="rId7" Type="http://schemas.openxmlformats.org/officeDocument/2006/relationships/image" Target="../media/image41.jpeg"/><Relationship Id="rId12" Type="http://schemas.openxmlformats.org/officeDocument/2006/relationships/customXml" Target="../ink/ink27.xml"/><Relationship Id="rId17" Type="http://schemas.openxmlformats.org/officeDocument/2006/relationships/image" Target="../media/image48.png"/><Relationship Id="rId25" Type="http://schemas.openxmlformats.org/officeDocument/2006/relationships/image" Target="../media/image52.png"/><Relationship Id="rId33" Type="http://schemas.openxmlformats.org/officeDocument/2006/relationships/image" Target="../media/image56.png"/><Relationship Id="rId2" Type="http://schemas.openxmlformats.org/officeDocument/2006/relationships/image" Target="../media/image36.png"/><Relationship Id="rId16" Type="http://schemas.openxmlformats.org/officeDocument/2006/relationships/customXml" Target="../ink/ink29.xml"/><Relationship Id="rId20" Type="http://schemas.openxmlformats.org/officeDocument/2006/relationships/customXml" Target="../ink/ink31.xml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11" Type="http://schemas.openxmlformats.org/officeDocument/2006/relationships/image" Target="../media/image45.png"/><Relationship Id="rId24" Type="http://schemas.openxmlformats.org/officeDocument/2006/relationships/customXml" Target="../ink/ink33.xml"/><Relationship Id="rId32" Type="http://schemas.openxmlformats.org/officeDocument/2006/relationships/customXml" Target="../ink/ink37.xml"/><Relationship Id="rId5" Type="http://schemas.openxmlformats.org/officeDocument/2006/relationships/image" Target="../media/image39.png"/><Relationship Id="rId15" Type="http://schemas.openxmlformats.org/officeDocument/2006/relationships/image" Target="../media/image47.png"/><Relationship Id="rId23" Type="http://schemas.openxmlformats.org/officeDocument/2006/relationships/image" Target="../media/image51.png"/><Relationship Id="rId28" Type="http://schemas.openxmlformats.org/officeDocument/2006/relationships/customXml" Target="../ink/ink35.xml"/><Relationship Id="rId10" Type="http://schemas.openxmlformats.org/officeDocument/2006/relationships/image" Target="../media/image44.png"/><Relationship Id="rId19" Type="http://schemas.openxmlformats.org/officeDocument/2006/relationships/image" Target="../media/image49.png"/><Relationship Id="rId31" Type="http://schemas.openxmlformats.org/officeDocument/2006/relationships/image" Target="../media/image55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customXml" Target="../ink/ink28.xml"/><Relationship Id="rId22" Type="http://schemas.openxmlformats.org/officeDocument/2006/relationships/customXml" Target="../ink/ink32.xml"/><Relationship Id="rId27" Type="http://schemas.openxmlformats.org/officeDocument/2006/relationships/image" Target="../media/image53.png"/><Relationship Id="rId30" Type="http://schemas.openxmlformats.org/officeDocument/2006/relationships/customXml" Target="../ink/ink36.xml"/><Relationship Id="rId35" Type="http://schemas.openxmlformats.org/officeDocument/2006/relationships/image" Target="../media/image57.png"/><Relationship Id="rId8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customXml" Target="../ink/ink46.xml"/><Relationship Id="rId26" Type="http://schemas.openxmlformats.org/officeDocument/2006/relationships/customXml" Target="../ink/ink50.xml"/><Relationship Id="rId39" Type="http://schemas.openxmlformats.org/officeDocument/2006/relationships/image" Target="../media/image77.png"/><Relationship Id="rId21" Type="http://schemas.openxmlformats.org/officeDocument/2006/relationships/image" Target="../media/image68.png"/><Relationship Id="rId34" Type="http://schemas.openxmlformats.org/officeDocument/2006/relationships/customXml" Target="../ink/ink54.xml"/><Relationship Id="rId7" Type="http://schemas.openxmlformats.org/officeDocument/2006/relationships/image" Target="../media/image61.png"/><Relationship Id="rId12" Type="http://schemas.openxmlformats.org/officeDocument/2006/relationships/customXml" Target="../ink/ink43.xml"/><Relationship Id="rId17" Type="http://schemas.openxmlformats.org/officeDocument/2006/relationships/image" Target="../media/image66.png"/><Relationship Id="rId25" Type="http://schemas.openxmlformats.org/officeDocument/2006/relationships/image" Target="../media/image70.png"/><Relationship Id="rId33" Type="http://schemas.openxmlformats.org/officeDocument/2006/relationships/image" Target="../media/image74.png"/><Relationship Id="rId38" Type="http://schemas.openxmlformats.org/officeDocument/2006/relationships/customXml" Target="../ink/ink56.xml"/><Relationship Id="rId2" Type="http://schemas.openxmlformats.org/officeDocument/2006/relationships/image" Target="../media/image58.jpeg"/><Relationship Id="rId16" Type="http://schemas.openxmlformats.org/officeDocument/2006/relationships/customXml" Target="../ink/ink45.xml"/><Relationship Id="rId20" Type="http://schemas.openxmlformats.org/officeDocument/2006/relationships/customXml" Target="../ink/ink47.xml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11" Type="http://schemas.openxmlformats.org/officeDocument/2006/relationships/image" Target="../media/image63.png"/><Relationship Id="rId24" Type="http://schemas.openxmlformats.org/officeDocument/2006/relationships/customXml" Target="../ink/ink49.xml"/><Relationship Id="rId32" Type="http://schemas.openxmlformats.org/officeDocument/2006/relationships/customXml" Target="../ink/ink53.xml"/><Relationship Id="rId37" Type="http://schemas.openxmlformats.org/officeDocument/2006/relationships/image" Target="../media/image76.png"/><Relationship Id="rId5" Type="http://schemas.openxmlformats.org/officeDocument/2006/relationships/image" Target="../media/image60.png"/><Relationship Id="rId15" Type="http://schemas.openxmlformats.org/officeDocument/2006/relationships/image" Target="../media/image65.png"/><Relationship Id="rId23" Type="http://schemas.openxmlformats.org/officeDocument/2006/relationships/image" Target="../media/image69.png"/><Relationship Id="rId28" Type="http://schemas.openxmlformats.org/officeDocument/2006/relationships/customXml" Target="../ink/ink51.xml"/><Relationship Id="rId36" Type="http://schemas.openxmlformats.org/officeDocument/2006/relationships/customXml" Target="../ink/ink55.xml"/><Relationship Id="rId10" Type="http://schemas.openxmlformats.org/officeDocument/2006/relationships/customXml" Target="../ink/ink42.xml"/><Relationship Id="rId19" Type="http://schemas.openxmlformats.org/officeDocument/2006/relationships/image" Target="../media/image67.png"/><Relationship Id="rId31" Type="http://schemas.openxmlformats.org/officeDocument/2006/relationships/image" Target="../media/image73.png"/><Relationship Id="rId4" Type="http://schemas.openxmlformats.org/officeDocument/2006/relationships/customXml" Target="../ink/ink39.xml"/><Relationship Id="rId9" Type="http://schemas.openxmlformats.org/officeDocument/2006/relationships/image" Target="../media/image62.png"/><Relationship Id="rId14" Type="http://schemas.openxmlformats.org/officeDocument/2006/relationships/customXml" Target="../ink/ink44.xml"/><Relationship Id="rId22" Type="http://schemas.openxmlformats.org/officeDocument/2006/relationships/customXml" Target="../ink/ink48.xml"/><Relationship Id="rId27" Type="http://schemas.openxmlformats.org/officeDocument/2006/relationships/image" Target="../media/image71.png"/><Relationship Id="rId30" Type="http://schemas.openxmlformats.org/officeDocument/2006/relationships/customXml" Target="../ink/ink52.xml"/><Relationship Id="rId35" Type="http://schemas.openxmlformats.org/officeDocument/2006/relationships/image" Target="../media/image75.png"/><Relationship Id="rId8" Type="http://schemas.openxmlformats.org/officeDocument/2006/relationships/customXml" Target="../ink/ink41.xml"/><Relationship Id="rId3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jpe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jpe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DB36E-0C7A-8047-02CE-E4D61AC40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300" y="146526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Cloud Native Platform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F5E47-530C-F346-73CB-B0848329F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3200" y="4859338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3 – VPC: Software Defined Datacenters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Dr. Brian Mitchell</a:t>
            </a:r>
          </a:p>
        </p:txBody>
      </p:sp>
    </p:spTree>
    <p:extLst>
      <p:ext uri="{BB962C8B-B14F-4D97-AF65-F5344CB8AC3E}">
        <p14:creationId xmlns:p14="http://schemas.microsoft.com/office/powerpoint/2010/main" val="1943721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9030-50FF-3D46-5444-5BAF201DD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18255"/>
            <a:ext cx="10515600" cy="1325563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14144-D7AE-0EE5-9D37-CCAFF4DB0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2551813"/>
            <a:ext cx="11671300" cy="3167949"/>
          </a:xfrm>
        </p:spPr>
        <p:txBody>
          <a:bodyPr/>
          <a:lstStyle/>
          <a:p>
            <a:pPr lvl="1"/>
            <a:r>
              <a:rPr lang="en-US" dirty="0"/>
              <a:t>Datacenters and how they become software defined</a:t>
            </a:r>
          </a:p>
          <a:p>
            <a:pPr lvl="1"/>
            <a:r>
              <a:rPr lang="en-US" dirty="0"/>
              <a:t>Networking overview – What you need to know about networks to understand VPCs</a:t>
            </a:r>
          </a:p>
          <a:p>
            <a:pPr lvl="1"/>
            <a:r>
              <a:rPr lang="en-US" dirty="0"/>
              <a:t>VPC Design Fundamentals – Private and Public Subnets</a:t>
            </a:r>
          </a:p>
          <a:p>
            <a:pPr lvl="1"/>
            <a:r>
              <a:rPr lang="en-US" dirty="0"/>
              <a:t>Managing and securing traffic within a VPC</a:t>
            </a:r>
          </a:p>
          <a:p>
            <a:pPr lvl="1"/>
            <a:r>
              <a:rPr lang="en-US" dirty="0"/>
              <a:t>Connecting VPCs to external services (customer owned and AWS managed)</a:t>
            </a:r>
          </a:p>
          <a:p>
            <a:pPr lvl="1"/>
            <a:r>
              <a:rPr lang="en-US" dirty="0"/>
              <a:t>How AWS managed services use customer owned VPCs to isolate and manage computer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14EB9-D083-31DF-4919-6BF60E8A5E1E}"/>
              </a:ext>
            </a:extLst>
          </p:cNvPr>
          <p:cNvSpPr txBox="1"/>
          <p:nvPr/>
        </p:nvSpPr>
        <p:spPr>
          <a:xfrm>
            <a:off x="457201" y="1343818"/>
            <a:ext cx="106963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This lecture will cover the foundation of customer isolated compute in AWS – the Virtual Private Cloud (VPC)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E2F89-D4CE-67E2-E7D0-B00E80A0D231}"/>
              </a:ext>
            </a:extLst>
          </p:cNvPr>
          <p:cNvSpPr txBox="1"/>
          <p:nvPr/>
        </p:nvSpPr>
        <p:spPr>
          <a:xfrm>
            <a:off x="457201" y="5514182"/>
            <a:ext cx="10696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VPC is a foundational service that is used in many different cloud contexts. </a:t>
            </a:r>
          </a:p>
        </p:txBody>
      </p:sp>
    </p:spTree>
    <p:extLst>
      <p:ext uri="{BB962C8B-B14F-4D97-AF65-F5344CB8AC3E}">
        <p14:creationId xmlns:p14="http://schemas.microsoft.com/office/powerpoint/2010/main" val="263638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B8E1-CA94-5B01-19BF-F969FD45E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72BC-D425-0C2F-89E4-6DC6CC2DB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18255"/>
            <a:ext cx="10515600" cy="1325563"/>
          </a:xfrm>
        </p:spPr>
        <p:txBody>
          <a:bodyPr/>
          <a:lstStyle/>
          <a:p>
            <a:r>
              <a:rPr lang="en-US" dirty="0"/>
              <a:t>The Traditional Datacenter</a:t>
            </a:r>
          </a:p>
        </p:txBody>
      </p:sp>
      <p:pic>
        <p:nvPicPr>
          <p:cNvPr id="6" name="Picture 2" descr="What is Corporate Data Center? | NEX Datacenter">
            <a:extLst>
              <a:ext uri="{FF2B5EF4-FFF2-40B4-BE49-F238E27FC236}">
                <a16:creationId xmlns:a16="http://schemas.microsoft.com/office/drawing/2014/main" id="{43E64A80-56F9-0F98-DE88-E20B71BE4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248" y="1246981"/>
            <a:ext cx="7947251" cy="365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4C1D95-8AB5-BE91-D24D-4F7C94C6A6E5}"/>
              </a:ext>
            </a:extLst>
          </p:cNvPr>
          <p:cNvSpPr txBox="1"/>
          <p:nvPr/>
        </p:nvSpPr>
        <p:spPr>
          <a:xfrm>
            <a:off x="79248" y="5023863"/>
            <a:ext cx="117810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Historically, datacenters were built and operated by large companies, or specialty companies that rented datacenter space or compute to smaller companies. Building a datacenter typically costs several hundred million dollars (or more). </a:t>
            </a:r>
          </a:p>
        </p:txBody>
      </p:sp>
    </p:spTree>
    <p:extLst>
      <p:ext uri="{BB962C8B-B14F-4D97-AF65-F5344CB8AC3E}">
        <p14:creationId xmlns:p14="http://schemas.microsoft.com/office/powerpoint/2010/main" val="406041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6A9CD-ADAD-4B77-ABA6-BD2B0075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BA7C-26F7-03A0-508C-B3D5DFBD0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18255"/>
            <a:ext cx="10515600" cy="1325563"/>
          </a:xfrm>
        </p:spPr>
        <p:txBody>
          <a:bodyPr/>
          <a:lstStyle/>
          <a:p>
            <a:r>
              <a:rPr lang="en-US" dirty="0"/>
              <a:t>US-EAST-1 Region – 6AZs</a:t>
            </a:r>
          </a:p>
        </p:txBody>
      </p:sp>
      <p:pic>
        <p:nvPicPr>
          <p:cNvPr id="10244" name="Picture 4" descr="Northern Virginia cloud operation ...">
            <a:extLst>
              <a:ext uri="{FF2B5EF4-FFF2-40B4-BE49-F238E27FC236}">
                <a16:creationId xmlns:a16="http://schemas.microsoft.com/office/drawing/2014/main" id="{647002DC-E06B-66E3-C20E-1576E9142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25550"/>
            <a:ext cx="5759450" cy="383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8AEEF27-72AB-B673-04E1-C6E1481345AE}"/>
              </a:ext>
            </a:extLst>
          </p:cNvPr>
          <p:cNvSpPr txBox="1"/>
          <p:nvPr/>
        </p:nvSpPr>
        <p:spPr>
          <a:xfrm>
            <a:off x="368300" y="5288340"/>
            <a:ext cx="5613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One of AWS’ Availability Zones in </a:t>
            </a:r>
            <a:br>
              <a:rPr lang="en-US" sz="2400" b="1" dirty="0"/>
            </a:br>
            <a:r>
              <a:rPr lang="en-US" sz="2400" b="1" dirty="0"/>
              <a:t>Northern Virginia (us-east-1) appears to be a tight cluster of 3 physical data-centers</a:t>
            </a:r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28563C70-C287-29CB-AA03-4AAE4CE46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455" y="2645202"/>
            <a:ext cx="5533545" cy="24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F840340-8EA1-9999-5D71-645C9B80C409}"/>
              </a:ext>
            </a:extLst>
          </p:cNvPr>
          <p:cNvSpPr txBox="1"/>
          <p:nvPr/>
        </p:nvSpPr>
        <p:spPr>
          <a:xfrm>
            <a:off x="6369050" y="5270085"/>
            <a:ext cx="5613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Amazons Presence in Virginia includes</a:t>
            </a:r>
            <a:br>
              <a:rPr lang="en-US" sz="2400" b="1" dirty="0"/>
            </a:br>
            <a:r>
              <a:rPr lang="en-US" sz="2400" b="1" dirty="0"/>
              <a:t>Datacenters (us-east-1), Offices,</a:t>
            </a:r>
            <a:br>
              <a:rPr lang="en-US" sz="2400" b="1" dirty="0"/>
            </a:br>
            <a:r>
              <a:rPr lang="en-US" sz="2400" b="1" dirty="0"/>
              <a:t>and Solar Farms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4227F8-B8A3-A89D-0EBA-9301BAF30243}"/>
              </a:ext>
            </a:extLst>
          </p:cNvPr>
          <p:cNvSpPr txBox="1"/>
          <p:nvPr/>
        </p:nvSpPr>
        <p:spPr>
          <a:xfrm>
            <a:off x="6974049" y="1278826"/>
            <a:ext cx="12414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us-east-1a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BCEE5F-267C-3BDF-372B-22F2785855BF}"/>
              </a:ext>
            </a:extLst>
          </p:cNvPr>
          <p:cNvSpPr txBox="1"/>
          <p:nvPr/>
        </p:nvSpPr>
        <p:spPr>
          <a:xfrm>
            <a:off x="8383749" y="1278826"/>
            <a:ext cx="1247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us-east-1b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C46391-C8B9-C109-C8D9-85D3B8DC5598}"/>
              </a:ext>
            </a:extLst>
          </p:cNvPr>
          <p:cNvSpPr txBox="1"/>
          <p:nvPr/>
        </p:nvSpPr>
        <p:spPr>
          <a:xfrm>
            <a:off x="9793449" y="1278826"/>
            <a:ext cx="12398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us-east-1c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4F84A9-EA87-4E92-3E96-5F36C4100536}"/>
              </a:ext>
            </a:extLst>
          </p:cNvPr>
          <p:cNvSpPr txBox="1"/>
          <p:nvPr/>
        </p:nvSpPr>
        <p:spPr>
          <a:xfrm>
            <a:off x="6974245" y="1777348"/>
            <a:ext cx="1247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us-east-1d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C8EF2E-9F61-5A91-61AF-007AE5134D2C}"/>
              </a:ext>
            </a:extLst>
          </p:cNvPr>
          <p:cNvSpPr txBox="1"/>
          <p:nvPr/>
        </p:nvSpPr>
        <p:spPr>
          <a:xfrm>
            <a:off x="8383945" y="1777348"/>
            <a:ext cx="12398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us-east-1e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ACEB45-6DBF-A88E-7E2F-D6D1DC30984F}"/>
              </a:ext>
            </a:extLst>
          </p:cNvPr>
          <p:cNvSpPr txBox="1"/>
          <p:nvPr/>
        </p:nvSpPr>
        <p:spPr>
          <a:xfrm>
            <a:off x="9793645" y="1777348"/>
            <a:ext cx="1186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us-east-1f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4C66D608-CB44-3E02-E711-BFAC1948C791}"/>
              </a:ext>
            </a:extLst>
          </p:cNvPr>
          <p:cNvSpPr/>
          <p:nvPr/>
        </p:nvSpPr>
        <p:spPr>
          <a:xfrm rot="5400000">
            <a:off x="8886105" y="24376"/>
            <a:ext cx="369334" cy="4540662"/>
          </a:xfrm>
          <a:prstGeom prst="rightBrace">
            <a:avLst>
              <a:gd name="adj1" fmla="val 25526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A80AA7B-8F6B-1445-8EDA-3ECBF5FCD726}"/>
              </a:ext>
            </a:extLst>
          </p:cNvPr>
          <p:cNvSpPr/>
          <p:nvPr/>
        </p:nvSpPr>
        <p:spPr>
          <a:xfrm>
            <a:off x="10297374" y="2604389"/>
            <a:ext cx="929426" cy="97701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0ABD89-2C76-4608-D3F9-2EA480A40E6B}"/>
              </a:ext>
            </a:extLst>
          </p:cNvPr>
          <p:cNvCxnSpPr>
            <a:cxnSpLocks/>
            <a:stCxn id="31" idx="1"/>
            <a:endCxn id="32" idx="1"/>
          </p:cNvCxnSpPr>
          <p:nvPr/>
        </p:nvCxnSpPr>
        <p:spPr>
          <a:xfrm>
            <a:off x="9070772" y="2479374"/>
            <a:ext cx="1226602" cy="6135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1D51F73-CFE4-E341-EC28-84FDD7AD47A4}"/>
              </a:ext>
            </a:extLst>
          </p:cNvPr>
          <p:cNvSpPr/>
          <p:nvPr/>
        </p:nvSpPr>
        <p:spPr>
          <a:xfrm>
            <a:off x="1211363" y="1463492"/>
            <a:ext cx="4481892" cy="32355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98FD003-2D8C-CC4B-BBF0-169CEF61CCF0}"/>
              </a:ext>
            </a:extLst>
          </p:cNvPr>
          <p:cNvSpPr/>
          <p:nvPr/>
        </p:nvSpPr>
        <p:spPr>
          <a:xfrm>
            <a:off x="6899401" y="1225550"/>
            <a:ext cx="1414866" cy="5013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F33C071-9574-A328-B524-2FAB17430047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5693255" y="1476240"/>
            <a:ext cx="1206146" cy="10535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3526F9B-DC22-7590-21A8-6D6B2AAF91AA}"/>
              </a:ext>
            </a:extLst>
          </p:cNvPr>
          <p:cNvSpPr txBox="1"/>
          <p:nvPr/>
        </p:nvSpPr>
        <p:spPr>
          <a:xfrm>
            <a:off x="712284" y="981783"/>
            <a:ext cx="5480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Note:  Just showing concept, this is an. AWS AZ – just not sure if it’s us-east-1a</a:t>
            </a:r>
          </a:p>
        </p:txBody>
      </p:sp>
    </p:spTree>
    <p:extLst>
      <p:ext uri="{BB962C8B-B14F-4D97-AF65-F5344CB8AC3E}">
        <p14:creationId xmlns:p14="http://schemas.microsoft.com/office/powerpoint/2010/main" val="381229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AE42-2A35-B03A-E43E-C0422E22B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B3CE-C0CC-B51C-4C69-A2BC24D19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18255"/>
            <a:ext cx="10515600" cy="762539"/>
          </a:xfrm>
        </p:spPr>
        <p:txBody>
          <a:bodyPr/>
          <a:lstStyle/>
          <a:p>
            <a:r>
              <a:rPr lang="en-US" dirty="0"/>
              <a:t>VPCs– Software Datacenter Clusters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57B01C-7032-3C2D-7D5E-808B4F3462D3}"/>
              </a:ext>
            </a:extLst>
          </p:cNvPr>
          <p:cNvSpPr/>
          <p:nvPr/>
        </p:nvSpPr>
        <p:spPr>
          <a:xfrm>
            <a:off x="381977" y="1660337"/>
            <a:ext cx="7556500" cy="4670120"/>
          </a:xfrm>
          <a:prstGeom prst="rect">
            <a:avLst/>
          </a:prstGeom>
          <a:noFill/>
          <a:ln w="38100"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2092E4-CDE7-51D0-7A7D-C383A996F8B6}"/>
              </a:ext>
            </a:extLst>
          </p:cNvPr>
          <p:cNvSpPr/>
          <p:nvPr/>
        </p:nvSpPr>
        <p:spPr>
          <a:xfrm>
            <a:off x="750277" y="2131641"/>
            <a:ext cx="3048000" cy="17319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FA56EF-4BE2-7B95-E5FF-4829BB1B4258}"/>
              </a:ext>
            </a:extLst>
          </p:cNvPr>
          <p:cNvSpPr txBox="1"/>
          <p:nvPr/>
        </p:nvSpPr>
        <p:spPr>
          <a:xfrm>
            <a:off x="889772" y="2275682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4B869-7EC8-C148-085A-1943505784E1}"/>
              </a:ext>
            </a:extLst>
          </p:cNvPr>
          <p:cNvSpPr txBox="1"/>
          <p:nvPr/>
        </p:nvSpPr>
        <p:spPr>
          <a:xfrm>
            <a:off x="2311476" y="2811647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2C6DC-0017-71DC-ACBB-832E99151955}"/>
              </a:ext>
            </a:extLst>
          </p:cNvPr>
          <p:cNvSpPr txBox="1"/>
          <p:nvPr/>
        </p:nvSpPr>
        <p:spPr>
          <a:xfrm>
            <a:off x="889311" y="3326329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510C92-7CF6-A90D-3BB3-8E8090E85528}"/>
              </a:ext>
            </a:extLst>
          </p:cNvPr>
          <p:cNvSpPr/>
          <p:nvPr/>
        </p:nvSpPr>
        <p:spPr>
          <a:xfrm>
            <a:off x="4344377" y="2119918"/>
            <a:ext cx="3225800" cy="17319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B98EB5-1B6A-80CD-D3B2-875A59022CA1}"/>
              </a:ext>
            </a:extLst>
          </p:cNvPr>
          <p:cNvSpPr txBox="1"/>
          <p:nvPr/>
        </p:nvSpPr>
        <p:spPr>
          <a:xfrm>
            <a:off x="4460426" y="2263959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3D68E4-4AA9-9BCE-01F6-5C1A99DC2FAE}"/>
              </a:ext>
            </a:extLst>
          </p:cNvPr>
          <p:cNvSpPr txBox="1"/>
          <p:nvPr/>
        </p:nvSpPr>
        <p:spPr>
          <a:xfrm>
            <a:off x="6160477" y="2641228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13453-E88F-AC3B-B83D-6452EA2622C2}"/>
              </a:ext>
            </a:extLst>
          </p:cNvPr>
          <p:cNvSpPr txBox="1"/>
          <p:nvPr/>
        </p:nvSpPr>
        <p:spPr>
          <a:xfrm>
            <a:off x="4460426" y="2918064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E4A0C3-9A14-E2DF-05E5-09568EE09F21}"/>
              </a:ext>
            </a:extLst>
          </p:cNvPr>
          <p:cNvSpPr txBox="1"/>
          <p:nvPr/>
        </p:nvSpPr>
        <p:spPr>
          <a:xfrm>
            <a:off x="6155001" y="3291275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DA1A6E-074D-1692-EB22-8B5D232BBB1D}"/>
              </a:ext>
            </a:extLst>
          </p:cNvPr>
          <p:cNvSpPr/>
          <p:nvPr/>
        </p:nvSpPr>
        <p:spPr>
          <a:xfrm>
            <a:off x="2630827" y="4396151"/>
            <a:ext cx="3048000" cy="17319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4E4505-EB7F-47C2-C918-5145B7A4B1E0}"/>
              </a:ext>
            </a:extLst>
          </p:cNvPr>
          <p:cNvSpPr txBox="1"/>
          <p:nvPr/>
        </p:nvSpPr>
        <p:spPr>
          <a:xfrm>
            <a:off x="3463104" y="4639834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888CF5-60E2-D08B-266A-9ABB84CA6F7D}"/>
              </a:ext>
            </a:extLst>
          </p:cNvPr>
          <p:cNvSpPr txBox="1"/>
          <p:nvPr/>
        </p:nvSpPr>
        <p:spPr>
          <a:xfrm>
            <a:off x="3463104" y="5524071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7C3315E-EDCC-4C95-5989-D9BB2C6931CB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101612" y="5009166"/>
            <a:ext cx="0" cy="514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4A4039-0911-D69B-D793-F099C046AE35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5098934" y="2633291"/>
            <a:ext cx="0" cy="2847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AC4A06-0384-21AD-DEE9-51B39242D122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6793509" y="3010560"/>
            <a:ext cx="5476" cy="280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CB40CFC-4FF2-6440-34C2-122C757118C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737442" y="2324401"/>
            <a:ext cx="1061543" cy="31682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B345092-373D-0A14-9583-A544EC58488E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5484581" y="2901748"/>
            <a:ext cx="284773" cy="105606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739F381A-2858-2E3F-F8BB-75892FAFDFB3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5737442" y="2448625"/>
            <a:ext cx="417559" cy="102731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0" name="Elbow Connector 10239">
            <a:extLst>
              <a:ext uri="{FF2B5EF4-FFF2-40B4-BE49-F238E27FC236}">
                <a16:creationId xmlns:a16="http://schemas.microsoft.com/office/drawing/2014/main" id="{D28014CF-18F8-D133-809E-F3FE85B7BBE7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rot="10800000" flipV="1">
            <a:off x="5737443" y="2825894"/>
            <a:ext cx="423035" cy="276836"/>
          </a:xfrm>
          <a:prstGeom prst="bentConnector3">
            <a:avLst>
              <a:gd name="adj1" fmla="val 267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3" name="Elbow Connector 10252">
            <a:extLst>
              <a:ext uri="{FF2B5EF4-FFF2-40B4-BE49-F238E27FC236}">
                <a16:creationId xmlns:a16="http://schemas.microsoft.com/office/drawing/2014/main" id="{41E0115D-8750-9E59-A5D9-357E1303D33F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2166788" y="2460348"/>
            <a:ext cx="783196" cy="35129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6" name="Elbow Connector 10255">
            <a:extLst>
              <a:ext uri="{FF2B5EF4-FFF2-40B4-BE49-F238E27FC236}">
                <a16:creationId xmlns:a16="http://schemas.microsoft.com/office/drawing/2014/main" id="{2E060EF8-9828-CD32-8D9B-E458169B2347}"/>
              </a:ext>
            </a:extLst>
          </p:cNvPr>
          <p:cNvCxnSpPr>
            <a:cxnSpLocks/>
            <a:stCxn id="8" idx="3"/>
            <a:endCxn id="7" idx="2"/>
          </p:cNvCxnSpPr>
          <p:nvPr/>
        </p:nvCxnSpPr>
        <p:spPr>
          <a:xfrm flipV="1">
            <a:off x="2166327" y="3180979"/>
            <a:ext cx="783657" cy="33001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9" name="Straight Connector 10258">
            <a:extLst>
              <a:ext uri="{FF2B5EF4-FFF2-40B4-BE49-F238E27FC236}">
                <a16:creationId xmlns:a16="http://schemas.microsoft.com/office/drawing/2014/main" id="{5B64B5FC-AF0C-71E1-7B77-885F5132905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527819" y="2645014"/>
            <a:ext cx="461" cy="6813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2" name="Elbow Connector 10261">
            <a:extLst>
              <a:ext uri="{FF2B5EF4-FFF2-40B4-BE49-F238E27FC236}">
                <a16:creationId xmlns:a16="http://schemas.microsoft.com/office/drawing/2014/main" id="{94AC4CBA-D721-BF2C-FD53-44CC99F2C164}"/>
              </a:ext>
            </a:extLst>
          </p:cNvPr>
          <p:cNvCxnSpPr>
            <a:cxnSpLocks/>
            <a:stCxn id="5" idx="2"/>
            <a:endCxn id="14" idx="1"/>
          </p:cNvCxnSpPr>
          <p:nvPr/>
        </p:nvCxnSpPr>
        <p:spPr>
          <a:xfrm rot="16200000" flipH="1">
            <a:off x="1753288" y="4384593"/>
            <a:ext cx="1398529" cy="356550"/>
          </a:xfrm>
          <a:prstGeom prst="bentConnector2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5" name="Elbow Connector 10264">
            <a:extLst>
              <a:ext uri="{FF2B5EF4-FFF2-40B4-BE49-F238E27FC236}">
                <a16:creationId xmlns:a16="http://schemas.microsoft.com/office/drawing/2014/main" id="{80F47107-6D81-BC35-64A8-7F06D9409F95}"/>
              </a:ext>
            </a:extLst>
          </p:cNvPr>
          <p:cNvCxnSpPr>
            <a:cxnSpLocks/>
            <a:stCxn id="9" idx="2"/>
            <a:endCxn id="14" idx="3"/>
          </p:cNvCxnSpPr>
          <p:nvPr/>
        </p:nvCxnSpPr>
        <p:spPr>
          <a:xfrm rot="5400000">
            <a:off x="5112926" y="4417782"/>
            <a:ext cx="1410252" cy="278450"/>
          </a:xfrm>
          <a:prstGeom prst="bentConnector2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8" name="Elbow Connector 10267">
            <a:extLst>
              <a:ext uri="{FF2B5EF4-FFF2-40B4-BE49-F238E27FC236}">
                <a16:creationId xmlns:a16="http://schemas.microsoft.com/office/drawing/2014/main" id="{6BB84C53-68A9-3B9F-E690-6990947B8998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3798277" y="2985900"/>
            <a:ext cx="546100" cy="11723"/>
          </a:xfrm>
          <a:prstGeom prst="bentConnector3">
            <a:avLst>
              <a:gd name="adj1" fmla="val 50000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90" name="Picture 2" descr="AWS VPC Icon SVG Vector &amp; PNG Free Download | UXWing">
            <a:extLst>
              <a:ext uri="{FF2B5EF4-FFF2-40B4-BE49-F238E27FC236}">
                <a16:creationId xmlns:a16="http://schemas.microsoft.com/office/drawing/2014/main" id="{DD61B50C-46A1-7C09-520B-5D2728BC6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63" y="1025673"/>
            <a:ext cx="832827" cy="83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1" name="TextBox 10270">
            <a:extLst>
              <a:ext uri="{FF2B5EF4-FFF2-40B4-BE49-F238E27FC236}">
                <a16:creationId xmlns:a16="http://schemas.microsoft.com/office/drawing/2014/main" id="{B26022D2-D879-3154-2B9F-F2C252123C18}"/>
              </a:ext>
            </a:extLst>
          </p:cNvPr>
          <p:cNvSpPr txBox="1"/>
          <p:nvPr/>
        </p:nvSpPr>
        <p:spPr>
          <a:xfrm>
            <a:off x="726830" y="1742111"/>
            <a:ext cx="1779590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availability zone</a:t>
            </a:r>
          </a:p>
        </p:txBody>
      </p:sp>
      <p:sp>
        <p:nvSpPr>
          <p:cNvPr id="10272" name="TextBox 10271">
            <a:extLst>
              <a:ext uri="{FF2B5EF4-FFF2-40B4-BE49-F238E27FC236}">
                <a16:creationId xmlns:a16="http://schemas.microsoft.com/office/drawing/2014/main" id="{FDFC0419-7445-764E-B57D-E1009DE7DA9B}"/>
              </a:ext>
            </a:extLst>
          </p:cNvPr>
          <p:cNvSpPr txBox="1"/>
          <p:nvPr/>
        </p:nvSpPr>
        <p:spPr>
          <a:xfrm>
            <a:off x="4332653" y="1766524"/>
            <a:ext cx="1779590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availability zone</a:t>
            </a:r>
          </a:p>
        </p:txBody>
      </p:sp>
      <p:sp>
        <p:nvSpPr>
          <p:cNvPr id="10273" name="TextBox 10272">
            <a:extLst>
              <a:ext uri="{FF2B5EF4-FFF2-40B4-BE49-F238E27FC236}">
                <a16:creationId xmlns:a16="http://schemas.microsoft.com/office/drawing/2014/main" id="{3ED94656-42A7-17E3-3C33-BA148771688D}"/>
              </a:ext>
            </a:extLst>
          </p:cNvPr>
          <p:cNvSpPr txBox="1"/>
          <p:nvPr/>
        </p:nvSpPr>
        <p:spPr>
          <a:xfrm>
            <a:off x="2619103" y="4031023"/>
            <a:ext cx="1779590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availability zone</a:t>
            </a:r>
          </a:p>
        </p:txBody>
      </p:sp>
      <p:pic>
        <p:nvPicPr>
          <p:cNvPr id="12292" name="Picture 4" descr="amazon #aws #icon #symbols #svg ...">
            <a:extLst>
              <a:ext uri="{FF2B5EF4-FFF2-40B4-BE49-F238E27FC236}">
                <a16:creationId xmlns:a16="http://schemas.microsoft.com/office/drawing/2014/main" id="{03884D5B-7EF9-16FB-6D77-37D76E184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244" y="5097165"/>
            <a:ext cx="1725584" cy="105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4" name="TextBox 10273">
            <a:extLst>
              <a:ext uri="{FF2B5EF4-FFF2-40B4-BE49-F238E27FC236}">
                <a16:creationId xmlns:a16="http://schemas.microsoft.com/office/drawing/2014/main" id="{DD668142-87A4-A996-E808-2C8C39F16638}"/>
              </a:ext>
            </a:extLst>
          </p:cNvPr>
          <p:cNvSpPr txBox="1"/>
          <p:nvPr/>
        </p:nvSpPr>
        <p:spPr>
          <a:xfrm>
            <a:off x="6155001" y="4420080"/>
            <a:ext cx="168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68633"/>
                </a:solidFill>
              </a:rPr>
              <a:t>Regional AWS </a:t>
            </a:r>
            <a:br>
              <a:rPr lang="en-US" b="1" dirty="0">
                <a:solidFill>
                  <a:srgbClr val="F68633"/>
                </a:solidFill>
              </a:rPr>
            </a:br>
            <a:r>
              <a:rPr lang="en-US" b="1" dirty="0">
                <a:solidFill>
                  <a:srgbClr val="F68633"/>
                </a:solidFill>
              </a:rPr>
              <a:t>Services</a:t>
            </a:r>
          </a:p>
        </p:txBody>
      </p:sp>
      <p:pic>
        <p:nvPicPr>
          <p:cNvPr id="12294" name="Picture 6" descr="Aws Iam icon - Free Download PNG &amp; SVG | Streamline">
            <a:extLst>
              <a:ext uri="{FF2B5EF4-FFF2-40B4-BE49-F238E27FC236}">
                <a16:creationId xmlns:a16="http://schemas.microsoft.com/office/drawing/2014/main" id="{626A4837-0A84-8F5D-A91C-DD61783B3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8492" y="1015505"/>
            <a:ext cx="485271" cy="485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Amazon Route 53 | AWS News Blog">
            <a:extLst>
              <a:ext uri="{FF2B5EF4-FFF2-40B4-BE49-F238E27FC236}">
                <a16:creationId xmlns:a16="http://schemas.microsoft.com/office/drawing/2014/main" id="{01E16860-A0CA-56A7-2CF3-4AF04B801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632" y="1016660"/>
            <a:ext cx="485271" cy="49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0" name="Picture 12" descr="Aws Cloudfront icon - Free Download PNG ...">
            <a:extLst>
              <a:ext uri="{FF2B5EF4-FFF2-40B4-BE49-F238E27FC236}">
                <a16:creationId xmlns:a16="http://schemas.microsoft.com/office/drawing/2014/main" id="{1CAB05A4-9D7C-A64B-B054-F550EEA8A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975" y="1029626"/>
            <a:ext cx="511473" cy="51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6" name="TextBox 10275">
            <a:extLst>
              <a:ext uri="{FF2B5EF4-FFF2-40B4-BE49-F238E27FC236}">
                <a16:creationId xmlns:a16="http://schemas.microsoft.com/office/drawing/2014/main" id="{402B2A84-5311-45A2-03B5-58EE065B6912}"/>
              </a:ext>
            </a:extLst>
          </p:cNvPr>
          <p:cNvSpPr txBox="1"/>
          <p:nvPr/>
        </p:nvSpPr>
        <p:spPr>
          <a:xfrm>
            <a:off x="5098934" y="1091087"/>
            <a:ext cx="2610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Global AWS Services</a:t>
            </a:r>
          </a:p>
        </p:txBody>
      </p:sp>
      <p:sp>
        <p:nvSpPr>
          <p:cNvPr id="10277" name="TextBox 10276">
            <a:extLst>
              <a:ext uri="{FF2B5EF4-FFF2-40B4-BE49-F238E27FC236}">
                <a16:creationId xmlns:a16="http://schemas.microsoft.com/office/drawing/2014/main" id="{1A47AC84-4728-EFD3-E5D2-C7D08ABF26A3}"/>
              </a:ext>
            </a:extLst>
          </p:cNvPr>
          <p:cNvSpPr txBox="1"/>
          <p:nvPr/>
        </p:nvSpPr>
        <p:spPr>
          <a:xfrm>
            <a:off x="8136201" y="1541099"/>
            <a:ext cx="37748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AZs within a region, and datacenters within an AZ are linked together with high-speed, low latency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of AWS services are scoped to individual regions, several services are global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every region has every AWS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AWS regions provide a clustered platform to enable scalable and resilient application deployment</a:t>
            </a:r>
          </a:p>
          <a:p>
            <a:endParaRPr lang="en-US" dirty="0"/>
          </a:p>
        </p:txBody>
      </p:sp>
      <p:sp>
        <p:nvSpPr>
          <p:cNvPr id="10278" name="TextBox 10277">
            <a:extLst>
              <a:ext uri="{FF2B5EF4-FFF2-40B4-BE49-F238E27FC236}">
                <a16:creationId xmlns:a16="http://schemas.microsoft.com/office/drawing/2014/main" id="{3D8278D1-0419-3853-44E6-291784277671}"/>
              </a:ext>
            </a:extLst>
          </p:cNvPr>
          <p:cNvSpPr txBox="1"/>
          <p:nvPr/>
        </p:nvSpPr>
        <p:spPr>
          <a:xfrm>
            <a:off x="1232964" y="1296149"/>
            <a:ext cx="1379737" cy="369332"/>
          </a:xfrm>
          <a:prstGeom prst="rect">
            <a:avLst/>
          </a:prstGeom>
          <a:solidFill>
            <a:srgbClr val="F68633"/>
          </a:solidFill>
          <a:ln>
            <a:solidFill>
              <a:srgbClr val="F6863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AWS Region</a:t>
            </a:r>
          </a:p>
        </p:txBody>
      </p:sp>
      <p:sp>
        <p:nvSpPr>
          <p:cNvPr id="10279" name="TextBox 10278">
            <a:extLst>
              <a:ext uri="{FF2B5EF4-FFF2-40B4-BE49-F238E27FC236}">
                <a16:creationId xmlns:a16="http://schemas.microsoft.com/office/drawing/2014/main" id="{6D186FA1-9F20-63A2-E781-26F7FB78528D}"/>
              </a:ext>
            </a:extLst>
          </p:cNvPr>
          <p:cNvSpPr txBox="1"/>
          <p:nvPr/>
        </p:nvSpPr>
        <p:spPr>
          <a:xfrm>
            <a:off x="8376111" y="5136054"/>
            <a:ext cx="3622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Properly deploying scalable and resilient applications within a region requires some networking knowledge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021115-F75D-113E-D913-FCE768167A1B}"/>
                  </a:ext>
                </a:extLst>
              </p14:cNvPr>
              <p14:cNvContentPartPr/>
              <p14:nvPr/>
            </p14:nvContentPartPr>
            <p14:xfrm>
              <a:off x="1670240" y="683880"/>
              <a:ext cx="7120080" cy="128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021115-F75D-113E-D913-FCE768167A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55120" y="668760"/>
                <a:ext cx="715068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34B4735-2BF5-2766-8A64-0D675E80C465}"/>
              </a:ext>
            </a:extLst>
          </p:cNvPr>
          <p:cNvGrpSpPr/>
          <p:nvPr/>
        </p:nvGrpSpPr>
        <p:grpSpPr>
          <a:xfrm>
            <a:off x="2296280" y="909240"/>
            <a:ext cx="856080" cy="489600"/>
            <a:chOff x="2296280" y="909240"/>
            <a:chExt cx="856080" cy="48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183B3CC-CDDC-7408-142A-4CA0507223C8}"/>
                    </a:ext>
                  </a:extLst>
                </p14:cNvPr>
                <p14:cNvContentPartPr/>
                <p14:nvPr/>
              </p14:nvContentPartPr>
              <p14:xfrm>
                <a:off x="2471960" y="1213440"/>
                <a:ext cx="231840" cy="185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183B3CC-CDDC-7408-142A-4CA0507223C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56840" y="1197960"/>
                  <a:ext cx="262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BC1F7A-F775-991C-51E4-8AE5E9ADE2AD}"/>
                    </a:ext>
                  </a:extLst>
                </p14:cNvPr>
                <p14:cNvContentPartPr/>
                <p14:nvPr/>
              </p14:nvContentPartPr>
              <p14:xfrm>
                <a:off x="2296280" y="1007880"/>
                <a:ext cx="102960" cy="169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1BC1F7A-F775-991C-51E4-8AE5E9ADE2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81160" y="992760"/>
                  <a:ext cx="133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9886CF8-8D53-94D9-0017-B87F92F5309B}"/>
                    </a:ext>
                  </a:extLst>
                </p14:cNvPr>
                <p14:cNvContentPartPr/>
                <p14:nvPr/>
              </p14:nvContentPartPr>
              <p14:xfrm>
                <a:off x="2438840" y="994920"/>
                <a:ext cx="60120" cy="135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9886CF8-8D53-94D9-0017-B87F92F530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23720" y="979800"/>
                  <a:ext cx="90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D060D2-68DD-DEE6-6F36-D05D07E97814}"/>
                    </a:ext>
                  </a:extLst>
                </p14:cNvPr>
                <p14:cNvContentPartPr/>
                <p14:nvPr/>
              </p14:nvContentPartPr>
              <p14:xfrm>
                <a:off x="2588600" y="1039200"/>
                <a:ext cx="78840" cy="18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D060D2-68DD-DEE6-6F36-D05D07E9781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73480" y="1024080"/>
                  <a:ext cx="109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521603-EAF6-10E8-2E27-0482049C1D2B}"/>
                    </a:ext>
                  </a:extLst>
                </p14:cNvPr>
                <p14:cNvContentPartPr/>
                <p14:nvPr/>
              </p14:nvContentPartPr>
              <p14:xfrm>
                <a:off x="2705960" y="911760"/>
                <a:ext cx="101880" cy="195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521603-EAF6-10E8-2E27-0482049C1D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690480" y="896280"/>
                  <a:ext cx="132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823C83B-8FC8-1371-1BA4-7F79A65D53A6}"/>
                    </a:ext>
                  </a:extLst>
                </p14:cNvPr>
                <p14:cNvContentPartPr/>
                <p14:nvPr/>
              </p14:nvContentPartPr>
              <p14:xfrm>
                <a:off x="2821520" y="951360"/>
                <a:ext cx="117000" cy="99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823C83B-8FC8-1371-1BA4-7F79A65D53A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06400" y="936240"/>
                  <a:ext cx="147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D1ACC8-6574-8CF3-7596-9EBB9255DD3A}"/>
                    </a:ext>
                  </a:extLst>
                </p14:cNvPr>
                <p14:cNvContentPartPr/>
                <p14:nvPr/>
              </p14:nvContentPartPr>
              <p14:xfrm>
                <a:off x="2948240" y="978720"/>
                <a:ext cx="39600" cy="99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D1ACC8-6574-8CF3-7596-9EBB9255DD3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933120" y="963600"/>
                  <a:ext cx="69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D76702B-9ADE-9B24-9F97-559FEA43ED17}"/>
                    </a:ext>
                  </a:extLst>
                </p14:cNvPr>
                <p14:cNvContentPartPr/>
                <p14:nvPr/>
              </p14:nvContentPartPr>
              <p14:xfrm>
                <a:off x="3068480" y="909240"/>
                <a:ext cx="12600" cy="169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D76702B-9ADE-9B24-9F97-559FEA43ED1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53360" y="894120"/>
                  <a:ext cx="43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E06316A-BAB0-94AB-781A-7D016BA359EE}"/>
                    </a:ext>
                  </a:extLst>
                </p14:cNvPr>
                <p14:cNvContentPartPr/>
                <p14:nvPr/>
              </p14:nvContentPartPr>
              <p14:xfrm>
                <a:off x="3076760" y="961800"/>
                <a:ext cx="75600" cy="39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E06316A-BAB0-94AB-781A-7D016BA359E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61640" y="946680"/>
                  <a:ext cx="105840" cy="7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470BE65-9C50-B988-3F63-5F3CF71E6B6B}"/>
                  </a:ext>
                </a:extLst>
              </p14:cNvPr>
              <p14:cNvContentPartPr/>
              <p14:nvPr/>
            </p14:nvContentPartPr>
            <p14:xfrm>
              <a:off x="3317240" y="895920"/>
              <a:ext cx="18360" cy="2160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470BE65-9C50-B988-3F63-5F3CF71E6B6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01760" y="880440"/>
                <a:ext cx="48600" cy="2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31F1DE8-A76D-DB8B-3E48-A85CF91CBCAF}"/>
              </a:ext>
            </a:extLst>
          </p:cNvPr>
          <p:cNvGrpSpPr/>
          <p:nvPr/>
        </p:nvGrpSpPr>
        <p:grpSpPr>
          <a:xfrm>
            <a:off x="2407160" y="1751640"/>
            <a:ext cx="768960" cy="227880"/>
            <a:chOff x="2407160" y="1751640"/>
            <a:chExt cx="768960" cy="2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324ADF9-E859-E784-9D7C-F2AF1F1282CF}"/>
                    </a:ext>
                  </a:extLst>
                </p14:cNvPr>
                <p14:cNvContentPartPr/>
                <p14:nvPr/>
              </p14:nvContentPartPr>
              <p14:xfrm>
                <a:off x="2407160" y="1840560"/>
                <a:ext cx="364680" cy="38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324ADF9-E859-E784-9D7C-F2AF1F1282C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91680" y="1825080"/>
                  <a:ext cx="395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3DE844-7C34-59F5-564F-D6A8121E0EFC}"/>
                    </a:ext>
                  </a:extLst>
                </p14:cNvPr>
                <p14:cNvContentPartPr/>
                <p14:nvPr/>
              </p14:nvContentPartPr>
              <p14:xfrm>
                <a:off x="2812160" y="1751640"/>
                <a:ext cx="112680" cy="227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3DE844-7C34-59F5-564F-D6A8121E0EF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97040" y="1736160"/>
                  <a:ext cx="143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591CB93-4249-45A0-D3C2-1602F6ADE8C1}"/>
                    </a:ext>
                  </a:extLst>
                </p14:cNvPr>
                <p14:cNvContentPartPr/>
                <p14:nvPr/>
              </p14:nvContentPartPr>
              <p14:xfrm>
                <a:off x="2826200" y="1850280"/>
                <a:ext cx="126360" cy="19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591CB93-4249-45A0-D3C2-1602F6ADE8C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11080" y="1835160"/>
                  <a:ext cx="1569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D7187A-D686-E05B-0D75-43153DAFAB07}"/>
                    </a:ext>
                  </a:extLst>
                </p14:cNvPr>
                <p14:cNvContentPartPr/>
                <p14:nvPr/>
              </p14:nvContentPartPr>
              <p14:xfrm>
                <a:off x="3044000" y="1756680"/>
                <a:ext cx="126360" cy="200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D7187A-D686-E05B-0D75-43153DAFAB0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28880" y="1741560"/>
                  <a:ext cx="1569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939520-66D3-7215-BEBB-85D87C20DA06}"/>
                    </a:ext>
                  </a:extLst>
                </p14:cNvPr>
                <p14:cNvContentPartPr/>
                <p14:nvPr/>
              </p14:nvContentPartPr>
              <p14:xfrm>
                <a:off x="2975960" y="1846320"/>
                <a:ext cx="200160" cy="33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939520-66D3-7215-BEBB-85D87C20DA0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60840" y="1831200"/>
                  <a:ext cx="230400" cy="6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EEDBEE6-75AA-2E16-8A50-C9A20FF6B175}"/>
                  </a:ext>
                </a:extLst>
              </p14:cNvPr>
              <p14:cNvContentPartPr/>
              <p14:nvPr/>
            </p14:nvContentPartPr>
            <p14:xfrm>
              <a:off x="3193760" y="2367240"/>
              <a:ext cx="150840" cy="2876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EEDBEE6-75AA-2E16-8A50-C9A20FF6B17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178280" y="2351760"/>
                <a:ext cx="18144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6BF8063-0145-024B-4B9F-14ED86A48AF5}"/>
              </a:ext>
            </a:extLst>
          </p:cNvPr>
          <p:cNvGrpSpPr/>
          <p:nvPr/>
        </p:nvGrpSpPr>
        <p:grpSpPr>
          <a:xfrm>
            <a:off x="7124600" y="2285520"/>
            <a:ext cx="192240" cy="333720"/>
            <a:chOff x="7124600" y="2285520"/>
            <a:chExt cx="19224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02601CA-45B9-910D-56FC-50940873FB21}"/>
                    </a:ext>
                  </a:extLst>
                </p14:cNvPr>
                <p14:cNvContentPartPr/>
                <p14:nvPr/>
              </p14:nvContentPartPr>
              <p14:xfrm>
                <a:off x="7124600" y="2321880"/>
                <a:ext cx="192240" cy="91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02601CA-45B9-910D-56FC-50940873FB2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09120" y="2306760"/>
                  <a:ext cx="222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4CE48A7-343E-AB3F-7E54-565E0121EB55}"/>
                    </a:ext>
                  </a:extLst>
                </p14:cNvPr>
                <p14:cNvContentPartPr/>
                <p14:nvPr/>
              </p14:nvContentPartPr>
              <p14:xfrm>
                <a:off x="7246640" y="2285520"/>
                <a:ext cx="63000" cy="333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4CE48A7-343E-AB3F-7E54-565E0121EB5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31160" y="2270040"/>
                  <a:ext cx="93240" cy="36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42B9AA9-82E7-140E-CF54-2BA474770844}"/>
                  </a:ext>
                </a:extLst>
              </p14:cNvPr>
              <p14:cNvContentPartPr/>
              <p14:nvPr/>
            </p14:nvContentPartPr>
            <p14:xfrm>
              <a:off x="5143520" y="4855560"/>
              <a:ext cx="235440" cy="2329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42B9AA9-82E7-140E-CF54-2BA47477084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128400" y="4840080"/>
                <a:ext cx="2660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189C916-9006-486B-E356-4FA7ADA3E2F2}"/>
                  </a:ext>
                </a:extLst>
              </p14:cNvPr>
              <p14:cNvContentPartPr/>
              <p14:nvPr/>
            </p14:nvContentPartPr>
            <p14:xfrm>
              <a:off x="6003200" y="4215480"/>
              <a:ext cx="1897200" cy="21304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189C916-9006-486B-E356-4FA7ADA3E2F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988080" y="4200000"/>
                <a:ext cx="1927440" cy="216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58017B15-77DC-2358-F026-EE10D525B084}"/>
              </a:ext>
            </a:extLst>
          </p:cNvPr>
          <p:cNvGrpSpPr/>
          <p:nvPr/>
        </p:nvGrpSpPr>
        <p:grpSpPr>
          <a:xfrm>
            <a:off x="3489320" y="803400"/>
            <a:ext cx="1962720" cy="798840"/>
            <a:chOff x="3489320" y="803400"/>
            <a:chExt cx="1962720" cy="79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D14BC8-E225-E0E6-DDE5-A5FC8FB098D7}"/>
                    </a:ext>
                  </a:extLst>
                </p14:cNvPr>
                <p14:cNvContentPartPr/>
                <p14:nvPr/>
              </p14:nvContentPartPr>
              <p14:xfrm>
                <a:off x="3731240" y="803400"/>
                <a:ext cx="47520" cy="171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D14BC8-E225-E0E6-DDE5-A5FC8FB098D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16120" y="787920"/>
                  <a:ext cx="78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997D33-F2C0-A173-AEDD-6CFE2954DDF8}"/>
                    </a:ext>
                  </a:extLst>
                </p14:cNvPr>
                <p14:cNvContentPartPr/>
                <p14:nvPr/>
              </p14:nvContentPartPr>
              <p14:xfrm>
                <a:off x="3807200" y="827160"/>
                <a:ext cx="118080" cy="154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997D33-F2C0-A173-AEDD-6CFE2954DDF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92080" y="811680"/>
                  <a:ext cx="1486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F06DDB7-66A8-0313-1EAA-5F6AE60903E7}"/>
                    </a:ext>
                  </a:extLst>
                </p14:cNvPr>
                <p14:cNvContentPartPr/>
                <p14:nvPr/>
              </p14:nvContentPartPr>
              <p14:xfrm>
                <a:off x="3876320" y="880800"/>
                <a:ext cx="110520" cy="25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F06DDB7-66A8-0313-1EAA-5F6AE60903E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60840" y="865680"/>
                  <a:ext cx="1411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7D404A5-AA91-961C-1BF0-AF0C512EF331}"/>
                    </a:ext>
                  </a:extLst>
                </p14:cNvPr>
                <p14:cNvContentPartPr/>
                <p14:nvPr/>
              </p14:nvContentPartPr>
              <p14:xfrm>
                <a:off x="3980720" y="880080"/>
                <a:ext cx="137160" cy="79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7D404A5-AA91-961C-1BF0-AF0C512EF33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965600" y="864600"/>
                  <a:ext cx="1677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0BFBE55-D2F3-BFD6-6E92-9B9263554AE1}"/>
                    </a:ext>
                  </a:extLst>
                </p14:cNvPr>
                <p14:cNvContentPartPr/>
                <p14:nvPr/>
              </p14:nvContentPartPr>
              <p14:xfrm>
                <a:off x="3489320" y="931560"/>
                <a:ext cx="1962720" cy="670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0BFBE55-D2F3-BFD6-6E92-9B9263554AE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74200" y="916440"/>
                  <a:ext cx="1993320" cy="70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82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4835-3753-44D9-4A95-9B764D6E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05" y="-101798"/>
            <a:ext cx="10515600" cy="1325563"/>
          </a:xfrm>
        </p:spPr>
        <p:txBody>
          <a:bodyPr/>
          <a:lstStyle/>
          <a:p>
            <a:r>
              <a:rPr lang="en-US" dirty="0"/>
              <a:t>Networking</a:t>
            </a:r>
          </a:p>
        </p:txBody>
      </p:sp>
      <p:pic>
        <p:nvPicPr>
          <p:cNvPr id="4" name="Picture 2" descr="Apple Laptop Computer - Free technology icons">
            <a:extLst>
              <a:ext uri="{FF2B5EF4-FFF2-40B4-BE49-F238E27FC236}">
                <a16:creationId xmlns:a16="http://schemas.microsoft.com/office/drawing/2014/main" id="{49A837BA-FE8B-DBA6-128C-AEB0E139F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61" y="3327400"/>
            <a:ext cx="158115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luster, servers, computer server icon - Download on Iconfinder">
            <a:extLst>
              <a:ext uri="{FF2B5EF4-FFF2-40B4-BE49-F238E27FC236}">
                <a16:creationId xmlns:a16="http://schemas.microsoft.com/office/drawing/2014/main" id="{9183D6D7-5299-A6FB-001E-6BA143339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131" y="3352800"/>
            <a:ext cx="1592356" cy="159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Router | Cisco Network Topology Icons 3015">
            <a:extLst>
              <a:ext uri="{FF2B5EF4-FFF2-40B4-BE49-F238E27FC236}">
                <a16:creationId xmlns:a16="http://schemas.microsoft.com/office/drawing/2014/main" id="{9CB10F61-EA13-B1FD-96B3-069F737A1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604" y="3837404"/>
            <a:ext cx="1170039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outer | Cisco Network Topology Icons 3015">
            <a:extLst>
              <a:ext uri="{FF2B5EF4-FFF2-40B4-BE49-F238E27FC236}">
                <a16:creationId xmlns:a16="http://schemas.microsoft.com/office/drawing/2014/main" id="{DDDC1222-C513-ADD2-B1A7-09DAE768A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611" y="3837404"/>
            <a:ext cx="1170039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93D1680-FCA8-B85F-E04C-53385183B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780" y="3458322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969B61-6E37-8104-CE32-08E735CC1784}"/>
              </a:ext>
            </a:extLst>
          </p:cNvPr>
          <p:cNvCxnSpPr>
            <a:stCxn id="6" idx="3"/>
          </p:cNvCxnSpPr>
          <p:nvPr/>
        </p:nvCxnSpPr>
        <p:spPr>
          <a:xfrm>
            <a:off x="4343643" y="4237454"/>
            <a:ext cx="85756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DAB571-5B41-7CE7-B42D-32E4C89FAE34}"/>
              </a:ext>
            </a:extLst>
          </p:cNvPr>
          <p:cNvCxnSpPr/>
          <p:nvPr/>
        </p:nvCxnSpPr>
        <p:spPr>
          <a:xfrm>
            <a:off x="6702530" y="4198930"/>
            <a:ext cx="85756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DE475B-164D-79D6-667F-73ED25B83A06}"/>
              </a:ext>
            </a:extLst>
          </p:cNvPr>
          <p:cNvCxnSpPr>
            <a:cxnSpLocks/>
          </p:cNvCxnSpPr>
          <p:nvPr/>
        </p:nvCxnSpPr>
        <p:spPr>
          <a:xfrm>
            <a:off x="8809650" y="4211206"/>
            <a:ext cx="1085705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4A5F65-5AE7-7E93-A862-27BB9E932C59}"/>
              </a:ext>
            </a:extLst>
          </p:cNvPr>
          <p:cNvCxnSpPr>
            <a:cxnSpLocks/>
          </p:cNvCxnSpPr>
          <p:nvPr/>
        </p:nvCxnSpPr>
        <p:spPr>
          <a:xfrm>
            <a:off x="2087899" y="4237454"/>
            <a:ext cx="1085705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0" descr="Chrome icon - Free download on Iconfinder">
            <a:extLst>
              <a:ext uri="{FF2B5EF4-FFF2-40B4-BE49-F238E27FC236}">
                <a16:creationId xmlns:a16="http://schemas.microsoft.com/office/drawing/2014/main" id="{4E792230-08CE-CE1F-2B4C-F8F4E9B38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532" y="1216669"/>
            <a:ext cx="1020346" cy="102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9E8243-4953-E44F-11B7-96ACF5ADA41F}"/>
              </a:ext>
            </a:extLst>
          </p:cNvPr>
          <p:cNvSpPr txBox="1"/>
          <p:nvPr/>
        </p:nvSpPr>
        <p:spPr>
          <a:xfrm>
            <a:off x="714936" y="4945156"/>
            <a:ext cx="129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+mj-lt"/>
              </a:rPr>
              <a:t>Source</a:t>
            </a:r>
            <a:br>
              <a:rPr lang="en-US" sz="2400" dirty="0">
                <a:solidFill>
                  <a:schemeClr val="accent6"/>
                </a:solidFill>
                <a:latin typeface="+mj-lt"/>
              </a:rPr>
            </a:br>
            <a:r>
              <a:rPr lang="en-US" sz="2400" dirty="0">
                <a:solidFill>
                  <a:schemeClr val="accent6"/>
                </a:solidFill>
                <a:latin typeface="+mj-lt"/>
              </a:rPr>
              <a:t>Node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99E18-B924-9C86-0789-09969543057B}"/>
              </a:ext>
            </a:extLst>
          </p:cNvPr>
          <p:cNvSpPr txBox="1"/>
          <p:nvPr/>
        </p:nvSpPr>
        <p:spPr>
          <a:xfrm>
            <a:off x="9893260" y="5025365"/>
            <a:ext cx="129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>
                <a:solidFill>
                  <a:schemeClr val="accent6"/>
                </a:solidFill>
                <a:latin typeface="+mj-lt"/>
              </a:rPr>
              <a:t>Dest</a:t>
            </a:r>
            <a:br>
              <a:rPr lang="en-US" sz="2400" dirty="0">
                <a:solidFill>
                  <a:schemeClr val="accent6"/>
                </a:solidFill>
                <a:latin typeface="+mj-lt"/>
              </a:rPr>
            </a:br>
            <a:r>
              <a:rPr lang="en-US" sz="2400" dirty="0">
                <a:solidFill>
                  <a:schemeClr val="accent6"/>
                </a:solidFill>
                <a:latin typeface="+mj-lt"/>
              </a:rPr>
              <a:t>Node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62DA68-6449-DC3C-1167-B68FDEEDB2D6}"/>
              </a:ext>
            </a:extLst>
          </p:cNvPr>
          <p:cNvSpPr txBox="1"/>
          <p:nvPr/>
        </p:nvSpPr>
        <p:spPr>
          <a:xfrm>
            <a:off x="5340455" y="4988845"/>
            <a:ext cx="129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+mj-lt"/>
              </a:rPr>
              <a:t>Frame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+mj-lt"/>
              </a:rPr>
              <a:t>Links</a:t>
            </a:r>
            <a:endParaRPr lang="en-US" sz="2400" dirty="0">
              <a:solidFill>
                <a:srgbClr val="0070C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9C5A43-B52D-08E3-B266-84F3974AE0F6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2630751" y="4343400"/>
            <a:ext cx="2709704" cy="1060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A3B9F5-A6DD-56D6-D66C-27838B4827C9}"/>
              </a:ext>
            </a:extLst>
          </p:cNvPr>
          <p:cNvCxnSpPr>
            <a:cxnSpLocks/>
          </p:cNvCxnSpPr>
          <p:nvPr/>
        </p:nvCxnSpPr>
        <p:spPr>
          <a:xfrm flipH="1" flipV="1">
            <a:off x="4796240" y="4339228"/>
            <a:ext cx="580982" cy="1079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B17DB9-DBA3-08A8-1D87-10CF1882C1F9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635855" y="4300704"/>
            <a:ext cx="544215" cy="1103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37BC8F0-0B00-8D81-3878-DF66F2FA5877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6635855" y="4366877"/>
            <a:ext cx="2713190" cy="1037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>
            <a:extLst>
              <a:ext uri="{FF2B5EF4-FFF2-40B4-BE49-F238E27FC236}">
                <a16:creationId xmlns:a16="http://schemas.microsoft.com/office/drawing/2014/main" id="{D308030A-5885-2917-33E4-59B4E9805DB6}"/>
              </a:ext>
            </a:extLst>
          </p:cNvPr>
          <p:cNvSpPr/>
          <p:nvPr/>
        </p:nvSpPr>
        <p:spPr>
          <a:xfrm>
            <a:off x="2063231" y="2941050"/>
            <a:ext cx="7886700" cy="576850"/>
          </a:xfrm>
          <a:custGeom>
            <a:avLst/>
            <a:gdLst>
              <a:gd name="connsiteX0" fmla="*/ 0 w 7886700"/>
              <a:gd name="connsiteY0" fmla="*/ 469914 h 469914"/>
              <a:gd name="connsiteX1" fmla="*/ 3733800 w 7886700"/>
              <a:gd name="connsiteY1" fmla="*/ 14 h 469914"/>
              <a:gd name="connsiteX2" fmla="*/ 7886700 w 7886700"/>
              <a:gd name="connsiteY2" fmla="*/ 457214 h 46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86700" h="469914">
                <a:moveTo>
                  <a:pt x="0" y="469914"/>
                </a:moveTo>
                <a:cubicBezTo>
                  <a:pt x="1209675" y="236022"/>
                  <a:pt x="2419350" y="2131"/>
                  <a:pt x="3733800" y="14"/>
                </a:cubicBezTo>
                <a:cubicBezTo>
                  <a:pt x="5048250" y="-2103"/>
                  <a:pt x="6467475" y="227555"/>
                  <a:pt x="7886700" y="457214"/>
                </a:cubicBezTo>
              </a:path>
            </a:pathLst>
          </a:custGeom>
          <a:noFill/>
          <a:ln w="50800">
            <a:solidFill>
              <a:srgbClr val="7030A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CB7AC7-E789-B398-5F81-D01FCEA11FAB}"/>
              </a:ext>
            </a:extLst>
          </p:cNvPr>
          <p:cNvSpPr txBox="1"/>
          <p:nvPr/>
        </p:nvSpPr>
        <p:spPr>
          <a:xfrm>
            <a:off x="4796240" y="2981780"/>
            <a:ext cx="2401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  <a:latin typeface="+mj-lt"/>
              </a:rPr>
              <a:t>Network Link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DCE5E23-41E9-5E42-E279-DB4DC6F5668D}"/>
              </a:ext>
            </a:extLst>
          </p:cNvPr>
          <p:cNvSpPr/>
          <p:nvPr/>
        </p:nvSpPr>
        <p:spPr>
          <a:xfrm>
            <a:off x="3383672" y="1131006"/>
            <a:ext cx="5515001" cy="576850"/>
          </a:xfrm>
          <a:custGeom>
            <a:avLst/>
            <a:gdLst>
              <a:gd name="connsiteX0" fmla="*/ 0 w 7886700"/>
              <a:gd name="connsiteY0" fmla="*/ 469914 h 469914"/>
              <a:gd name="connsiteX1" fmla="*/ 3733800 w 7886700"/>
              <a:gd name="connsiteY1" fmla="*/ 14 h 469914"/>
              <a:gd name="connsiteX2" fmla="*/ 7886700 w 7886700"/>
              <a:gd name="connsiteY2" fmla="*/ 457214 h 46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86700" h="469914">
                <a:moveTo>
                  <a:pt x="0" y="469914"/>
                </a:moveTo>
                <a:cubicBezTo>
                  <a:pt x="1209675" y="236022"/>
                  <a:pt x="2419350" y="2131"/>
                  <a:pt x="3733800" y="14"/>
                </a:cubicBezTo>
                <a:cubicBezTo>
                  <a:pt x="5048250" y="-2103"/>
                  <a:pt x="6467475" y="227555"/>
                  <a:pt x="7886700" y="457214"/>
                </a:cubicBezTo>
              </a:path>
            </a:pathLst>
          </a:custGeom>
          <a:noFill/>
          <a:ln w="50800">
            <a:solidFill>
              <a:srgbClr val="00B050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F26AC-552F-DD8A-DA8E-0D149762A903}"/>
              </a:ext>
            </a:extLst>
          </p:cNvPr>
          <p:cNvSpPr txBox="1"/>
          <p:nvPr/>
        </p:nvSpPr>
        <p:spPr>
          <a:xfrm>
            <a:off x="5006309" y="1312364"/>
            <a:ext cx="2401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B050"/>
                </a:solidFill>
                <a:latin typeface="+mj-lt"/>
              </a:rPr>
              <a:t>Transport Link</a:t>
            </a:r>
            <a:endParaRPr lang="en-US" sz="2400" dirty="0">
              <a:solidFill>
                <a:srgbClr val="00B050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F9B688-10F0-422A-7118-99B7FA16A6D9}"/>
              </a:ext>
            </a:extLst>
          </p:cNvPr>
          <p:cNvCxnSpPr>
            <a:cxnSpLocks/>
          </p:cNvCxnSpPr>
          <p:nvPr/>
        </p:nvCxnSpPr>
        <p:spPr>
          <a:xfrm flipV="1">
            <a:off x="1401816" y="2400073"/>
            <a:ext cx="0" cy="1050408"/>
          </a:xfrm>
          <a:prstGeom prst="line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Zoom logo in blue colors. Meetings app logotype illustration ...">
            <a:extLst>
              <a:ext uri="{FF2B5EF4-FFF2-40B4-BE49-F238E27FC236}">
                <a16:creationId xmlns:a16="http://schemas.microsoft.com/office/drawing/2014/main" id="{F959E99C-83B8-F631-7D03-2FEFAFF87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33" y="1309688"/>
            <a:ext cx="857569" cy="85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scord Round Color Icon SVG Vector &amp; PNG Free Download | UXWing">
            <a:extLst>
              <a:ext uri="{FF2B5EF4-FFF2-40B4-BE49-F238E27FC236}">
                <a16:creationId xmlns:a16="http://schemas.microsoft.com/office/drawing/2014/main" id="{2CF797D9-5507-E972-6233-AE7D1F386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540" y="1298220"/>
            <a:ext cx="862946" cy="86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I interface Vector Icons free ...">
            <a:extLst>
              <a:ext uri="{FF2B5EF4-FFF2-40B4-BE49-F238E27FC236}">
                <a16:creationId xmlns:a16="http://schemas.microsoft.com/office/drawing/2014/main" id="{6074DB89-1A8F-CA56-ADAA-4553A2087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2758" y="889734"/>
            <a:ext cx="1238077" cy="123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Web Server Icon SVG Vector &amp; PNG Free ...">
            <a:extLst>
              <a:ext uri="{FF2B5EF4-FFF2-40B4-BE49-F238E27FC236}">
                <a16:creationId xmlns:a16="http://schemas.microsoft.com/office/drawing/2014/main" id="{0709A52A-1D79-9380-FB75-E129D110B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3237" y="1188026"/>
            <a:ext cx="824570" cy="75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atabase Server Symbol Free PNG Image ...">
            <a:extLst>
              <a:ext uri="{FF2B5EF4-FFF2-40B4-BE49-F238E27FC236}">
                <a16:creationId xmlns:a16="http://schemas.microsoft.com/office/drawing/2014/main" id="{EC210BB1-C38E-8BF9-062E-490EB6F8EE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2" t="15012" r="15984" b="6939"/>
          <a:stretch>
            <a:fillRect/>
          </a:stretch>
        </p:blipFill>
        <p:spPr bwMode="auto">
          <a:xfrm>
            <a:off x="9019719" y="1161201"/>
            <a:ext cx="766576" cy="85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AD69A5F-879D-0080-9D7B-42A11DF2B696}"/>
              </a:ext>
            </a:extLst>
          </p:cNvPr>
          <p:cNvCxnSpPr>
            <a:cxnSpLocks/>
          </p:cNvCxnSpPr>
          <p:nvPr/>
        </p:nvCxnSpPr>
        <p:spPr>
          <a:xfrm flipV="1">
            <a:off x="1401816" y="2400073"/>
            <a:ext cx="819913" cy="1050408"/>
          </a:xfrm>
          <a:prstGeom prst="line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24C907D-F56C-977B-DB9F-A91DEF7764EB}"/>
              </a:ext>
            </a:extLst>
          </p:cNvPr>
          <p:cNvCxnSpPr>
            <a:cxnSpLocks/>
          </p:cNvCxnSpPr>
          <p:nvPr/>
        </p:nvCxnSpPr>
        <p:spPr>
          <a:xfrm flipH="1" flipV="1">
            <a:off x="697856" y="2400073"/>
            <a:ext cx="703959" cy="1069486"/>
          </a:xfrm>
          <a:prstGeom prst="line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4D7AAE-F5C7-9D32-8BC1-30F4D2B4EF5A}"/>
              </a:ext>
            </a:extLst>
          </p:cNvPr>
          <p:cNvCxnSpPr>
            <a:cxnSpLocks/>
          </p:cNvCxnSpPr>
          <p:nvPr/>
        </p:nvCxnSpPr>
        <p:spPr>
          <a:xfrm flipV="1">
            <a:off x="10564149" y="2179530"/>
            <a:ext cx="0" cy="1050408"/>
          </a:xfrm>
          <a:prstGeom prst="line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F62BE4D-DF0D-A714-9611-E69C0D1F68E6}"/>
              </a:ext>
            </a:extLst>
          </p:cNvPr>
          <p:cNvCxnSpPr>
            <a:cxnSpLocks/>
          </p:cNvCxnSpPr>
          <p:nvPr/>
        </p:nvCxnSpPr>
        <p:spPr>
          <a:xfrm flipV="1">
            <a:off x="10564149" y="2179530"/>
            <a:ext cx="819913" cy="1050408"/>
          </a:xfrm>
          <a:prstGeom prst="line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E5B2197-A29A-177B-32CD-AA23FD68E75C}"/>
              </a:ext>
            </a:extLst>
          </p:cNvPr>
          <p:cNvCxnSpPr>
            <a:cxnSpLocks/>
          </p:cNvCxnSpPr>
          <p:nvPr/>
        </p:nvCxnSpPr>
        <p:spPr>
          <a:xfrm flipH="1" flipV="1">
            <a:off x="9860189" y="2179530"/>
            <a:ext cx="703959" cy="1069486"/>
          </a:xfrm>
          <a:prstGeom prst="line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AE91E94-DC78-4704-E70C-F1945CD558C6}"/>
              </a:ext>
            </a:extLst>
          </p:cNvPr>
          <p:cNvSpPr txBox="1"/>
          <p:nvPr/>
        </p:nvSpPr>
        <p:spPr>
          <a:xfrm>
            <a:off x="3036633" y="2487740"/>
            <a:ext cx="6178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highlight>
                  <a:srgbClr val="FFFF00"/>
                </a:highlight>
              </a:rPr>
              <a:t>IP Addresses </a:t>
            </a:r>
            <a:r>
              <a:rPr lang="en-US" sz="20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w.x.y.z</a:t>
            </a:r>
            <a:r>
              <a:rPr lang="en-US" sz="2000" b="1" dirty="0">
                <a:solidFill>
                  <a:srgbClr val="7030A0"/>
                </a:solidFill>
              </a:rPr>
              <a:t> Guide Traffic Across Network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09576C-FF72-741A-FB3B-344B1E9C871A}"/>
              </a:ext>
            </a:extLst>
          </p:cNvPr>
          <p:cNvSpPr txBox="1"/>
          <p:nvPr/>
        </p:nvSpPr>
        <p:spPr>
          <a:xfrm>
            <a:off x="2914410" y="5819842"/>
            <a:ext cx="6589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156082"/>
                </a:solidFill>
                <a:highlight>
                  <a:srgbClr val="FFFF00"/>
                </a:highlight>
              </a:rPr>
              <a:t>MAC Addresses </a:t>
            </a:r>
            <a:r>
              <a:rPr lang="en-US" sz="2000" b="1" dirty="0" err="1">
                <a:solidFill>
                  <a:srgbClr val="15608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a:b:c:d:e:f</a:t>
            </a:r>
            <a:r>
              <a:rPr lang="en-US" sz="2000" b="1" dirty="0">
                <a:solidFill>
                  <a:srgbClr val="156082"/>
                </a:solidFill>
              </a:rPr>
              <a:t> Guide Traffic Hop-to-Hop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49A5FD-880C-3A64-CD97-CC2A666DC7A2}"/>
              </a:ext>
            </a:extLst>
          </p:cNvPr>
          <p:cNvSpPr txBox="1"/>
          <p:nvPr/>
        </p:nvSpPr>
        <p:spPr>
          <a:xfrm>
            <a:off x="4343643" y="243097"/>
            <a:ext cx="3626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AF50"/>
                </a:solidFill>
                <a:highlight>
                  <a:srgbClr val="FFFF00"/>
                </a:highlight>
              </a:rPr>
              <a:t>Port Numbers </a:t>
            </a:r>
            <a:r>
              <a:rPr lang="en-US" sz="2000" b="1" dirty="0">
                <a:solidFill>
                  <a:srgbClr val="00AF50"/>
                </a:solidFill>
              </a:rPr>
              <a:t>{0-65535} Route to Specific Application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C9F2D9-3F8C-E401-9FBC-04A23D06D77F}"/>
                  </a:ext>
                </a:extLst>
              </p14:cNvPr>
              <p14:cNvContentPartPr/>
              <p14:nvPr/>
            </p14:nvContentPartPr>
            <p14:xfrm>
              <a:off x="4404080" y="6217800"/>
              <a:ext cx="304200" cy="451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C9F2D9-3F8C-E401-9FBC-04A23D06D77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88960" y="6202320"/>
                <a:ext cx="334800" cy="4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19B8498-3582-0D3D-0B90-601D75D1FA7A}"/>
                  </a:ext>
                </a:extLst>
              </p14:cNvPr>
              <p14:cNvContentPartPr/>
              <p14:nvPr/>
            </p14:nvContentPartPr>
            <p14:xfrm>
              <a:off x="2024840" y="6123480"/>
              <a:ext cx="732600" cy="353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19B8498-3582-0D3D-0B90-601D75D1FA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09360" y="6108360"/>
                <a:ext cx="763200" cy="38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455BAA1E-A027-2B42-750F-8D6A485BDCD9}"/>
              </a:ext>
            </a:extLst>
          </p:cNvPr>
          <p:cNvGrpSpPr/>
          <p:nvPr/>
        </p:nvGrpSpPr>
        <p:grpSpPr>
          <a:xfrm>
            <a:off x="2615240" y="2169240"/>
            <a:ext cx="6303240" cy="681840"/>
            <a:chOff x="2615240" y="2169240"/>
            <a:chExt cx="6303240" cy="68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29E981E-ECC7-E87A-1821-06F8EC2701D6}"/>
                    </a:ext>
                  </a:extLst>
                </p14:cNvPr>
                <p14:cNvContentPartPr/>
                <p14:nvPr/>
              </p14:nvContentPartPr>
              <p14:xfrm>
                <a:off x="2615240" y="2324040"/>
                <a:ext cx="389160" cy="527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29E981E-ECC7-E87A-1821-06F8EC2701D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99760" y="2308920"/>
                  <a:ext cx="41976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3BDAE2-1F7A-3B7D-184C-37D32B34560E}"/>
                    </a:ext>
                  </a:extLst>
                </p14:cNvPr>
                <p14:cNvContentPartPr/>
                <p14:nvPr/>
              </p14:nvContentPartPr>
              <p14:xfrm>
                <a:off x="5535560" y="2169240"/>
                <a:ext cx="3382920" cy="250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3BDAE2-1F7A-3B7D-184C-37D32B3456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20080" y="2154120"/>
                  <a:ext cx="341352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9C0D3E-43FD-B666-05BB-8C21AB4013A3}"/>
              </a:ext>
            </a:extLst>
          </p:cNvPr>
          <p:cNvGrpSpPr/>
          <p:nvPr/>
        </p:nvGrpSpPr>
        <p:grpSpPr>
          <a:xfrm>
            <a:off x="3009800" y="5730720"/>
            <a:ext cx="856800" cy="735480"/>
            <a:chOff x="3009800" y="5730720"/>
            <a:chExt cx="856800" cy="7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B0A073E-533F-65D5-C9C5-492371DD4A36}"/>
                    </a:ext>
                  </a:extLst>
                </p14:cNvPr>
                <p14:cNvContentPartPr/>
                <p14:nvPr/>
              </p14:nvContentPartPr>
              <p14:xfrm>
                <a:off x="3009800" y="5730720"/>
                <a:ext cx="856800" cy="367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B0A073E-533F-65D5-C9C5-492371DD4A3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94680" y="5715240"/>
                  <a:ext cx="88740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C424D5C-2955-505E-F986-801AF1903190}"/>
                    </a:ext>
                  </a:extLst>
                </p14:cNvPr>
                <p14:cNvContentPartPr/>
                <p14:nvPr/>
              </p14:nvContentPartPr>
              <p14:xfrm>
                <a:off x="3380960" y="5741160"/>
                <a:ext cx="415080" cy="72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C424D5C-2955-505E-F986-801AF19031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65480" y="5725680"/>
                  <a:ext cx="445680" cy="75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441A00C-0C68-E563-510E-A9E8F898A9A4}"/>
                  </a:ext>
                </a:extLst>
              </p14:cNvPr>
              <p14:cNvContentPartPr/>
              <p14:nvPr/>
            </p14:nvContentPartPr>
            <p14:xfrm>
              <a:off x="4077560" y="2022000"/>
              <a:ext cx="227520" cy="4917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441A00C-0C68-E563-510E-A9E8F898A9A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62080" y="2006880"/>
                <a:ext cx="25812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9896012-E0E4-B479-C4BC-EE99850BC215}"/>
                  </a:ext>
                </a:extLst>
              </p14:cNvPr>
              <p14:cNvContentPartPr/>
              <p14:nvPr/>
            </p14:nvContentPartPr>
            <p14:xfrm>
              <a:off x="4019960" y="22920"/>
              <a:ext cx="4293720" cy="10220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9896012-E0E4-B479-C4BC-EE99850BC21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04840" y="7800"/>
                <a:ext cx="4324320" cy="10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9E91C836-2AB6-A27F-9FBE-AEF35F132917}"/>
              </a:ext>
            </a:extLst>
          </p:cNvPr>
          <p:cNvGrpSpPr/>
          <p:nvPr/>
        </p:nvGrpSpPr>
        <p:grpSpPr>
          <a:xfrm>
            <a:off x="9935120" y="2209200"/>
            <a:ext cx="1523880" cy="1058760"/>
            <a:chOff x="9935120" y="2209200"/>
            <a:chExt cx="1523880" cy="10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3CA31F-BB4F-5D39-E2CE-FB95046A340E}"/>
                    </a:ext>
                  </a:extLst>
                </p14:cNvPr>
                <p14:cNvContentPartPr/>
                <p14:nvPr/>
              </p14:nvContentPartPr>
              <p14:xfrm>
                <a:off x="10476560" y="3125400"/>
                <a:ext cx="226080" cy="126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3CA31F-BB4F-5D39-E2CE-FB95046A340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61440" y="3110280"/>
                  <a:ext cx="2566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6E6FAB-0A1F-663A-38CE-A25E7C873BE0}"/>
                    </a:ext>
                  </a:extLst>
                </p14:cNvPr>
                <p14:cNvContentPartPr/>
                <p14:nvPr/>
              </p14:nvContentPartPr>
              <p14:xfrm>
                <a:off x="10475120" y="2220360"/>
                <a:ext cx="983880" cy="983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66E6FAB-0A1F-663A-38CE-A25E7C873B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59640" y="2204880"/>
                  <a:ext cx="1014480" cy="10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F931089-3452-ECE1-C338-B5D69D194474}"/>
                    </a:ext>
                  </a:extLst>
                </p14:cNvPr>
                <p14:cNvContentPartPr/>
                <p14:nvPr/>
              </p14:nvContentPartPr>
              <p14:xfrm>
                <a:off x="10477640" y="2209200"/>
                <a:ext cx="313200" cy="987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F931089-3452-ECE1-C338-B5D69D19447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62520" y="2193720"/>
                  <a:ext cx="343800" cy="10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0D9EEF8-9D85-D16C-2CBA-BF2D5EC5C480}"/>
                    </a:ext>
                  </a:extLst>
                </p14:cNvPr>
                <p14:cNvContentPartPr/>
                <p14:nvPr/>
              </p14:nvContentPartPr>
              <p14:xfrm>
                <a:off x="9935120" y="2224320"/>
                <a:ext cx="520200" cy="1043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0D9EEF8-9D85-D16C-2CBA-BF2D5EC5C48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20000" y="2209200"/>
                  <a:ext cx="550800" cy="1074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405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ABD76-1B79-D15F-6A3C-8C74F792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48B2-D7B7-0733-7D7C-5C15D708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05" y="-101798"/>
            <a:ext cx="10515600" cy="1325563"/>
          </a:xfrm>
        </p:spPr>
        <p:txBody>
          <a:bodyPr/>
          <a:lstStyle/>
          <a:p>
            <a:r>
              <a:rPr lang="en-US" dirty="0"/>
              <a:t>Addresses</a:t>
            </a:r>
          </a:p>
        </p:txBody>
      </p:sp>
      <p:pic>
        <p:nvPicPr>
          <p:cNvPr id="5122" name="Picture 2" descr="WHY IS FEDEX TRACKING SHOWING PACKAGES DELIVERED IN THE FUTURE">
            <a:extLst>
              <a:ext uri="{FF2B5EF4-FFF2-40B4-BE49-F238E27FC236}">
                <a16:creationId xmlns:a16="http://schemas.microsoft.com/office/drawing/2014/main" id="{7620DC26-5115-8D0E-4436-D1B13E347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5" r="1632" b="3883"/>
          <a:stretch>
            <a:fillRect/>
          </a:stretch>
        </p:blipFill>
        <p:spPr bwMode="auto">
          <a:xfrm>
            <a:off x="5251622" y="1112553"/>
            <a:ext cx="6735073" cy="4905186"/>
          </a:xfrm>
          <a:prstGeom prst="rect">
            <a:avLst/>
          </a:prstGeom>
          <a:noFill/>
          <a:ln>
            <a:solidFill>
              <a:srgbClr val="D0D7E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rint FedEx Shipping Labels in Multiple Sizes in WooCommerce">
            <a:extLst>
              <a:ext uri="{FF2B5EF4-FFF2-40B4-BE49-F238E27FC236}">
                <a16:creationId xmlns:a16="http://schemas.microsoft.com/office/drawing/2014/main" id="{0D8CCBBE-6C5D-76C0-5921-626F7BC7E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17" r="31385"/>
          <a:stretch>
            <a:fillRect/>
          </a:stretch>
        </p:blipFill>
        <p:spPr bwMode="auto">
          <a:xfrm>
            <a:off x="173806" y="1124465"/>
            <a:ext cx="3812026" cy="5733535"/>
          </a:xfrm>
          <a:prstGeom prst="rect">
            <a:avLst/>
          </a:prstGeom>
          <a:noFill/>
          <a:ln>
            <a:solidFill>
              <a:srgbClr val="D0D7E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26EF50-3961-148F-E2D6-7F5F31FDC9E5}"/>
              </a:ext>
            </a:extLst>
          </p:cNvPr>
          <p:cNvSpPr/>
          <p:nvPr/>
        </p:nvSpPr>
        <p:spPr>
          <a:xfrm>
            <a:off x="217662" y="1149179"/>
            <a:ext cx="1977081" cy="654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5"/>
                </a:solidFill>
              </a:rPr>
              <a:t>James Doe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rgbClr val="0070C0"/>
                </a:solidFill>
              </a:rPr>
              <a:t>123 Chestnut Street</a:t>
            </a:r>
            <a:br>
              <a:rPr lang="en-US" sz="1400" dirty="0">
                <a:solidFill>
                  <a:srgbClr val="0070C0"/>
                </a:solidFill>
              </a:rPr>
            </a:br>
            <a:r>
              <a:rPr lang="en-US" sz="1400" dirty="0">
                <a:solidFill>
                  <a:srgbClr val="0070C0"/>
                </a:solidFill>
              </a:rPr>
              <a:t>Philadelphia, PA 19101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1B0A07-F380-F132-D56F-06AB38DFACF2}"/>
              </a:ext>
            </a:extLst>
          </p:cNvPr>
          <p:cNvSpPr/>
          <p:nvPr/>
        </p:nvSpPr>
        <p:spPr>
          <a:xfrm>
            <a:off x="456557" y="1875436"/>
            <a:ext cx="2669702" cy="941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b="1" dirty="0">
                <a:solidFill>
                  <a:schemeClr val="accent5"/>
                </a:solidFill>
              </a:rPr>
              <a:t>John Doe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123 Front Street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Wilmington, DE 19801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B7A7DD-64D9-BBB4-B674-4668527352B6}"/>
              </a:ext>
            </a:extLst>
          </p:cNvPr>
          <p:cNvSpPr txBox="1"/>
          <p:nvPr/>
        </p:nvSpPr>
        <p:spPr>
          <a:xfrm>
            <a:off x="4497859" y="191651"/>
            <a:ext cx="568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Source &amp; Destination Port:  Who Sent/Received (app)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FEA593-E15A-72D7-479A-B4466366FA77}"/>
              </a:ext>
            </a:extLst>
          </p:cNvPr>
          <p:cNvSpPr txBox="1"/>
          <p:nvPr/>
        </p:nvSpPr>
        <p:spPr>
          <a:xfrm>
            <a:off x="4479930" y="485100"/>
            <a:ext cx="648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Source &amp; Destination IP:  Used to Guide the delivery (routing)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FA8FC508-8576-0223-88F5-6B61F590F580}"/>
              </a:ext>
            </a:extLst>
          </p:cNvPr>
          <p:cNvSpPr/>
          <p:nvPr/>
        </p:nvSpPr>
        <p:spPr>
          <a:xfrm>
            <a:off x="7587542" y="3355303"/>
            <a:ext cx="271872" cy="617838"/>
          </a:xfrm>
          <a:custGeom>
            <a:avLst/>
            <a:gdLst>
              <a:gd name="csX0" fmla="*/ 271872 w 271872"/>
              <a:gd name="csY0" fmla="*/ 0 h 617838"/>
              <a:gd name="csX1" fmla="*/ 23 w 271872"/>
              <a:gd name="csY1" fmla="*/ 308919 h 617838"/>
              <a:gd name="csX2" fmla="*/ 259515 w 271872"/>
              <a:gd name="csY2" fmla="*/ 617838 h 617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872" h="617838">
                <a:moveTo>
                  <a:pt x="271872" y="0"/>
                </a:moveTo>
                <a:cubicBezTo>
                  <a:pt x="136977" y="102973"/>
                  <a:pt x="2082" y="205946"/>
                  <a:pt x="23" y="308919"/>
                </a:cubicBezTo>
                <a:cubicBezTo>
                  <a:pt x="-2036" y="411892"/>
                  <a:pt x="128739" y="514865"/>
                  <a:pt x="259515" y="617838"/>
                </a:cubicBezTo>
              </a:path>
            </a:pathLst>
          </a:custGeom>
          <a:noFill/>
          <a:ln w="38100"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54AF8CF2-657B-15D9-64E7-5F9BA4787E22}"/>
              </a:ext>
            </a:extLst>
          </p:cNvPr>
          <p:cNvSpPr/>
          <p:nvPr/>
        </p:nvSpPr>
        <p:spPr>
          <a:xfrm>
            <a:off x="7587542" y="5598055"/>
            <a:ext cx="271872" cy="294300"/>
          </a:xfrm>
          <a:custGeom>
            <a:avLst/>
            <a:gdLst>
              <a:gd name="csX0" fmla="*/ 271872 w 271872"/>
              <a:gd name="csY0" fmla="*/ 0 h 617838"/>
              <a:gd name="csX1" fmla="*/ 23 w 271872"/>
              <a:gd name="csY1" fmla="*/ 308919 h 617838"/>
              <a:gd name="csX2" fmla="*/ 259515 w 271872"/>
              <a:gd name="csY2" fmla="*/ 617838 h 617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872" h="617838">
                <a:moveTo>
                  <a:pt x="271872" y="0"/>
                </a:moveTo>
                <a:cubicBezTo>
                  <a:pt x="136977" y="102973"/>
                  <a:pt x="2082" y="205946"/>
                  <a:pt x="23" y="308919"/>
                </a:cubicBezTo>
                <a:cubicBezTo>
                  <a:pt x="-2036" y="411892"/>
                  <a:pt x="128739" y="514865"/>
                  <a:pt x="259515" y="617838"/>
                </a:cubicBezTo>
              </a:path>
            </a:pathLst>
          </a:custGeom>
          <a:noFill/>
          <a:ln w="38100"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45F7ECBF-6BE9-95FE-395E-B2D4DA2ABE08}"/>
              </a:ext>
            </a:extLst>
          </p:cNvPr>
          <p:cNvSpPr/>
          <p:nvPr/>
        </p:nvSpPr>
        <p:spPr>
          <a:xfrm>
            <a:off x="7525230" y="4223197"/>
            <a:ext cx="271872" cy="620203"/>
          </a:xfrm>
          <a:custGeom>
            <a:avLst/>
            <a:gdLst>
              <a:gd name="csX0" fmla="*/ 271872 w 271872"/>
              <a:gd name="csY0" fmla="*/ 0 h 617838"/>
              <a:gd name="csX1" fmla="*/ 23 w 271872"/>
              <a:gd name="csY1" fmla="*/ 308919 h 617838"/>
              <a:gd name="csX2" fmla="*/ 259515 w 271872"/>
              <a:gd name="csY2" fmla="*/ 617838 h 617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1872" h="617838">
                <a:moveTo>
                  <a:pt x="271872" y="0"/>
                </a:moveTo>
                <a:cubicBezTo>
                  <a:pt x="136977" y="102973"/>
                  <a:pt x="2082" y="205946"/>
                  <a:pt x="23" y="308919"/>
                </a:cubicBezTo>
                <a:cubicBezTo>
                  <a:pt x="-2036" y="411892"/>
                  <a:pt x="128739" y="514865"/>
                  <a:pt x="259515" y="617838"/>
                </a:cubicBezTo>
              </a:path>
            </a:pathLst>
          </a:custGeom>
          <a:noFill/>
          <a:ln w="38100"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F88A893-739C-2C3A-6797-A95F06DD5759}"/>
              </a:ext>
            </a:extLst>
          </p:cNvPr>
          <p:cNvCxnSpPr>
            <a:stCxn id="28" idx="1"/>
          </p:cNvCxnSpPr>
          <p:nvPr/>
        </p:nvCxnSpPr>
        <p:spPr>
          <a:xfrm flipH="1">
            <a:off x="1260389" y="376317"/>
            <a:ext cx="3237470" cy="84744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E1CBAF5-D632-BC19-8363-6B7C703D59FF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1643449" y="376317"/>
            <a:ext cx="2854410" cy="177375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B8A9683-1AD1-1B4F-55B1-C7582445B6BA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2014151" y="669766"/>
            <a:ext cx="2465779" cy="8474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F9D0248-9730-CFDB-1C75-5998B233ACDF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2298357" y="669766"/>
            <a:ext cx="2181573" cy="1664976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FC2AB74-49B4-CE8C-EFFC-A34213306D9B}"/>
              </a:ext>
            </a:extLst>
          </p:cNvPr>
          <p:cNvSpPr txBox="1"/>
          <p:nvPr/>
        </p:nvSpPr>
        <p:spPr>
          <a:xfrm>
            <a:off x="5344649" y="6297017"/>
            <a:ext cx="5723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Source &amp; Destination MAC:  Used to Guide hop to hop</a:t>
            </a:r>
          </a:p>
        </p:txBody>
      </p: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4205DB29-E324-0A61-E8BB-1B6584A656E8}"/>
              </a:ext>
            </a:extLst>
          </p:cNvPr>
          <p:cNvCxnSpPr>
            <a:cxnSpLocks/>
          </p:cNvCxnSpPr>
          <p:nvPr/>
        </p:nvCxnSpPr>
        <p:spPr>
          <a:xfrm flipV="1">
            <a:off x="6096000" y="3756454"/>
            <a:ext cx="1429230" cy="25194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722E680D-323E-2564-581C-0EAE7EC4540C}"/>
              </a:ext>
            </a:extLst>
          </p:cNvPr>
          <p:cNvCxnSpPr>
            <a:cxnSpLocks/>
          </p:cNvCxnSpPr>
          <p:nvPr/>
        </p:nvCxnSpPr>
        <p:spPr>
          <a:xfrm flipV="1">
            <a:off x="6096000" y="4679375"/>
            <a:ext cx="1355606" cy="1617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557B9BC4-2ECE-684A-106C-2188CD3C0950}"/>
              </a:ext>
            </a:extLst>
          </p:cNvPr>
          <p:cNvCxnSpPr>
            <a:cxnSpLocks/>
          </p:cNvCxnSpPr>
          <p:nvPr/>
        </p:nvCxnSpPr>
        <p:spPr>
          <a:xfrm flipV="1">
            <a:off x="6096000" y="5768089"/>
            <a:ext cx="1293294" cy="5077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1" name="TextBox 1040">
            <a:extLst>
              <a:ext uri="{FF2B5EF4-FFF2-40B4-BE49-F238E27FC236}">
                <a16:creationId xmlns:a16="http://schemas.microsoft.com/office/drawing/2014/main" id="{E7D0229C-A9E0-6C3B-1738-1A3D5B3EAE96}"/>
              </a:ext>
            </a:extLst>
          </p:cNvPr>
          <p:cNvSpPr txBox="1"/>
          <p:nvPr/>
        </p:nvSpPr>
        <p:spPr>
          <a:xfrm>
            <a:off x="10470292" y="2849595"/>
            <a:ext cx="1721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FedEx Center City Location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D05A6775-5AA1-FECB-03E9-BB5C787EEC3E}"/>
              </a:ext>
            </a:extLst>
          </p:cNvPr>
          <p:cNvSpPr txBox="1"/>
          <p:nvPr/>
        </p:nvSpPr>
        <p:spPr>
          <a:xfrm>
            <a:off x="10305535" y="3754047"/>
            <a:ext cx="1886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FedEx 30</a:t>
            </a:r>
            <a:r>
              <a:rPr lang="en-US" b="1" baseline="30000" dirty="0"/>
              <a:t>th</a:t>
            </a:r>
            <a:br>
              <a:rPr lang="en-US" b="1" dirty="0"/>
            </a:br>
            <a:r>
              <a:rPr lang="en-US" b="1" dirty="0"/>
              <a:t>Street Location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C57DC354-63EA-8807-07D9-B7CE70BD029E}"/>
              </a:ext>
            </a:extLst>
          </p:cNvPr>
          <p:cNvSpPr txBox="1"/>
          <p:nvPr/>
        </p:nvSpPr>
        <p:spPr>
          <a:xfrm>
            <a:off x="10470292" y="4609071"/>
            <a:ext cx="1721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FedEx Northern DE Hub Location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00EC9F34-BC47-41BD-352E-12505C8EF9C8}"/>
              </a:ext>
            </a:extLst>
          </p:cNvPr>
          <p:cNvSpPr txBox="1"/>
          <p:nvPr/>
        </p:nvSpPr>
        <p:spPr>
          <a:xfrm>
            <a:off x="10489233" y="5629529"/>
            <a:ext cx="1721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John Doe’s Location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F94176-414F-4347-D9DA-31008E988C09}"/>
                  </a:ext>
                </a:extLst>
              </p14:cNvPr>
              <p14:cNvContentPartPr/>
              <p14:nvPr/>
            </p14:nvContentPartPr>
            <p14:xfrm>
              <a:off x="7238720" y="3134400"/>
              <a:ext cx="416160" cy="954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F94176-414F-4347-D9DA-31008E988C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23600" y="3118920"/>
                <a:ext cx="446760" cy="9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65408D-DDA1-CC97-2452-6D866AB8C380}"/>
                  </a:ext>
                </a:extLst>
              </p14:cNvPr>
              <p14:cNvContentPartPr/>
              <p14:nvPr/>
            </p14:nvContentPartPr>
            <p14:xfrm>
              <a:off x="344720" y="2180760"/>
              <a:ext cx="171720" cy="54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65408D-DDA1-CC97-2452-6D866AB8C3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9600" y="2165280"/>
                <a:ext cx="202320" cy="57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B808F3B-561B-EF20-4769-576C49D4DA40}"/>
                  </a:ext>
                </a:extLst>
              </p14:cNvPr>
              <p14:cNvContentPartPr/>
              <p14:nvPr/>
            </p14:nvContentPartPr>
            <p14:xfrm>
              <a:off x="-13120" y="2211360"/>
              <a:ext cx="312840" cy="392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B808F3B-561B-EF20-4769-576C49D4DA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28240" y="2195880"/>
                <a:ext cx="343440" cy="42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B361B91-D17F-CE60-FCCF-2188D0CE1804}"/>
              </a:ext>
            </a:extLst>
          </p:cNvPr>
          <p:cNvGrpSpPr/>
          <p:nvPr/>
        </p:nvGrpSpPr>
        <p:grpSpPr>
          <a:xfrm>
            <a:off x="2846360" y="2030640"/>
            <a:ext cx="925920" cy="1015560"/>
            <a:chOff x="2846360" y="2030640"/>
            <a:chExt cx="925920" cy="101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162300B-EE74-C0E6-25CF-19BA9033AB2D}"/>
                    </a:ext>
                  </a:extLst>
                </p14:cNvPr>
                <p14:cNvContentPartPr/>
                <p14:nvPr/>
              </p14:nvContentPartPr>
              <p14:xfrm>
                <a:off x="2979560" y="2179320"/>
                <a:ext cx="249840" cy="489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162300B-EE74-C0E6-25CF-19BA9033AB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64440" y="2164200"/>
                  <a:ext cx="28044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850212-B1B2-1AAB-24EE-81EF6D41F026}"/>
                    </a:ext>
                  </a:extLst>
                </p14:cNvPr>
                <p14:cNvContentPartPr/>
                <p14:nvPr/>
              </p14:nvContentPartPr>
              <p14:xfrm>
                <a:off x="3271520" y="2030640"/>
                <a:ext cx="201960" cy="318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850212-B1B2-1AAB-24EE-81EF6D41F0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56400" y="2015520"/>
                  <a:ext cx="2322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B3C4FE-9D0E-1648-3B0D-E745D7F3B2FD}"/>
                    </a:ext>
                  </a:extLst>
                </p14:cNvPr>
                <p14:cNvContentPartPr/>
                <p14:nvPr/>
              </p14:nvContentPartPr>
              <p14:xfrm>
                <a:off x="3454760" y="2210280"/>
                <a:ext cx="86040" cy="109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B3C4FE-9D0E-1648-3B0D-E745D7F3B2F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39280" y="2195160"/>
                  <a:ext cx="116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29C321-7DDE-393E-56E8-6C9BF7E3CA2D}"/>
                    </a:ext>
                  </a:extLst>
                </p14:cNvPr>
                <p14:cNvContentPartPr/>
                <p14:nvPr/>
              </p14:nvContentPartPr>
              <p14:xfrm>
                <a:off x="3546920" y="2233320"/>
                <a:ext cx="96480" cy="135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29C321-7DDE-393E-56E8-6C9BF7E3CA2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31800" y="2217840"/>
                  <a:ext cx="127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EDB6B69-19A2-9D42-2BB2-771E57D8B4DD}"/>
                    </a:ext>
                  </a:extLst>
                </p14:cNvPr>
                <p14:cNvContentPartPr/>
                <p14:nvPr/>
              </p14:nvContentPartPr>
              <p14:xfrm>
                <a:off x="3668240" y="2116320"/>
                <a:ext cx="22680" cy="180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EDB6B69-19A2-9D42-2BB2-771E57D8B4D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53120" y="2100840"/>
                  <a:ext cx="532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C9E78AE-0F49-E9CD-A5CA-C100C68A71B0}"/>
                    </a:ext>
                  </a:extLst>
                </p14:cNvPr>
                <p14:cNvContentPartPr/>
                <p14:nvPr/>
              </p14:nvContentPartPr>
              <p14:xfrm>
                <a:off x="3624320" y="2155920"/>
                <a:ext cx="129240" cy="28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C9E78AE-0F49-E9CD-A5CA-C100C68A71B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09200" y="2140800"/>
                  <a:ext cx="159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97E097E-C4BE-2857-2A61-D3BAC57D9C21}"/>
                    </a:ext>
                  </a:extLst>
                </p14:cNvPr>
                <p14:cNvContentPartPr/>
                <p14:nvPr/>
              </p14:nvContentPartPr>
              <p14:xfrm>
                <a:off x="3193040" y="2464080"/>
                <a:ext cx="147960" cy="158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97E097E-C4BE-2857-2A61-D3BAC57D9C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77920" y="2448600"/>
                  <a:ext cx="178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6AD0F7A-A468-605A-A1A1-A22F49672BA6}"/>
                    </a:ext>
                  </a:extLst>
                </p14:cNvPr>
                <p14:cNvContentPartPr/>
                <p14:nvPr/>
              </p14:nvContentPartPr>
              <p14:xfrm>
                <a:off x="3276200" y="2410440"/>
                <a:ext cx="138240" cy="236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6AD0F7A-A468-605A-A1A1-A22F49672BA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61080" y="2394960"/>
                  <a:ext cx="1688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A430F2F-CE96-0AD7-736F-589792C73298}"/>
                    </a:ext>
                  </a:extLst>
                </p14:cNvPr>
                <p14:cNvContentPartPr/>
                <p14:nvPr/>
              </p14:nvContentPartPr>
              <p14:xfrm>
                <a:off x="3363320" y="2469120"/>
                <a:ext cx="177120" cy="225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A430F2F-CE96-0AD7-736F-589792C7329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47840" y="2453640"/>
                  <a:ext cx="2073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B87B795-A9B1-F148-10E7-5A51FF05EDCD}"/>
                    </a:ext>
                  </a:extLst>
                </p14:cNvPr>
                <p14:cNvContentPartPr/>
                <p14:nvPr/>
              </p14:nvContentPartPr>
              <p14:xfrm>
                <a:off x="3551960" y="2496120"/>
                <a:ext cx="220320" cy="20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B87B795-A9B1-F148-10E7-5A51FF05EDC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36840" y="2481000"/>
                  <a:ext cx="2509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FE0D96-BF5D-B479-CD68-3FF08294A3D2}"/>
                    </a:ext>
                  </a:extLst>
                </p14:cNvPr>
                <p14:cNvContentPartPr/>
                <p14:nvPr/>
              </p14:nvContentPartPr>
              <p14:xfrm>
                <a:off x="2846360" y="2739480"/>
                <a:ext cx="511200" cy="189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FE0D96-BF5D-B479-CD68-3FF08294A3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31240" y="2724000"/>
                  <a:ext cx="541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500E7D3-AE67-4656-507C-79BA057EEE40}"/>
                    </a:ext>
                  </a:extLst>
                </p14:cNvPr>
                <p14:cNvContentPartPr/>
                <p14:nvPr/>
              </p14:nvContentPartPr>
              <p14:xfrm>
                <a:off x="3274760" y="2888160"/>
                <a:ext cx="123840" cy="88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500E7D3-AE67-4656-507C-79BA057EEE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59280" y="2873040"/>
                  <a:ext cx="154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4F52688-9D4D-7053-C966-7C1373E2A41B}"/>
                    </a:ext>
                  </a:extLst>
                </p14:cNvPr>
                <p14:cNvContentPartPr/>
                <p14:nvPr/>
              </p14:nvContentPartPr>
              <p14:xfrm>
                <a:off x="3522440" y="2851440"/>
                <a:ext cx="26280" cy="19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4F52688-9D4D-7053-C966-7C1373E2A41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06960" y="2836320"/>
                  <a:ext cx="568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DE4550F-B68E-C26F-1CB4-37E972A2B0EE}"/>
                    </a:ext>
                  </a:extLst>
                </p14:cNvPr>
                <p14:cNvContentPartPr/>
                <p14:nvPr/>
              </p14:nvContentPartPr>
              <p14:xfrm>
                <a:off x="3566360" y="2883120"/>
                <a:ext cx="99360" cy="142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DE4550F-B68E-C26F-1CB4-37E972A2B0E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50880" y="2868000"/>
                  <a:ext cx="129960" cy="17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CB2BEDD-03D0-B287-77C7-AC3904F1B130}"/>
                  </a:ext>
                </a:extLst>
              </p14:cNvPr>
              <p14:cNvContentPartPr/>
              <p14:nvPr/>
            </p14:nvContentPartPr>
            <p14:xfrm>
              <a:off x="392960" y="1850280"/>
              <a:ext cx="1224360" cy="379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CB2BEDD-03D0-B287-77C7-AC3904F1B13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77840" y="1835160"/>
                <a:ext cx="1254960" cy="40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6675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82D5F-A9C0-D883-47C6-BA6843F6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F694-4E3F-0D7F-BCF8-452E8744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05" y="-27076"/>
            <a:ext cx="10515600" cy="1325563"/>
          </a:xfrm>
        </p:spPr>
        <p:txBody>
          <a:bodyPr/>
          <a:lstStyle/>
          <a:p>
            <a:r>
              <a:rPr lang="en-US" dirty="0"/>
              <a:t>Networking Layers: What VPCS’s Operate On</a:t>
            </a:r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E4688912-9F7D-ACDB-396B-ABF23D4DFF68}"/>
              </a:ext>
            </a:extLst>
          </p:cNvPr>
          <p:cNvSpPr/>
          <p:nvPr/>
        </p:nvSpPr>
        <p:spPr>
          <a:xfrm>
            <a:off x="172349" y="1957841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Model</a:t>
            </a:r>
            <a:endParaRPr lang="en-US" sz="2000" dirty="0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93DE4184-7086-6D34-189D-617AF77ECA21}"/>
              </a:ext>
            </a:extLst>
          </p:cNvPr>
          <p:cNvSpPr/>
          <p:nvPr/>
        </p:nvSpPr>
        <p:spPr>
          <a:xfrm>
            <a:off x="172349" y="2259593"/>
            <a:ext cx="2926080" cy="749808"/>
          </a:xfrm>
          <a:prstGeom prst="rect">
            <a:avLst/>
          </a:prstGeom>
          <a:solidFill>
            <a:srgbClr val="BFDBF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A18660CA-BD50-9577-B8C9-34A7C9568849}"/>
              </a:ext>
            </a:extLst>
          </p:cNvPr>
          <p:cNvSpPr/>
          <p:nvPr/>
        </p:nvSpPr>
        <p:spPr>
          <a:xfrm>
            <a:off x="172349" y="2259593"/>
            <a:ext cx="2926080" cy="4348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(L7)</a:t>
            </a:r>
            <a:endParaRPr lang="en-US" sz="20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93247613-B665-5185-B2C8-D0E2ECD4CB33}"/>
              </a:ext>
            </a:extLst>
          </p:cNvPr>
          <p:cNvSpPr/>
          <p:nvPr/>
        </p:nvSpPr>
        <p:spPr>
          <a:xfrm>
            <a:off x="172349" y="2671987"/>
            <a:ext cx="2926080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DNS, TLS, gRPC</a:t>
            </a:r>
            <a:endParaRPr lang="en-US" sz="16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84315183-4391-D565-7688-752807E4517A}"/>
              </a:ext>
            </a:extLst>
          </p:cNvPr>
          <p:cNvSpPr/>
          <p:nvPr/>
        </p:nvSpPr>
        <p:spPr>
          <a:xfrm>
            <a:off x="172349" y="3064265"/>
            <a:ext cx="2926080" cy="749808"/>
          </a:xfrm>
          <a:prstGeom prst="rect">
            <a:avLst/>
          </a:prstGeom>
          <a:solidFill>
            <a:srgbClr val="0070C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9046A039-C1D3-A909-F108-59072CAFD4EF}"/>
              </a:ext>
            </a:extLst>
          </p:cNvPr>
          <p:cNvSpPr/>
          <p:nvPr/>
        </p:nvSpPr>
        <p:spPr>
          <a:xfrm>
            <a:off x="172349" y="3064265"/>
            <a:ext cx="2926080" cy="4348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(L4)</a:t>
            </a:r>
            <a:endParaRPr lang="en-US" sz="20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3CD35142-9FDC-F823-549F-418F5FD8DA13}"/>
              </a:ext>
            </a:extLst>
          </p:cNvPr>
          <p:cNvSpPr/>
          <p:nvPr/>
        </p:nvSpPr>
        <p:spPr>
          <a:xfrm>
            <a:off x="172349" y="3476659"/>
            <a:ext cx="2926080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/ UDP — Ports</a:t>
            </a:r>
            <a:endParaRPr lang="en-US" sz="16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10CEAD80-A188-D7E5-1913-408FE61A4273}"/>
              </a:ext>
            </a:extLst>
          </p:cNvPr>
          <p:cNvSpPr/>
          <p:nvPr/>
        </p:nvSpPr>
        <p:spPr>
          <a:xfrm>
            <a:off x="172349" y="3868937"/>
            <a:ext cx="2926080" cy="749808"/>
          </a:xfrm>
          <a:prstGeom prst="rect">
            <a:avLst/>
          </a:prstGeom>
          <a:solidFill>
            <a:srgbClr val="7030A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2FE8054B-2000-9E23-05B4-DC43790B75E1}"/>
              </a:ext>
            </a:extLst>
          </p:cNvPr>
          <p:cNvSpPr/>
          <p:nvPr/>
        </p:nvSpPr>
        <p:spPr>
          <a:xfrm>
            <a:off x="172349" y="3868937"/>
            <a:ext cx="2926080" cy="4348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(L3)</a:t>
            </a:r>
            <a:endParaRPr lang="en-US" sz="20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CE1AFA7E-8514-18B5-5855-41F6077A64A4}"/>
              </a:ext>
            </a:extLst>
          </p:cNvPr>
          <p:cNvSpPr/>
          <p:nvPr/>
        </p:nvSpPr>
        <p:spPr>
          <a:xfrm>
            <a:off x="172349" y="4281331"/>
            <a:ext cx="2926080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Addresses, Routing</a:t>
            </a:r>
            <a:endParaRPr lang="en-US" sz="1600" dirty="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6F644DBC-AC2C-E832-C3AF-BA13C831DD8A}"/>
              </a:ext>
            </a:extLst>
          </p:cNvPr>
          <p:cNvSpPr/>
          <p:nvPr/>
        </p:nvSpPr>
        <p:spPr>
          <a:xfrm>
            <a:off x="172349" y="4673609"/>
            <a:ext cx="2926080" cy="749808"/>
          </a:xfrm>
          <a:prstGeom prst="rect">
            <a:avLst/>
          </a:prstGeom>
          <a:solidFill>
            <a:srgbClr val="BFDBFE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FA0EE318-5845-D5EF-3C24-AA32B6CBAE1D}"/>
              </a:ext>
            </a:extLst>
          </p:cNvPr>
          <p:cNvSpPr/>
          <p:nvPr/>
        </p:nvSpPr>
        <p:spPr>
          <a:xfrm>
            <a:off x="172349" y="4673609"/>
            <a:ext cx="2926080" cy="43488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20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971094FC-F7E4-CACE-87C4-72C73B2DEB8B}"/>
              </a:ext>
            </a:extLst>
          </p:cNvPr>
          <p:cNvSpPr/>
          <p:nvPr/>
        </p:nvSpPr>
        <p:spPr>
          <a:xfrm>
            <a:off x="172349" y="5086003"/>
            <a:ext cx="2926080" cy="337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Ethernet, Wi-Fi, Fiber</a:t>
            </a:r>
            <a:endParaRPr lang="en-US" sz="1600" dirty="0"/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EF8675E9-D627-65FC-5378-57AA238A778D}"/>
              </a:ext>
            </a:extLst>
          </p:cNvPr>
          <p:cNvSpPr/>
          <p:nvPr/>
        </p:nvSpPr>
        <p:spPr>
          <a:xfrm>
            <a:off x="3144149" y="3064265"/>
            <a:ext cx="109728" cy="15544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297E3785-1A0E-BD26-7B25-33A6A28C84F7}"/>
              </a:ext>
            </a:extLst>
          </p:cNvPr>
          <p:cNvSpPr/>
          <p:nvPr/>
        </p:nvSpPr>
        <p:spPr>
          <a:xfrm>
            <a:off x="0" y="5487424"/>
            <a:ext cx="3299254" cy="394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VPC rules operate on L3 + L4</a:t>
            </a:r>
            <a:endParaRPr lang="en-US" dirty="0"/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471E537F-96F6-BFDD-1ED7-781DF7D6ADEA}"/>
              </a:ext>
            </a:extLst>
          </p:cNvPr>
          <p:cNvSpPr/>
          <p:nvPr/>
        </p:nvSpPr>
        <p:spPr>
          <a:xfrm>
            <a:off x="3584689" y="4118917"/>
            <a:ext cx="4892040" cy="1170432"/>
          </a:xfrm>
          <a:prstGeom prst="rect">
            <a:avLst/>
          </a:prstGeom>
          <a:solidFill>
            <a:srgbClr val="F4EEFF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39176915-466D-542E-BB9F-2EE307A8FDCC}"/>
              </a:ext>
            </a:extLst>
          </p:cNvPr>
          <p:cNvSpPr/>
          <p:nvPr/>
        </p:nvSpPr>
        <p:spPr>
          <a:xfrm>
            <a:off x="3721849" y="4192069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Notation = Layer 3</a:t>
            </a:r>
            <a:endParaRPr lang="en-US" sz="2000" dirty="0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A430AD15-1D3C-8F62-F83C-F2D297218CD0}"/>
              </a:ext>
            </a:extLst>
          </p:cNvPr>
          <p:cNvSpPr/>
          <p:nvPr/>
        </p:nvSpPr>
        <p:spPr>
          <a:xfrm>
            <a:off x="3721849" y="4448101"/>
            <a:ext cx="4617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ranges (e.g., 10.0.1.0/24) are how you define subnets and route tables — all L3 constructs.</a:t>
            </a:r>
            <a:endParaRPr lang="en-US" sz="1600" dirty="0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D2A63D02-596B-AEB1-0F25-B826464FCEB6}"/>
              </a:ext>
            </a:extLst>
          </p:cNvPr>
          <p:cNvSpPr/>
          <p:nvPr/>
        </p:nvSpPr>
        <p:spPr>
          <a:xfrm>
            <a:off x="3584689" y="2833653"/>
            <a:ext cx="4892040" cy="1170432"/>
          </a:xfrm>
          <a:prstGeom prst="rect">
            <a:avLst/>
          </a:prstGeom>
          <a:solidFill>
            <a:srgbClr val="EBF3FB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67E2AE7A-FA04-BC48-B2FB-770C202DF281}"/>
              </a:ext>
            </a:extLst>
          </p:cNvPr>
          <p:cNvSpPr/>
          <p:nvPr/>
        </p:nvSpPr>
        <p:spPr>
          <a:xfrm>
            <a:off x="3721849" y="2906805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Filter on L3 + L4</a:t>
            </a:r>
            <a:endParaRPr lang="en-US" sz="2000" dirty="0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14E4729B-184F-7E34-2782-5FB513AF553E}"/>
              </a:ext>
            </a:extLst>
          </p:cNvPr>
          <p:cNvSpPr/>
          <p:nvPr/>
        </p:nvSpPr>
        <p:spPr>
          <a:xfrm>
            <a:off x="3721849" y="3162837"/>
            <a:ext cx="4617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specify source IP (CIDR) and destination port/protocol. You must understand both to write correct rules.</a:t>
            </a:r>
            <a:endParaRPr lang="en-US" sz="1600" dirty="0"/>
          </a:p>
        </p:txBody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5E06845C-72ED-9878-9597-7A6F638E657E}"/>
              </a:ext>
            </a:extLst>
          </p:cNvPr>
          <p:cNvSpPr/>
          <p:nvPr/>
        </p:nvSpPr>
        <p:spPr>
          <a:xfrm>
            <a:off x="3584689" y="1559960"/>
            <a:ext cx="4892040" cy="1170432"/>
          </a:xfrm>
          <a:prstGeom prst="rect">
            <a:avLst/>
          </a:prstGeom>
          <a:solidFill>
            <a:srgbClr val="E8F4F8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2F078E75-581B-6133-800A-F4C120CFA6C4}"/>
              </a:ext>
            </a:extLst>
          </p:cNvPr>
          <p:cNvSpPr/>
          <p:nvPr/>
        </p:nvSpPr>
        <p:spPr>
          <a:xfrm>
            <a:off x="3721849" y="1633112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= Layer 4</a:t>
            </a:r>
            <a:endParaRPr lang="en-US" sz="2000" dirty="0"/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B3035838-7A6B-BDF8-C9E5-00AE4A75C9D1}"/>
              </a:ext>
            </a:extLst>
          </p:cNvPr>
          <p:cNvSpPr/>
          <p:nvPr/>
        </p:nvSpPr>
        <p:spPr>
          <a:xfrm>
            <a:off x="3721849" y="1889144"/>
            <a:ext cx="4617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22 (SSH), 443 (HTTPS), 5432 (Postgres). NACLs and Security Groups both reference port ranges — this is TCP/UDP territory.</a:t>
            </a:r>
            <a:endParaRPr lang="en-US" sz="1600" dirty="0"/>
          </a:p>
        </p:txBody>
      </p:sp>
      <p:sp>
        <p:nvSpPr>
          <p:cNvPr id="61" name="Shape 20">
            <a:extLst>
              <a:ext uri="{FF2B5EF4-FFF2-40B4-BE49-F238E27FC236}">
                <a16:creationId xmlns:a16="http://schemas.microsoft.com/office/drawing/2014/main" id="{3D7C9A99-9141-093B-DADD-F8EE382EF810}"/>
              </a:ext>
            </a:extLst>
          </p:cNvPr>
          <p:cNvSpPr/>
          <p:nvPr/>
        </p:nvSpPr>
        <p:spPr>
          <a:xfrm>
            <a:off x="3584689" y="5404180"/>
            <a:ext cx="4892040" cy="1200329"/>
          </a:xfrm>
          <a:prstGeom prst="rect">
            <a:avLst/>
          </a:prstGeom>
          <a:solidFill>
            <a:schemeClr val="tx1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FECD5C3E-39A5-C454-3D89-1EAB7908D410}"/>
              </a:ext>
            </a:extLst>
          </p:cNvPr>
          <p:cNvSpPr/>
          <p:nvPr/>
        </p:nvSpPr>
        <p:spPr>
          <a:xfrm>
            <a:off x="3721849" y="5477333"/>
            <a:ext cx="4617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(L2)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527928AF-1819-BD7D-DF0D-5E2339D24095}"/>
              </a:ext>
            </a:extLst>
          </p:cNvPr>
          <p:cNvSpPr/>
          <p:nvPr/>
        </p:nvSpPr>
        <p:spPr>
          <a:xfrm>
            <a:off x="3721849" y="5733365"/>
            <a:ext cx="4617720" cy="581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Handles, you get virtualized and software defined network interface cards (ENI)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C54994E3-1476-9326-5CF2-16C253C6DDE4}"/>
              </a:ext>
            </a:extLst>
          </p:cNvPr>
          <p:cNvSpPr txBox="1"/>
          <p:nvPr/>
        </p:nvSpPr>
        <p:spPr>
          <a:xfrm>
            <a:off x="8613889" y="2774405"/>
            <a:ext cx="3599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Applications are allowed to  send and receive data relative to their how they are deployed on the VPC (aka which subnets) ? 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1A937AA0-3B3F-9E6C-ACB8-AFC074075754}"/>
              </a:ext>
            </a:extLst>
          </p:cNvPr>
          <p:cNvSpPr txBox="1"/>
          <p:nvPr/>
        </p:nvSpPr>
        <p:spPr>
          <a:xfrm>
            <a:off x="8613889" y="1662272"/>
            <a:ext cx="3599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applications require network services?  They identify themselves by port number.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11AEE2B9-73C3-B671-5FEC-4DDF45E94E14}"/>
              </a:ext>
            </a:extLst>
          </p:cNvPr>
          <p:cNvSpPr txBox="1"/>
          <p:nvPr/>
        </p:nvSpPr>
        <p:spPr>
          <a:xfrm>
            <a:off x="8613889" y="4245125"/>
            <a:ext cx="3599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is the topology of the VPC designed, and how is traffic controlled within that topology? 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1D8AC0D8-ACAB-F91E-776E-436D0300728E}"/>
              </a:ext>
            </a:extLst>
          </p:cNvPr>
          <p:cNvSpPr txBox="1"/>
          <p:nvPr/>
        </p:nvSpPr>
        <p:spPr>
          <a:xfrm>
            <a:off x="8613889" y="5404181"/>
            <a:ext cx="3599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Abstracted by AWS, comes into play with connecting AWS owned to customer owned networks (VPN)</a:t>
            </a:r>
          </a:p>
        </p:txBody>
      </p:sp>
    </p:spTree>
    <p:extLst>
      <p:ext uri="{BB962C8B-B14F-4D97-AF65-F5344CB8AC3E}">
        <p14:creationId xmlns:p14="http://schemas.microsoft.com/office/powerpoint/2010/main" val="207705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223E-471C-773E-3912-FB99F753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2FBF2-9545-0E2A-43A8-09977674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18255"/>
            <a:ext cx="10515600" cy="1325563"/>
          </a:xfrm>
        </p:spPr>
        <p:txBody>
          <a:bodyPr/>
          <a:lstStyle/>
          <a:p>
            <a:r>
              <a:rPr lang="en-US" dirty="0"/>
              <a:t>IP Addresses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DFCB1E5-451B-624C-8BA6-FA3E35BBF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25633"/>
          <a:stretch>
            <a:fillRect/>
          </a:stretch>
        </p:blipFill>
        <p:spPr>
          <a:xfrm>
            <a:off x="908972" y="1345303"/>
            <a:ext cx="7721600" cy="23139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773F4B-9E65-FA07-FD70-DE604D9512F3}"/>
              </a:ext>
            </a:extLst>
          </p:cNvPr>
          <p:cNvSpPr txBox="1"/>
          <p:nvPr/>
        </p:nvSpPr>
        <p:spPr>
          <a:xfrm>
            <a:off x="850357" y="1327513"/>
            <a:ext cx="11835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Dotted</a:t>
            </a:r>
            <a:br>
              <a:rPr lang="en-US" b="1" dirty="0"/>
            </a:br>
            <a:r>
              <a:rPr lang="en-US" b="1" dirty="0"/>
              <a:t>Decimal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016281-4B9A-4C40-9DFA-6F84F6DEAC26}"/>
              </a:ext>
            </a:extLst>
          </p:cNvPr>
          <p:cNvSpPr txBox="1"/>
          <p:nvPr/>
        </p:nvSpPr>
        <p:spPr>
          <a:xfrm>
            <a:off x="2101923" y="395180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11111111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A461A8-4285-AE0D-5636-FFC350AE0F02}"/>
              </a:ext>
            </a:extLst>
          </p:cNvPr>
          <p:cNvSpPr/>
          <p:nvPr/>
        </p:nvSpPr>
        <p:spPr>
          <a:xfrm>
            <a:off x="2080177" y="3905649"/>
            <a:ext cx="1334926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35D768-6772-B747-4925-50CF798B751D}"/>
              </a:ext>
            </a:extLst>
          </p:cNvPr>
          <p:cNvSpPr txBox="1"/>
          <p:nvPr/>
        </p:nvSpPr>
        <p:spPr>
          <a:xfrm>
            <a:off x="3575126" y="395180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11111111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23C8111-3EFE-1865-AA48-07BD1EC7ED34}"/>
              </a:ext>
            </a:extLst>
          </p:cNvPr>
          <p:cNvSpPr/>
          <p:nvPr/>
        </p:nvSpPr>
        <p:spPr>
          <a:xfrm>
            <a:off x="3553380" y="3905649"/>
            <a:ext cx="1334926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2CCCD6-CE31-DD03-30CA-DA040C592767}"/>
              </a:ext>
            </a:extLst>
          </p:cNvPr>
          <p:cNvSpPr txBox="1"/>
          <p:nvPr/>
        </p:nvSpPr>
        <p:spPr>
          <a:xfrm>
            <a:off x="5048329" y="395180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10000000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87A3FC1-116C-DFBD-33D1-D767152E1C7A}"/>
              </a:ext>
            </a:extLst>
          </p:cNvPr>
          <p:cNvSpPr/>
          <p:nvPr/>
        </p:nvSpPr>
        <p:spPr>
          <a:xfrm>
            <a:off x="5026583" y="3905649"/>
            <a:ext cx="1334926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87BB81-EB09-DC29-A0B3-027F204AE191}"/>
              </a:ext>
            </a:extLst>
          </p:cNvPr>
          <p:cNvSpPr txBox="1"/>
          <p:nvPr/>
        </p:nvSpPr>
        <p:spPr>
          <a:xfrm>
            <a:off x="6521532" y="395180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A44AA9A-421E-FF32-A8AA-AAA96ED7B95F}"/>
              </a:ext>
            </a:extLst>
          </p:cNvPr>
          <p:cNvSpPr/>
          <p:nvPr/>
        </p:nvSpPr>
        <p:spPr>
          <a:xfrm>
            <a:off x="6499786" y="3905649"/>
            <a:ext cx="1334926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891FBF-610C-9EE8-8073-0AAE28A8631A}"/>
              </a:ext>
            </a:extLst>
          </p:cNvPr>
          <p:cNvSpPr txBox="1"/>
          <p:nvPr/>
        </p:nvSpPr>
        <p:spPr>
          <a:xfrm>
            <a:off x="849237" y="3828698"/>
            <a:ext cx="11835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7030A0"/>
                </a:solidFill>
              </a:rPr>
              <a:t>Subnet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Mask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000ABDF-00B2-EB1B-1417-7277D07986E1}"/>
              </a:ext>
            </a:extLst>
          </p:cNvPr>
          <p:cNvSpPr/>
          <p:nvPr/>
        </p:nvSpPr>
        <p:spPr>
          <a:xfrm>
            <a:off x="2080176" y="4639257"/>
            <a:ext cx="3138331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334CF7A-15F8-9444-FD8D-9DC6B0FAF1AF}"/>
              </a:ext>
            </a:extLst>
          </p:cNvPr>
          <p:cNvSpPr/>
          <p:nvPr/>
        </p:nvSpPr>
        <p:spPr>
          <a:xfrm>
            <a:off x="5248720" y="4639257"/>
            <a:ext cx="2585991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3D3EAB-970B-5AE6-4212-7717F4E62459}"/>
              </a:ext>
            </a:extLst>
          </p:cNvPr>
          <p:cNvSpPr txBox="1"/>
          <p:nvPr/>
        </p:nvSpPr>
        <p:spPr>
          <a:xfrm>
            <a:off x="2110390" y="467695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11000000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678D8F-8528-8830-C391-996642AC85C0}"/>
              </a:ext>
            </a:extLst>
          </p:cNvPr>
          <p:cNvSpPr txBox="1"/>
          <p:nvPr/>
        </p:nvSpPr>
        <p:spPr>
          <a:xfrm>
            <a:off x="3583593" y="467695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10101000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163231-546E-6F88-9D0E-225BA99BF88B}"/>
              </a:ext>
            </a:extLst>
          </p:cNvPr>
          <p:cNvSpPr txBox="1"/>
          <p:nvPr/>
        </p:nvSpPr>
        <p:spPr>
          <a:xfrm>
            <a:off x="4955196" y="4683306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F5CA5C-F2AE-059D-374C-7A9BD907CA3C}"/>
              </a:ext>
            </a:extLst>
          </p:cNvPr>
          <p:cNvSpPr txBox="1"/>
          <p:nvPr/>
        </p:nvSpPr>
        <p:spPr>
          <a:xfrm>
            <a:off x="6529999" y="467695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00101101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06E879-67C7-F907-2E23-44DDA79D6AF4}"/>
              </a:ext>
            </a:extLst>
          </p:cNvPr>
          <p:cNvSpPr txBox="1"/>
          <p:nvPr/>
        </p:nvSpPr>
        <p:spPr>
          <a:xfrm>
            <a:off x="598801" y="4571034"/>
            <a:ext cx="139957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70C0"/>
                </a:solidFill>
              </a:rPr>
              <a:t>Network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F68633"/>
                </a:solidFill>
              </a:rPr>
              <a:t>Host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/>
              <a:t>Split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8D67151-D800-6A96-B258-2724CB56F4FB}"/>
              </a:ext>
            </a:extLst>
          </p:cNvPr>
          <p:cNvSpPr/>
          <p:nvPr/>
        </p:nvSpPr>
        <p:spPr>
          <a:xfrm>
            <a:off x="2085093" y="5401258"/>
            <a:ext cx="3138331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84C0787-B0E6-5E45-78BE-30BD900E75CE}"/>
              </a:ext>
            </a:extLst>
          </p:cNvPr>
          <p:cNvSpPr/>
          <p:nvPr/>
        </p:nvSpPr>
        <p:spPr>
          <a:xfrm>
            <a:off x="5253637" y="5401258"/>
            <a:ext cx="2585991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09BACE-BD6D-3FEF-9A2B-F7E8307FDF04}"/>
              </a:ext>
            </a:extLst>
          </p:cNvPr>
          <p:cNvSpPr txBox="1"/>
          <p:nvPr/>
        </p:nvSpPr>
        <p:spPr>
          <a:xfrm>
            <a:off x="2115307" y="543895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11000000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759690-2272-FF18-DE9A-BEE18AAAFDD6}"/>
              </a:ext>
            </a:extLst>
          </p:cNvPr>
          <p:cNvSpPr txBox="1"/>
          <p:nvPr/>
        </p:nvSpPr>
        <p:spPr>
          <a:xfrm>
            <a:off x="3588510" y="543895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10101000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CAA897-D236-5D33-964B-51B8EC015C96}"/>
              </a:ext>
            </a:extLst>
          </p:cNvPr>
          <p:cNvSpPr txBox="1"/>
          <p:nvPr/>
        </p:nvSpPr>
        <p:spPr>
          <a:xfrm>
            <a:off x="4960113" y="5445307"/>
            <a:ext cx="1398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1A5DB2-D12B-29FB-76E7-78044B6E8DA4}"/>
              </a:ext>
            </a:extLst>
          </p:cNvPr>
          <p:cNvSpPr txBox="1"/>
          <p:nvPr/>
        </p:nvSpPr>
        <p:spPr>
          <a:xfrm>
            <a:off x="6534916" y="543895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812996-555A-0ACF-6A6C-4A8C5A2036DC}"/>
              </a:ext>
            </a:extLst>
          </p:cNvPr>
          <p:cNvSpPr txBox="1"/>
          <p:nvPr/>
        </p:nvSpPr>
        <p:spPr>
          <a:xfrm>
            <a:off x="633214" y="5470684"/>
            <a:ext cx="139957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70C0"/>
                </a:solidFill>
              </a:rPr>
              <a:t>Network ID</a:t>
            </a:r>
            <a:endParaRPr 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44550F-6560-331D-5D66-06872334BD50}"/>
              </a:ext>
            </a:extLst>
          </p:cNvPr>
          <p:cNvSpPr txBox="1"/>
          <p:nvPr/>
        </p:nvSpPr>
        <p:spPr>
          <a:xfrm>
            <a:off x="2411636" y="617882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192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10C2514-2D79-7EAE-6084-126A7D2B496C}"/>
              </a:ext>
            </a:extLst>
          </p:cNvPr>
          <p:cNvSpPr/>
          <p:nvPr/>
        </p:nvSpPr>
        <p:spPr>
          <a:xfrm>
            <a:off x="2094923" y="6132660"/>
            <a:ext cx="1334926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459046-7D65-8A24-F6F5-1B97C9922D1D}"/>
              </a:ext>
            </a:extLst>
          </p:cNvPr>
          <p:cNvSpPr txBox="1"/>
          <p:nvPr/>
        </p:nvSpPr>
        <p:spPr>
          <a:xfrm>
            <a:off x="3884839" y="617882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168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BAC9359-D63D-5943-2E43-8A984F703DBA}"/>
              </a:ext>
            </a:extLst>
          </p:cNvPr>
          <p:cNvSpPr/>
          <p:nvPr/>
        </p:nvSpPr>
        <p:spPr>
          <a:xfrm>
            <a:off x="3568126" y="6132660"/>
            <a:ext cx="1334926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FB62C6-8ECD-4571-2659-9D0E2DE29082}"/>
              </a:ext>
            </a:extLst>
          </p:cNvPr>
          <p:cNvSpPr txBox="1"/>
          <p:nvPr/>
        </p:nvSpPr>
        <p:spPr>
          <a:xfrm>
            <a:off x="5535023" y="61788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799878E-3C6D-4C3A-709C-CB4C2F768941}"/>
              </a:ext>
            </a:extLst>
          </p:cNvPr>
          <p:cNvSpPr/>
          <p:nvPr/>
        </p:nvSpPr>
        <p:spPr>
          <a:xfrm>
            <a:off x="5041329" y="6132660"/>
            <a:ext cx="1334926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0EA04D-8989-CB11-E431-1398CBBCACE1}"/>
              </a:ext>
            </a:extLst>
          </p:cNvPr>
          <p:cNvSpPr txBox="1"/>
          <p:nvPr/>
        </p:nvSpPr>
        <p:spPr>
          <a:xfrm>
            <a:off x="7008226" y="61788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5A59AC1-83AF-D712-5017-D4076EE6771B}"/>
              </a:ext>
            </a:extLst>
          </p:cNvPr>
          <p:cNvSpPr/>
          <p:nvPr/>
        </p:nvSpPr>
        <p:spPr>
          <a:xfrm>
            <a:off x="6494866" y="6132660"/>
            <a:ext cx="1334926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288FBB-640D-E05E-3DAD-000C7A0CF390}"/>
              </a:ext>
            </a:extLst>
          </p:cNvPr>
          <p:cNvSpPr txBox="1"/>
          <p:nvPr/>
        </p:nvSpPr>
        <p:spPr>
          <a:xfrm>
            <a:off x="0" y="6045872"/>
            <a:ext cx="199837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70C0"/>
                </a:solidFill>
              </a:rPr>
              <a:t>Network ID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Dotted Decimal</a:t>
            </a:r>
            <a:endParaRPr lang="en-US" b="1" dirty="0"/>
          </a:p>
        </p:txBody>
      </p:sp>
      <p:sp>
        <p:nvSpPr>
          <p:cNvPr id="47" name="Right Bracket 46">
            <a:extLst>
              <a:ext uri="{FF2B5EF4-FFF2-40B4-BE49-F238E27FC236}">
                <a16:creationId xmlns:a16="http://schemas.microsoft.com/office/drawing/2014/main" id="{579DD67B-6EED-39B4-B9A8-10A43574CE54}"/>
              </a:ext>
            </a:extLst>
          </p:cNvPr>
          <p:cNvSpPr/>
          <p:nvPr/>
        </p:nvSpPr>
        <p:spPr>
          <a:xfrm>
            <a:off x="7848096" y="3382297"/>
            <a:ext cx="165193" cy="786578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A2BB338-2D40-913C-CD1B-04CAD01C170D}"/>
              </a:ext>
            </a:extLst>
          </p:cNvPr>
          <p:cNvCxnSpPr>
            <a:cxnSpLocks/>
            <a:stCxn id="47" idx="2"/>
          </p:cNvCxnSpPr>
          <p:nvPr/>
        </p:nvCxnSpPr>
        <p:spPr>
          <a:xfrm flipV="1">
            <a:off x="8013289" y="3746091"/>
            <a:ext cx="157316" cy="29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B1F69CA-D631-A5DB-1FD9-D78342B4DBE6}"/>
              </a:ext>
            </a:extLst>
          </p:cNvPr>
          <p:cNvCxnSpPr>
            <a:cxnSpLocks/>
          </p:cNvCxnSpPr>
          <p:nvPr/>
        </p:nvCxnSpPr>
        <p:spPr>
          <a:xfrm>
            <a:off x="8170605" y="3746091"/>
            <a:ext cx="1651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5AF14CF-4BA4-D491-EF93-E18C8CFBC621}"/>
              </a:ext>
            </a:extLst>
          </p:cNvPr>
          <p:cNvCxnSpPr>
            <a:cxnSpLocks/>
          </p:cNvCxnSpPr>
          <p:nvPr/>
        </p:nvCxnSpPr>
        <p:spPr>
          <a:xfrm>
            <a:off x="8335798" y="3746091"/>
            <a:ext cx="0" cy="19467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6D3A8C8-813D-E604-78AE-0CF3532D3CAF}"/>
              </a:ext>
            </a:extLst>
          </p:cNvPr>
          <p:cNvCxnSpPr>
            <a:cxnSpLocks/>
          </p:cNvCxnSpPr>
          <p:nvPr/>
        </p:nvCxnSpPr>
        <p:spPr>
          <a:xfrm flipH="1">
            <a:off x="7829792" y="5692878"/>
            <a:ext cx="506006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9C655FC-6E74-05AD-2274-0400B163AC66}"/>
              </a:ext>
            </a:extLst>
          </p:cNvPr>
          <p:cNvSpPr txBox="1"/>
          <p:nvPr/>
        </p:nvSpPr>
        <p:spPr>
          <a:xfrm rot="5400000">
            <a:off x="7738821" y="4578933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Bitwise AND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142C48-E523-B92B-2EA8-7C0D997B0C68}"/>
              </a:ext>
            </a:extLst>
          </p:cNvPr>
          <p:cNvSpPr txBox="1"/>
          <p:nvPr/>
        </p:nvSpPr>
        <p:spPr>
          <a:xfrm>
            <a:off x="9847576" y="2140992"/>
            <a:ext cx="23006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192.168.1.45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255.255.128.0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192.168.1.45/17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4B415B-9BD7-D4C5-88EE-009A6F83913F}"/>
              </a:ext>
            </a:extLst>
          </p:cNvPr>
          <p:cNvSpPr txBox="1"/>
          <p:nvPr/>
        </p:nvSpPr>
        <p:spPr>
          <a:xfrm>
            <a:off x="8731043" y="2156897"/>
            <a:ext cx="1197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IP &amp; Mask</a:t>
            </a:r>
            <a:br>
              <a:rPr lang="en-US" b="1" dirty="0"/>
            </a:br>
            <a:r>
              <a:rPr lang="en-US" b="1" dirty="0"/>
              <a:t>Notation: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FABF0C-8A58-E630-507A-642566B3B30B}"/>
              </a:ext>
            </a:extLst>
          </p:cNvPr>
          <p:cNvSpPr txBox="1"/>
          <p:nvPr/>
        </p:nvSpPr>
        <p:spPr>
          <a:xfrm>
            <a:off x="8215829" y="3065603"/>
            <a:ext cx="1757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CIDR Notation:</a:t>
            </a:r>
          </a:p>
        </p:txBody>
      </p:sp>
    </p:spTree>
    <p:extLst>
      <p:ext uri="{BB962C8B-B14F-4D97-AF65-F5344CB8AC3E}">
        <p14:creationId xmlns:p14="http://schemas.microsoft.com/office/powerpoint/2010/main" val="909640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EED2F-9439-7FF6-84AD-FB9565B41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E417-9A03-B7E0-8855-40ADCEC0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8" y="-335618"/>
            <a:ext cx="10515600" cy="1325563"/>
          </a:xfrm>
        </p:spPr>
        <p:txBody>
          <a:bodyPr/>
          <a:lstStyle/>
          <a:p>
            <a:r>
              <a:rPr lang="en-US" dirty="0"/>
              <a:t>Subnetting and “Sandboxes”</a:t>
            </a:r>
          </a:p>
        </p:txBody>
      </p:sp>
      <p:pic>
        <p:nvPicPr>
          <p:cNvPr id="15362" name="Picture 2" descr="How to Build a Sandbox (with Pictures ...">
            <a:extLst>
              <a:ext uri="{FF2B5EF4-FFF2-40B4-BE49-F238E27FC236}">
                <a16:creationId xmlns:a16="http://schemas.microsoft.com/office/drawing/2014/main" id="{B8AAF103-B9F9-522E-DEEE-6949E7DD6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18"/>
          <a:stretch>
            <a:fillRect/>
          </a:stretch>
        </p:blipFill>
        <p:spPr bwMode="auto">
          <a:xfrm>
            <a:off x="426418" y="916213"/>
            <a:ext cx="8068949" cy="348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AE559D0-788E-C4E9-6BC9-02B95B92C0CC}"/>
              </a:ext>
            </a:extLst>
          </p:cNvPr>
          <p:cNvCxnSpPr>
            <a:cxnSpLocks/>
          </p:cNvCxnSpPr>
          <p:nvPr/>
        </p:nvCxnSpPr>
        <p:spPr>
          <a:xfrm>
            <a:off x="3212196" y="1791284"/>
            <a:ext cx="2025445" cy="1691149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D4F2A4E-9ACF-CD88-B998-91B4C7ECF058}"/>
              </a:ext>
            </a:extLst>
          </p:cNvPr>
          <p:cNvCxnSpPr>
            <a:cxnSpLocks/>
          </p:cNvCxnSpPr>
          <p:nvPr/>
        </p:nvCxnSpPr>
        <p:spPr>
          <a:xfrm flipV="1">
            <a:off x="2327293" y="1965807"/>
            <a:ext cx="3352800" cy="135931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0D532B63-6064-7148-5097-E1CBA30FC147}"/>
              </a:ext>
            </a:extLst>
          </p:cNvPr>
          <p:cNvSpPr txBox="1"/>
          <p:nvPr/>
        </p:nvSpPr>
        <p:spPr>
          <a:xfrm>
            <a:off x="8660837" y="937810"/>
            <a:ext cx="322823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Overall network administrator will provide address ranges for a VPC.   That is the overall sandbox</a:t>
            </a:r>
          </a:p>
          <a:p>
            <a:endParaRPr lang="en-US" sz="2000" dirty="0"/>
          </a:p>
          <a:p>
            <a:r>
              <a:rPr lang="en-US" sz="2000" dirty="0"/>
              <a:t>You can then use leading bits from the “host” part to further divide up the network</a:t>
            </a:r>
          </a:p>
          <a:p>
            <a:br>
              <a:rPr lang="en-US" sz="2000" dirty="0"/>
            </a:br>
            <a:r>
              <a:rPr lang="en-US" sz="2000" b="1" dirty="0">
                <a:solidFill>
                  <a:srgbClr val="7030A0"/>
                </a:solidFill>
              </a:rPr>
              <a:t>These are called Subnets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94AFB788-0B47-6CB4-3EFA-F0393408206D}"/>
              </a:ext>
            </a:extLst>
          </p:cNvPr>
          <p:cNvSpPr/>
          <p:nvPr/>
        </p:nvSpPr>
        <p:spPr>
          <a:xfrm>
            <a:off x="348529" y="5060023"/>
            <a:ext cx="3829011" cy="388808"/>
          </a:xfrm>
          <a:prstGeom prst="roundRect">
            <a:avLst>
              <a:gd name="adj" fmla="val 773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87938D2C-6572-4A5E-7998-C2F2D558223D}"/>
              </a:ext>
            </a:extLst>
          </p:cNvPr>
          <p:cNvSpPr/>
          <p:nvPr/>
        </p:nvSpPr>
        <p:spPr>
          <a:xfrm>
            <a:off x="4696752" y="5060023"/>
            <a:ext cx="1406311" cy="388808"/>
          </a:xfrm>
          <a:prstGeom prst="roundRect">
            <a:avLst>
              <a:gd name="adj" fmla="val 7730"/>
            </a:avLst>
          </a:prstGeom>
          <a:noFill/>
          <a:ln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3A62D7E-C030-BA88-F990-6F15E2BC8FCF}"/>
              </a:ext>
            </a:extLst>
          </p:cNvPr>
          <p:cNvSpPr txBox="1"/>
          <p:nvPr/>
        </p:nvSpPr>
        <p:spPr>
          <a:xfrm>
            <a:off x="378743" y="5024875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00001010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D4E1389-5E42-7B0B-C6A3-730AD640387A}"/>
              </a:ext>
            </a:extLst>
          </p:cNvPr>
          <p:cNvSpPr txBox="1"/>
          <p:nvPr/>
        </p:nvSpPr>
        <p:spPr>
          <a:xfrm>
            <a:off x="1851946" y="5024875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11110111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79AA2B6-592D-AD3A-880C-5C77B15C223C}"/>
              </a:ext>
            </a:extLst>
          </p:cNvPr>
          <p:cNvSpPr txBox="1"/>
          <p:nvPr/>
        </p:nvSpPr>
        <p:spPr>
          <a:xfrm>
            <a:off x="3223549" y="5031225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010111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68A9C8F-CFE6-2681-F900-02AC29FD4F30}"/>
              </a:ext>
            </a:extLst>
          </p:cNvPr>
          <p:cNvSpPr txBox="1"/>
          <p:nvPr/>
        </p:nvSpPr>
        <p:spPr>
          <a:xfrm>
            <a:off x="4798352" y="5024875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49A43392-C5D7-807C-6CD3-D442496E5D3A}"/>
              </a:ext>
            </a:extLst>
          </p:cNvPr>
          <p:cNvSpPr/>
          <p:nvPr/>
        </p:nvSpPr>
        <p:spPr>
          <a:xfrm>
            <a:off x="4207754" y="5051561"/>
            <a:ext cx="465947" cy="388808"/>
          </a:xfrm>
          <a:prstGeom prst="roundRect">
            <a:avLst>
              <a:gd name="adj" fmla="val 77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B331FAF-A929-EE41-438C-035E2809C196}"/>
              </a:ext>
            </a:extLst>
          </p:cNvPr>
          <p:cNvSpPr txBox="1"/>
          <p:nvPr/>
        </p:nvSpPr>
        <p:spPr>
          <a:xfrm>
            <a:off x="1728541" y="2231298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10.247.92.0/24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91BE1BE-B145-C420-9D27-F4EA8503DCEB}"/>
              </a:ext>
            </a:extLst>
          </p:cNvPr>
          <p:cNvSpPr txBox="1"/>
          <p:nvPr/>
        </p:nvSpPr>
        <p:spPr>
          <a:xfrm>
            <a:off x="3486156" y="1732307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10.247.94.0/24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2ED90C8-2473-168B-C3E5-45DB717E4CD9}"/>
              </a:ext>
            </a:extLst>
          </p:cNvPr>
          <p:cNvSpPr txBox="1"/>
          <p:nvPr/>
        </p:nvSpPr>
        <p:spPr>
          <a:xfrm>
            <a:off x="2667259" y="3326427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10.247.93.0/24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21FB0F5-45D3-FCC5-60AF-82BF870C04E4}"/>
              </a:ext>
            </a:extLst>
          </p:cNvPr>
          <p:cNvSpPr txBox="1"/>
          <p:nvPr/>
        </p:nvSpPr>
        <p:spPr>
          <a:xfrm>
            <a:off x="4634472" y="2457669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10.247.95.0/24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1DE8D7A-E9EF-6692-2F1B-DD07756319C4}"/>
              </a:ext>
            </a:extLst>
          </p:cNvPr>
          <p:cNvSpPr txBox="1"/>
          <p:nvPr/>
        </p:nvSpPr>
        <p:spPr>
          <a:xfrm rot="19671818">
            <a:off x="5280061" y="3287385"/>
            <a:ext cx="2569934" cy="523220"/>
          </a:xfrm>
          <a:prstGeom prst="rect">
            <a:avLst/>
          </a:prstGeom>
          <a:solidFill>
            <a:schemeClr val="accent6">
              <a:alpha val="28149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b="1" dirty="0"/>
              <a:t>10.247.92.0/22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8DE0B34A-3F7E-FEEB-3A23-4FA3546B7223}"/>
              </a:ext>
            </a:extLst>
          </p:cNvPr>
          <p:cNvSpPr/>
          <p:nvPr/>
        </p:nvSpPr>
        <p:spPr>
          <a:xfrm>
            <a:off x="343612" y="4456784"/>
            <a:ext cx="3853473" cy="419585"/>
          </a:xfrm>
          <a:prstGeom prst="roundRect">
            <a:avLst>
              <a:gd name="adj" fmla="val 773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BEF2A17C-6B29-BFA3-8D67-78C6EC494FD3}"/>
              </a:ext>
            </a:extLst>
          </p:cNvPr>
          <p:cNvSpPr/>
          <p:nvPr/>
        </p:nvSpPr>
        <p:spPr>
          <a:xfrm>
            <a:off x="4227299" y="4456784"/>
            <a:ext cx="1870847" cy="419585"/>
          </a:xfrm>
          <a:prstGeom prst="roundRect">
            <a:avLst>
              <a:gd name="adj" fmla="val 7730"/>
            </a:avLst>
          </a:prstGeom>
          <a:noFill/>
          <a:ln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0D668EE-0C52-8D93-9747-5022853ACF99}"/>
              </a:ext>
            </a:extLst>
          </p:cNvPr>
          <p:cNvSpPr txBox="1"/>
          <p:nvPr/>
        </p:nvSpPr>
        <p:spPr>
          <a:xfrm>
            <a:off x="373826" y="445951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00001010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ADCE017-8CCB-447E-982A-10CC7E8A5CFE}"/>
              </a:ext>
            </a:extLst>
          </p:cNvPr>
          <p:cNvSpPr txBox="1"/>
          <p:nvPr/>
        </p:nvSpPr>
        <p:spPr>
          <a:xfrm>
            <a:off x="1847029" y="445951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11110111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BF9142E-F91F-1466-4FCA-0D9265067E3E}"/>
              </a:ext>
            </a:extLst>
          </p:cNvPr>
          <p:cNvSpPr txBox="1"/>
          <p:nvPr/>
        </p:nvSpPr>
        <p:spPr>
          <a:xfrm>
            <a:off x="3218632" y="4465867"/>
            <a:ext cx="14542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010111 </a:t>
            </a:r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DF27DFA-35A0-8547-D787-ABF11F191638}"/>
              </a:ext>
            </a:extLst>
          </p:cNvPr>
          <p:cNvSpPr txBox="1"/>
          <p:nvPr/>
        </p:nvSpPr>
        <p:spPr>
          <a:xfrm>
            <a:off x="4793435" y="445951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</p:txBody>
      </p: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49EF482B-C486-6471-6448-D7C9A42E3E58}"/>
              </a:ext>
            </a:extLst>
          </p:cNvPr>
          <p:cNvSpPr/>
          <p:nvPr/>
        </p:nvSpPr>
        <p:spPr>
          <a:xfrm>
            <a:off x="355044" y="5517224"/>
            <a:ext cx="3829011" cy="388808"/>
          </a:xfrm>
          <a:prstGeom prst="roundRect">
            <a:avLst>
              <a:gd name="adj" fmla="val 773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27149B67-F0A2-DF9F-BA91-C5096CCB6423}"/>
              </a:ext>
            </a:extLst>
          </p:cNvPr>
          <p:cNvSpPr/>
          <p:nvPr/>
        </p:nvSpPr>
        <p:spPr>
          <a:xfrm>
            <a:off x="4703267" y="5517224"/>
            <a:ext cx="1406311" cy="388808"/>
          </a:xfrm>
          <a:prstGeom prst="roundRect">
            <a:avLst>
              <a:gd name="adj" fmla="val 7730"/>
            </a:avLst>
          </a:prstGeom>
          <a:noFill/>
          <a:ln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7EF36D5-4A26-BF1A-E316-129BF1E3C747}"/>
              </a:ext>
            </a:extLst>
          </p:cNvPr>
          <p:cNvSpPr txBox="1"/>
          <p:nvPr/>
        </p:nvSpPr>
        <p:spPr>
          <a:xfrm>
            <a:off x="385258" y="548207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00001010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0C115C9-66CC-175D-2648-A10337C9DE5E}"/>
              </a:ext>
            </a:extLst>
          </p:cNvPr>
          <p:cNvSpPr txBox="1"/>
          <p:nvPr/>
        </p:nvSpPr>
        <p:spPr>
          <a:xfrm>
            <a:off x="1858461" y="548207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11110111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3A3FDC5-2C1F-325E-0F55-B2E2FF6B851B}"/>
              </a:ext>
            </a:extLst>
          </p:cNvPr>
          <p:cNvSpPr txBox="1"/>
          <p:nvPr/>
        </p:nvSpPr>
        <p:spPr>
          <a:xfrm>
            <a:off x="3230064" y="5488426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010111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2D5D0D5-025D-2D14-BA5F-15AED6B41650}"/>
              </a:ext>
            </a:extLst>
          </p:cNvPr>
          <p:cNvSpPr txBox="1"/>
          <p:nvPr/>
        </p:nvSpPr>
        <p:spPr>
          <a:xfrm>
            <a:off x="4804867" y="5482076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DB3F48C7-B8EF-5A6B-91A0-F95DE5841783}"/>
              </a:ext>
            </a:extLst>
          </p:cNvPr>
          <p:cNvSpPr/>
          <p:nvPr/>
        </p:nvSpPr>
        <p:spPr>
          <a:xfrm>
            <a:off x="4214269" y="5508762"/>
            <a:ext cx="465947" cy="388808"/>
          </a:xfrm>
          <a:prstGeom prst="roundRect">
            <a:avLst>
              <a:gd name="adj" fmla="val 77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A6AB55E3-0B4D-F434-0EB9-19F74D60F20E}"/>
              </a:ext>
            </a:extLst>
          </p:cNvPr>
          <p:cNvSpPr/>
          <p:nvPr/>
        </p:nvSpPr>
        <p:spPr>
          <a:xfrm>
            <a:off x="361559" y="5974425"/>
            <a:ext cx="3829011" cy="388808"/>
          </a:xfrm>
          <a:prstGeom prst="roundRect">
            <a:avLst>
              <a:gd name="adj" fmla="val 773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23A454B0-7D33-F9D3-6DA1-36DB7397BB00}"/>
              </a:ext>
            </a:extLst>
          </p:cNvPr>
          <p:cNvSpPr/>
          <p:nvPr/>
        </p:nvSpPr>
        <p:spPr>
          <a:xfrm>
            <a:off x="4709782" y="5974425"/>
            <a:ext cx="1406311" cy="388808"/>
          </a:xfrm>
          <a:prstGeom prst="roundRect">
            <a:avLst>
              <a:gd name="adj" fmla="val 7730"/>
            </a:avLst>
          </a:prstGeom>
          <a:noFill/>
          <a:ln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302EDE5-EE12-CD58-1608-78075275BE5B}"/>
              </a:ext>
            </a:extLst>
          </p:cNvPr>
          <p:cNvSpPr txBox="1"/>
          <p:nvPr/>
        </p:nvSpPr>
        <p:spPr>
          <a:xfrm>
            <a:off x="391773" y="593927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00001010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39EEC25-7A88-4065-554F-A8541CF99D65}"/>
              </a:ext>
            </a:extLst>
          </p:cNvPr>
          <p:cNvSpPr txBox="1"/>
          <p:nvPr/>
        </p:nvSpPr>
        <p:spPr>
          <a:xfrm>
            <a:off x="1864976" y="593927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11110111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92F62CF-F1A5-B9D4-A7F9-28CD621C61E3}"/>
              </a:ext>
            </a:extLst>
          </p:cNvPr>
          <p:cNvSpPr txBox="1"/>
          <p:nvPr/>
        </p:nvSpPr>
        <p:spPr>
          <a:xfrm>
            <a:off x="3236579" y="5945627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010111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D27882E-F37C-A22C-22E0-55CEEC4750EC}"/>
              </a:ext>
            </a:extLst>
          </p:cNvPr>
          <p:cNvSpPr txBox="1"/>
          <p:nvPr/>
        </p:nvSpPr>
        <p:spPr>
          <a:xfrm>
            <a:off x="4811382" y="5939277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255EE331-1F55-0DC4-BCB1-E432D9CF9931}"/>
              </a:ext>
            </a:extLst>
          </p:cNvPr>
          <p:cNvSpPr/>
          <p:nvPr/>
        </p:nvSpPr>
        <p:spPr>
          <a:xfrm>
            <a:off x="4220784" y="5965963"/>
            <a:ext cx="465947" cy="388808"/>
          </a:xfrm>
          <a:prstGeom prst="roundRect">
            <a:avLst>
              <a:gd name="adj" fmla="val 77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AA548D1A-E2FF-9BC6-20DD-7F95F5FD65FA}"/>
              </a:ext>
            </a:extLst>
          </p:cNvPr>
          <p:cNvSpPr/>
          <p:nvPr/>
        </p:nvSpPr>
        <p:spPr>
          <a:xfrm>
            <a:off x="368074" y="6431626"/>
            <a:ext cx="3829011" cy="388808"/>
          </a:xfrm>
          <a:prstGeom prst="roundRect">
            <a:avLst>
              <a:gd name="adj" fmla="val 773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CB30F7A4-CCEB-C8F2-2C99-09B66F4A5461}"/>
              </a:ext>
            </a:extLst>
          </p:cNvPr>
          <p:cNvSpPr/>
          <p:nvPr/>
        </p:nvSpPr>
        <p:spPr>
          <a:xfrm>
            <a:off x="4716297" y="6431626"/>
            <a:ext cx="1406311" cy="388808"/>
          </a:xfrm>
          <a:prstGeom prst="roundRect">
            <a:avLst>
              <a:gd name="adj" fmla="val 7730"/>
            </a:avLst>
          </a:prstGeom>
          <a:noFill/>
          <a:ln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19A1FAD-6549-8C05-4214-568141B3F64F}"/>
              </a:ext>
            </a:extLst>
          </p:cNvPr>
          <p:cNvSpPr txBox="1"/>
          <p:nvPr/>
        </p:nvSpPr>
        <p:spPr>
          <a:xfrm>
            <a:off x="398288" y="6396478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00001010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4521D5F-3D80-4946-D805-07837D581CA8}"/>
              </a:ext>
            </a:extLst>
          </p:cNvPr>
          <p:cNvSpPr txBox="1"/>
          <p:nvPr/>
        </p:nvSpPr>
        <p:spPr>
          <a:xfrm>
            <a:off x="1871491" y="6396478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11110111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1D96F98-BD66-F1DF-317C-174D09FCCCC0}"/>
              </a:ext>
            </a:extLst>
          </p:cNvPr>
          <p:cNvSpPr txBox="1"/>
          <p:nvPr/>
        </p:nvSpPr>
        <p:spPr>
          <a:xfrm>
            <a:off x="3243094" y="6402828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010111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4D03A03-D4BA-427C-46AD-1F6D52D8697F}"/>
              </a:ext>
            </a:extLst>
          </p:cNvPr>
          <p:cNvSpPr txBox="1"/>
          <p:nvPr/>
        </p:nvSpPr>
        <p:spPr>
          <a:xfrm>
            <a:off x="4817897" y="6396478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7D28650C-766E-AFB3-48A6-42968E0ADA50}"/>
              </a:ext>
            </a:extLst>
          </p:cNvPr>
          <p:cNvSpPr/>
          <p:nvPr/>
        </p:nvSpPr>
        <p:spPr>
          <a:xfrm>
            <a:off x="4227299" y="6423164"/>
            <a:ext cx="465947" cy="388808"/>
          </a:xfrm>
          <a:prstGeom prst="roundRect">
            <a:avLst>
              <a:gd name="adj" fmla="val 773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0" name="TextBox 15359">
            <a:extLst>
              <a:ext uri="{FF2B5EF4-FFF2-40B4-BE49-F238E27FC236}">
                <a16:creationId xmlns:a16="http://schemas.microsoft.com/office/drawing/2014/main" id="{DE8A79CE-F79D-D14B-525C-C6067210493F}"/>
              </a:ext>
            </a:extLst>
          </p:cNvPr>
          <p:cNvSpPr txBox="1"/>
          <p:nvPr/>
        </p:nvSpPr>
        <p:spPr>
          <a:xfrm>
            <a:off x="6217460" y="4440266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10.247.92.0/22</a:t>
            </a:r>
          </a:p>
        </p:txBody>
      </p:sp>
      <p:sp>
        <p:nvSpPr>
          <p:cNvPr id="15361" name="TextBox 15360">
            <a:extLst>
              <a:ext uri="{FF2B5EF4-FFF2-40B4-BE49-F238E27FC236}">
                <a16:creationId xmlns:a16="http://schemas.microsoft.com/office/drawing/2014/main" id="{45DF77A7-D5BD-AA62-8E54-BA1AC9959B47}"/>
              </a:ext>
            </a:extLst>
          </p:cNvPr>
          <p:cNvSpPr txBox="1"/>
          <p:nvPr/>
        </p:nvSpPr>
        <p:spPr>
          <a:xfrm>
            <a:off x="6213132" y="5048721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10.247.92.0/24</a:t>
            </a:r>
          </a:p>
        </p:txBody>
      </p:sp>
      <p:sp>
        <p:nvSpPr>
          <p:cNvPr id="15363" name="TextBox 15362">
            <a:extLst>
              <a:ext uri="{FF2B5EF4-FFF2-40B4-BE49-F238E27FC236}">
                <a16:creationId xmlns:a16="http://schemas.microsoft.com/office/drawing/2014/main" id="{F8F8F828-2708-4EA0-975B-2C01EDA06219}"/>
              </a:ext>
            </a:extLst>
          </p:cNvPr>
          <p:cNvSpPr txBox="1"/>
          <p:nvPr/>
        </p:nvSpPr>
        <p:spPr>
          <a:xfrm>
            <a:off x="6211178" y="5520080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10.247.93.0/24</a:t>
            </a:r>
          </a:p>
        </p:txBody>
      </p:sp>
      <p:sp>
        <p:nvSpPr>
          <p:cNvPr id="15364" name="TextBox 15363">
            <a:extLst>
              <a:ext uri="{FF2B5EF4-FFF2-40B4-BE49-F238E27FC236}">
                <a16:creationId xmlns:a16="http://schemas.microsoft.com/office/drawing/2014/main" id="{E05D4216-EB38-9098-BA75-315C46299FAF}"/>
              </a:ext>
            </a:extLst>
          </p:cNvPr>
          <p:cNvSpPr txBox="1"/>
          <p:nvPr/>
        </p:nvSpPr>
        <p:spPr>
          <a:xfrm>
            <a:off x="6209224" y="5991439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10.247.94.0/24</a:t>
            </a:r>
          </a:p>
        </p:txBody>
      </p:sp>
      <p:sp>
        <p:nvSpPr>
          <p:cNvPr id="15365" name="TextBox 15364">
            <a:extLst>
              <a:ext uri="{FF2B5EF4-FFF2-40B4-BE49-F238E27FC236}">
                <a16:creationId xmlns:a16="http://schemas.microsoft.com/office/drawing/2014/main" id="{8B2CCF53-A012-44C0-1A5B-D22CF619A5A1}"/>
              </a:ext>
            </a:extLst>
          </p:cNvPr>
          <p:cNvSpPr txBox="1"/>
          <p:nvPr/>
        </p:nvSpPr>
        <p:spPr>
          <a:xfrm>
            <a:off x="6207270" y="6462798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10.247.95.0/24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9D576-46F4-653C-148F-7E59A34E87D9}"/>
              </a:ext>
            </a:extLst>
          </p:cNvPr>
          <p:cNvSpPr txBox="1"/>
          <p:nvPr/>
        </p:nvSpPr>
        <p:spPr>
          <a:xfrm>
            <a:off x="8660837" y="4503648"/>
            <a:ext cx="34907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AWS reserves 5 IP addresses in every subnet for its own use.  Address </a:t>
            </a:r>
            <a:r>
              <a:rPr lang="en-US" b="1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/>
              <a:t> is the </a:t>
            </a:r>
            <a:r>
              <a:rPr lang="en-US" b="1" dirty="0"/>
              <a:t>network identifier</a:t>
            </a:r>
            <a:r>
              <a:rPr lang="en-US" dirty="0"/>
              <a:t>, </a:t>
            </a:r>
            <a:r>
              <a:rPr lang="en-US" b="1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is the </a:t>
            </a:r>
            <a:r>
              <a:rPr lang="en-US" b="1" dirty="0"/>
              <a:t>VPC router</a:t>
            </a:r>
            <a:r>
              <a:rPr lang="en-US" dirty="0"/>
              <a:t>, </a:t>
            </a:r>
            <a:r>
              <a:rPr lang="en-US" b="1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/>
              <a:t> is the </a:t>
            </a:r>
            <a:r>
              <a:rPr lang="en-US" b="1" dirty="0"/>
              <a:t>DNS resolver</a:t>
            </a:r>
            <a:r>
              <a:rPr lang="en-US" dirty="0"/>
              <a:t>, </a:t>
            </a:r>
            <a:r>
              <a:rPr lang="en-US" b="1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dirty="0"/>
              <a:t> is </a:t>
            </a:r>
            <a:r>
              <a:rPr lang="en-US" b="1" dirty="0"/>
              <a:t>reserved for future use</a:t>
            </a:r>
            <a:r>
              <a:rPr lang="en-US" dirty="0"/>
              <a:t>, and the highest address all bits </a:t>
            </a:r>
            <a:r>
              <a:rPr lang="en-US" b="1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/>
              <a:t> are for the </a:t>
            </a:r>
            <a:r>
              <a:rPr lang="en-US" b="1" dirty="0"/>
              <a:t>broadcast address</a:t>
            </a:r>
          </a:p>
        </p:txBody>
      </p:sp>
    </p:spTree>
    <p:extLst>
      <p:ext uri="{BB962C8B-B14F-4D97-AF65-F5344CB8AC3E}">
        <p14:creationId xmlns:p14="http://schemas.microsoft.com/office/powerpoint/2010/main" val="507894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77487-AA34-D001-F4E4-CEF8177C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C219-54D6-D2E7-97AA-AC72F4E2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134"/>
            <a:ext cx="10515600" cy="762539"/>
          </a:xfrm>
        </p:spPr>
        <p:txBody>
          <a:bodyPr/>
          <a:lstStyle/>
          <a:p>
            <a:r>
              <a:rPr lang="en-US" dirty="0"/>
              <a:t>VPCs– Software Datacenter Clusters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58412-27A3-6B9F-492A-CCCCCFC1AF4E}"/>
              </a:ext>
            </a:extLst>
          </p:cNvPr>
          <p:cNvSpPr/>
          <p:nvPr/>
        </p:nvSpPr>
        <p:spPr>
          <a:xfrm>
            <a:off x="381977" y="1660337"/>
            <a:ext cx="7556500" cy="4670120"/>
          </a:xfrm>
          <a:prstGeom prst="rect">
            <a:avLst/>
          </a:prstGeom>
          <a:noFill/>
          <a:ln w="38100"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97D439-A4DA-0FA0-E959-7F97432E2D15}"/>
              </a:ext>
            </a:extLst>
          </p:cNvPr>
          <p:cNvSpPr/>
          <p:nvPr/>
        </p:nvSpPr>
        <p:spPr>
          <a:xfrm>
            <a:off x="750277" y="2131641"/>
            <a:ext cx="3048000" cy="17319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4069A3-B0D9-7C87-769B-FFFB3E7F1313}"/>
              </a:ext>
            </a:extLst>
          </p:cNvPr>
          <p:cNvSpPr txBox="1"/>
          <p:nvPr/>
        </p:nvSpPr>
        <p:spPr>
          <a:xfrm>
            <a:off x="889772" y="2275682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8C8EE-DA86-416F-632B-7FC228488331}"/>
              </a:ext>
            </a:extLst>
          </p:cNvPr>
          <p:cNvSpPr txBox="1"/>
          <p:nvPr/>
        </p:nvSpPr>
        <p:spPr>
          <a:xfrm>
            <a:off x="2311476" y="2811647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6C5D4-0A84-2E1E-BD14-71C7EFEE35A0}"/>
              </a:ext>
            </a:extLst>
          </p:cNvPr>
          <p:cNvSpPr txBox="1"/>
          <p:nvPr/>
        </p:nvSpPr>
        <p:spPr>
          <a:xfrm>
            <a:off x="889311" y="3326329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A6AED4-A234-5B2C-0AF8-F5DF1E893A3B}"/>
              </a:ext>
            </a:extLst>
          </p:cNvPr>
          <p:cNvSpPr/>
          <p:nvPr/>
        </p:nvSpPr>
        <p:spPr>
          <a:xfrm>
            <a:off x="4344377" y="2119918"/>
            <a:ext cx="3225800" cy="17319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DAADBB-FC5A-A9FC-6D93-BBF029FB2A1F}"/>
              </a:ext>
            </a:extLst>
          </p:cNvPr>
          <p:cNvSpPr txBox="1"/>
          <p:nvPr/>
        </p:nvSpPr>
        <p:spPr>
          <a:xfrm>
            <a:off x="4460426" y="2263959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AEA1C3-60E5-3C36-B316-3246C26AD4D1}"/>
              </a:ext>
            </a:extLst>
          </p:cNvPr>
          <p:cNvSpPr txBox="1"/>
          <p:nvPr/>
        </p:nvSpPr>
        <p:spPr>
          <a:xfrm>
            <a:off x="6160477" y="2641228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D0195-09D0-5095-8A84-6C0CC49E3E8E}"/>
              </a:ext>
            </a:extLst>
          </p:cNvPr>
          <p:cNvSpPr txBox="1"/>
          <p:nvPr/>
        </p:nvSpPr>
        <p:spPr>
          <a:xfrm>
            <a:off x="4460426" y="2918064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9BD712-9245-DBAC-85BA-0D3E19A4D897}"/>
              </a:ext>
            </a:extLst>
          </p:cNvPr>
          <p:cNvSpPr txBox="1"/>
          <p:nvPr/>
        </p:nvSpPr>
        <p:spPr>
          <a:xfrm>
            <a:off x="6155001" y="3291275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1E22D1-9DA4-8D6C-F781-C1D86CC7CE89}"/>
              </a:ext>
            </a:extLst>
          </p:cNvPr>
          <p:cNvSpPr/>
          <p:nvPr/>
        </p:nvSpPr>
        <p:spPr>
          <a:xfrm>
            <a:off x="2630827" y="4396151"/>
            <a:ext cx="3048000" cy="17319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3C2830-F0A8-521A-BA1C-995B0075C518}"/>
              </a:ext>
            </a:extLst>
          </p:cNvPr>
          <p:cNvSpPr txBox="1"/>
          <p:nvPr/>
        </p:nvSpPr>
        <p:spPr>
          <a:xfrm>
            <a:off x="3463104" y="4639834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9BABFA-E7AA-0A91-4E94-03B51AD6FF17}"/>
              </a:ext>
            </a:extLst>
          </p:cNvPr>
          <p:cNvSpPr txBox="1"/>
          <p:nvPr/>
        </p:nvSpPr>
        <p:spPr>
          <a:xfrm>
            <a:off x="3463104" y="5524071"/>
            <a:ext cx="12770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datacenter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3F98758-25DE-4F82-17BB-7BD248C64D27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4101612" y="5009166"/>
            <a:ext cx="0" cy="514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2F31F5-2754-105C-E2B5-0EA72CCFE3F6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5098934" y="2633291"/>
            <a:ext cx="0" cy="2847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06E0ABA-4BCD-7384-AFC2-B171A1CDDA00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6793509" y="3010560"/>
            <a:ext cx="5476" cy="280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7B3C11F6-5F37-A9AD-918E-E7296DB064C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5737442" y="2324401"/>
            <a:ext cx="1061543" cy="31682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9309231B-08E8-CBDB-2247-FF233750E6E1}"/>
              </a:ext>
            </a:extLst>
          </p:cNvPr>
          <p:cNvCxnSpPr>
            <a:cxnSpLocks/>
            <a:stCxn id="12" idx="2"/>
          </p:cNvCxnSpPr>
          <p:nvPr/>
        </p:nvCxnSpPr>
        <p:spPr>
          <a:xfrm rot="16200000" flipH="1">
            <a:off x="5484581" y="2901748"/>
            <a:ext cx="284773" cy="105606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223F6AD-F682-85DF-CDD8-A6659AB5850C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5737442" y="2448625"/>
            <a:ext cx="417559" cy="102731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0" name="Elbow Connector 10239">
            <a:extLst>
              <a:ext uri="{FF2B5EF4-FFF2-40B4-BE49-F238E27FC236}">
                <a16:creationId xmlns:a16="http://schemas.microsoft.com/office/drawing/2014/main" id="{AA375D45-0826-97F7-2452-F0EB48EBF160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rot="10800000" flipV="1">
            <a:off x="5737443" y="2825894"/>
            <a:ext cx="423035" cy="276836"/>
          </a:xfrm>
          <a:prstGeom prst="bentConnector3">
            <a:avLst>
              <a:gd name="adj1" fmla="val 267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3" name="Elbow Connector 10252">
            <a:extLst>
              <a:ext uri="{FF2B5EF4-FFF2-40B4-BE49-F238E27FC236}">
                <a16:creationId xmlns:a16="http://schemas.microsoft.com/office/drawing/2014/main" id="{CE0938F3-5CDE-5827-883D-DB082B4570A0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2166788" y="2460348"/>
            <a:ext cx="783196" cy="35129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6" name="Elbow Connector 10255">
            <a:extLst>
              <a:ext uri="{FF2B5EF4-FFF2-40B4-BE49-F238E27FC236}">
                <a16:creationId xmlns:a16="http://schemas.microsoft.com/office/drawing/2014/main" id="{9942F556-D3B0-CD8D-D782-FEE45A4DCD42}"/>
              </a:ext>
            </a:extLst>
          </p:cNvPr>
          <p:cNvCxnSpPr>
            <a:cxnSpLocks/>
            <a:stCxn id="8" idx="3"/>
            <a:endCxn id="7" idx="2"/>
          </p:cNvCxnSpPr>
          <p:nvPr/>
        </p:nvCxnSpPr>
        <p:spPr>
          <a:xfrm flipV="1">
            <a:off x="2166327" y="3180979"/>
            <a:ext cx="783657" cy="33001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9" name="Straight Connector 10258">
            <a:extLst>
              <a:ext uri="{FF2B5EF4-FFF2-40B4-BE49-F238E27FC236}">
                <a16:creationId xmlns:a16="http://schemas.microsoft.com/office/drawing/2014/main" id="{91563E7C-703B-30AC-758C-EA2FE7392CCA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527819" y="2645014"/>
            <a:ext cx="461" cy="6813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2" name="Elbow Connector 10261">
            <a:extLst>
              <a:ext uri="{FF2B5EF4-FFF2-40B4-BE49-F238E27FC236}">
                <a16:creationId xmlns:a16="http://schemas.microsoft.com/office/drawing/2014/main" id="{0EB7613F-B71B-EDAE-D321-13D8F66F76EF}"/>
              </a:ext>
            </a:extLst>
          </p:cNvPr>
          <p:cNvCxnSpPr>
            <a:cxnSpLocks/>
            <a:stCxn id="5" idx="2"/>
            <a:endCxn id="14" idx="1"/>
          </p:cNvCxnSpPr>
          <p:nvPr/>
        </p:nvCxnSpPr>
        <p:spPr>
          <a:xfrm rot="16200000" flipH="1">
            <a:off x="1753288" y="4384593"/>
            <a:ext cx="1398529" cy="356550"/>
          </a:xfrm>
          <a:prstGeom prst="bentConnector2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5" name="Elbow Connector 10264">
            <a:extLst>
              <a:ext uri="{FF2B5EF4-FFF2-40B4-BE49-F238E27FC236}">
                <a16:creationId xmlns:a16="http://schemas.microsoft.com/office/drawing/2014/main" id="{7228D959-730E-8A8C-AC2F-024F2AC63198}"/>
              </a:ext>
            </a:extLst>
          </p:cNvPr>
          <p:cNvCxnSpPr>
            <a:cxnSpLocks/>
            <a:stCxn id="9" idx="2"/>
            <a:endCxn id="14" idx="3"/>
          </p:cNvCxnSpPr>
          <p:nvPr/>
        </p:nvCxnSpPr>
        <p:spPr>
          <a:xfrm rot="5400000">
            <a:off x="5112926" y="4417782"/>
            <a:ext cx="1410252" cy="278450"/>
          </a:xfrm>
          <a:prstGeom prst="bentConnector2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8" name="Elbow Connector 10267">
            <a:extLst>
              <a:ext uri="{FF2B5EF4-FFF2-40B4-BE49-F238E27FC236}">
                <a16:creationId xmlns:a16="http://schemas.microsoft.com/office/drawing/2014/main" id="{9A6B2253-BC2E-CD7A-3496-AB11A6229F14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3798277" y="2985900"/>
            <a:ext cx="546100" cy="11723"/>
          </a:xfrm>
          <a:prstGeom prst="bentConnector3">
            <a:avLst>
              <a:gd name="adj1" fmla="val 50000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90" name="Picture 2" descr="AWS VPC Icon SVG Vector &amp; PNG Free Download | UXWing">
            <a:extLst>
              <a:ext uri="{FF2B5EF4-FFF2-40B4-BE49-F238E27FC236}">
                <a16:creationId xmlns:a16="http://schemas.microsoft.com/office/drawing/2014/main" id="{CDE95501-7333-AF81-8FD8-BAAF6642C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63" y="1025673"/>
            <a:ext cx="832827" cy="83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1" name="TextBox 10270">
            <a:extLst>
              <a:ext uri="{FF2B5EF4-FFF2-40B4-BE49-F238E27FC236}">
                <a16:creationId xmlns:a16="http://schemas.microsoft.com/office/drawing/2014/main" id="{1CB9FF93-7BD4-0A51-4DF5-D13296289A88}"/>
              </a:ext>
            </a:extLst>
          </p:cNvPr>
          <p:cNvSpPr txBox="1"/>
          <p:nvPr/>
        </p:nvSpPr>
        <p:spPr>
          <a:xfrm>
            <a:off x="726830" y="1742111"/>
            <a:ext cx="1197764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AZ Subnet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0272" name="TextBox 10271">
            <a:extLst>
              <a:ext uri="{FF2B5EF4-FFF2-40B4-BE49-F238E27FC236}">
                <a16:creationId xmlns:a16="http://schemas.microsoft.com/office/drawing/2014/main" id="{63428581-578F-C8AB-8F3B-FAA6BE605AFC}"/>
              </a:ext>
            </a:extLst>
          </p:cNvPr>
          <p:cNvSpPr txBox="1"/>
          <p:nvPr/>
        </p:nvSpPr>
        <p:spPr>
          <a:xfrm>
            <a:off x="4337657" y="1746891"/>
            <a:ext cx="1197764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AZ Subnet</a:t>
            </a:r>
          </a:p>
        </p:txBody>
      </p:sp>
      <p:pic>
        <p:nvPicPr>
          <p:cNvPr id="12292" name="Picture 4" descr="amazon #aws #icon #symbols #svg ...">
            <a:extLst>
              <a:ext uri="{FF2B5EF4-FFF2-40B4-BE49-F238E27FC236}">
                <a16:creationId xmlns:a16="http://schemas.microsoft.com/office/drawing/2014/main" id="{BA905626-13FD-A087-EE86-4CA2FA1AC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244" y="5097165"/>
            <a:ext cx="1725584" cy="105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4" name="TextBox 10273">
            <a:extLst>
              <a:ext uri="{FF2B5EF4-FFF2-40B4-BE49-F238E27FC236}">
                <a16:creationId xmlns:a16="http://schemas.microsoft.com/office/drawing/2014/main" id="{CDE9D4E5-9D89-6883-FC63-0D857958C5DC}"/>
              </a:ext>
            </a:extLst>
          </p:cNvPr>
          <p:cNvSpPr txBox="1"/>
          <p:nvPr/>
        </p:nvSpPr>
        <p:spPr>
          <a:xfrm>
            <a:off x="6155001" y="4420080"/>
            <a:ext cx="168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68633"/>
                </a:solidFill>
              </a:rPr>
              <a:t>Regional AWS </a:t>
            </a:r>
            <a:br>
              <a:rPr lang="en-US" b="1" dirty="0">
                <a:solidFill>
                  <a:srgbClr val="F68633"/>
                </a:solidFill>
              </a:rPr>
            </a:br>
            <a:r>
              <a:rPr lang="en-US" b="1" dirty="0">
                <a:solidFill>
                  <a:srgbClr val="F68633"/>
                </a:solidFill>
              </a:rPr>
              <a:t>Services</a:t>
            </a:r>
          </a:p>
        </p:txBody>
      </p:sp>
      <p:sp>
        <p:nvSpPr>
          <p:cNvPr id="10278" name="TextBox 10277">
            <a:extLst>
              <a:ext uri="{FF2B5EF4-FFF2-40B4-BE49-F238E27FC236}">
                <a16:creationId xmlns:a16="http://schemas.microsoft.com/office/drawing/2014/main" id="{B18FC7EC-E1E3-2B5E-8162-4E3DE2EF605B}"/>
              </a:ext>
            </a:extLst>
          </p:cNvPr>
          <p:cNvSpPr txBox="1"/>
          <p:nvPr/>
        </p:nvSpPr>
        <p:spPr>
          <a:xfrm>
            <a:off x="1232964" y="1296149"/>
            <a:ext cx="1379737" cy="369332"/>
          </a:xfrm>
          <a:prstGeom prst="rect">
            <a:avLst/>
          </a:prstGeom>
          <a:solidFill>
            <a:srgbClr val="F68633"/>
          </a:solidFill>
          <a:ln>
            <a:solidFill>
              <a:srgbClr val="F6863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AWS Region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53E8CE6-AA74-8355-92C1-C983EE99E4DF}"/>
              </a:ext>
            </a:extLst>
          </p:cNvPr>
          <p:cNvSpPr/>
          <p:nvPr/>
        </p:nvSpPr>
        <p:spPr>
          <a:xfrm>
            <a:off x="2193774" y="746550"/>
            <a:ext cx="3138331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0626392-7C3C-293B-05A9-182EF6D8B989}"/>
              </a:ext>
            </a:extLst>
          </p:cNvPr>
          <p:cNvSpPr/>
          <p:nvPr/>
        </p:nvSpPr>
        <p:spPr>
          <a:xfrm>
            <a:off x="5875536" y="766214"/>
            <a:ext cx="2062941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71B98D-5626-12BB-9696-3ABD7CE33094}"/>
              </a:ext>
            </a:extLst>
          </p:cNvPr>
          <p:cNvSpPr txBox="1"/>
          <p:nvPr/>
        </p:nvSpPr>
        <p:spPr>
          <a:xfrm>
            <a:off x="2223988" y="78424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nnnnnnnn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45BD64-5091-D384-C8E7-EAB707CA0A44}"/>
              </a:ext>
            </a:extLst>
          </p:cNvPr>
          <p:cNvSpPr txBox="1"/>
          <p:nvPr/>
        </p:nvSpPr>
        <p:spPr>
          <a:xfrm>
            <a:off x="3697191" y="78424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nnnnnnnn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87B726-240F-69D1-25D2-840147277A7D}"/>
              </a:ext>
            </a:extLst>
          </p:cNvPr>
          <p:cNvSpPr txBox="1"/>
          <p:nvPr/>
        </p:nvSpPr>
        <p:spPr>
          <a:xfrm>
            <a:off x="5068794" y="790599"/>
            <a:ext cx="15392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sss</a:t>
            </a:r>
            <a:r>
              <a:rPr lang="en-US" sz="12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hhhh</a:t>
            </a:r>
            <a:endParaRPr lang="en-US" sz="2000" dirty="0">
              <a:solidFill>
                <a:srgbClr val="F6863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730BFC-0F5A-2A94-3156-2F45CFE0F1AF}"/>
              </a:ext>
            </a:extLst>
          </p:cNvPr>
          <p:cNvSpPr txBox="1"/>
          <p:nvPr/>
        </p:nvSpPr>
        <p:spPr>
          <a:xfrm>
            <a:off x="6643597" y="78424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hhhhhhhh</a:t>
            </a:r>
            <a:endParaRPr lang="en-US" sz="2000" dirty="0">
              <a:solidFill>
                <a:srgbClr val="F6863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AF828CD-F853-70AB-0C93-FC06297E4442}"/>
              </a:ext>
            </a:extLst>
          </p:cNvPr>
          <p:cNvSpPr/>
          <p:nvPr/>
        </p:nvSpPr>
        <p:spPr>
          <a:xfrm>
            <a:off x="5351222" y="763772"/>
            <a:ext cx="498548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66FBAC-F99C-605D-824F-8B244678031E}"/>
              </a:ext>
            </a:extLst>
          </p:cNvPr>
          <p:cNvSpPr txBox="1"/>
          <p:nvPr/>
        </p:nvSpPr>
        <p:spPr>
          <a:xfrm>
            <a:off x="1922832" y="1755579"/>
            <a:ext cx="554960" cy="369332"/>
          </a:xfrm>
          <a:prstGeom prst="rect">
            <a:avLst/>
          </a:prstGeom>
          <a:solidFill>
            <a:srgbClr val="7030A0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000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A882BA-80A5-84CA-5BDE-A33770FA659F}"/>
              </a:ext>
            </a:extLst>
          </p:cNvPr>
          <p:cNvSpPr txBox="1"/>
          <p:nvPr/>
        </p:nvSpPr>
        <p:spPr>
          <a:xfrm>
            <a:off x="5519202" y="1732772"/>
            <a:ext cx="554960" cy="369332"/>
          </a:xfrm>
          <a:prstGeom prst="rect">
            <a:avLst/>
          </a:prstGeom>
          <a:solidFill>
            <a:srgbClr val="7030A0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6B3CCD-95CE-7F64-B2D1-7C90CF63F0E0}"/>
              </a:ext>
            </a:extLst>
          </p:cNvPr>
          <p:cNvSpPr txBox="1"/>
          <p:nvPr/>
        </p:nvSpPr>
        <p:spPr>
          <a:xfrm>
            <a:off x="2612701" y="4001468"/>
            <a:ext cx="1197764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AZ Subnet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D3B9E2-A7FE-073E-F6F6-E7BC36B539FA}"/>
              </a:ext>
            </a:extLst>
          </p:cNvPr>
          <p:cNvSpPr txBox="1"/>
          <p:nvPr/>
        </p:nvSpPr>
        <p:spPr>
          <a:xfrm>
            <a:off x="3794246" y="4007013"/>
            <a:ext cx="554960" cy="369332"/>
          </a:xfrm>
          <a:prstGeom prst="rect">
            <a:avLst/>
          </a:prstGeom>
          <a:solidFill>
            <a:srgbClr val="7030A0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010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F58211-9DBD-E06A-755E-1561B0CC3C11}"/>
              </a:ext>
            </a:extLst>
          </p:cNvPr>
          <p:cNvCxnSpPr>
            <a:stCxn id="25" idx="2"/>
            <a:endCxn id="29" idx="0"/>
          </p:cNvCxnSpPr>
          <p:nvPr/>
        </p:nvCxnSpPr>
        <p:spPr>
          <a:xfrm flipH="1">
            <a:off x="4071726" y="1256203"/>
            <a:ext cx="1528770" cy="275081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35AF818-446C-B7E2-7A4E-6B878A9AACFD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5600496" y="1256203"/>
            <a:ext cx="196186" cy="47656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5CAF509-B34E-DC5F-453E-3CBF27F0EE75}"/>
              </a:ext>
            </a:extLst>
          </p:cNvPr>
          <p:cNvCxnSpPr>
            <a:cxnSpLocks/>
            <a:stCxn id="25" idx="2"/>
            <a:endCxn id="26" idx="3"/>
          </p:cNvCxnSpPr>
          <p:nvPr/>
        </p:nvCxnSpPr>
        <p:spPr>
          <a:xfrm flipH="1">
            <a:off x="2477792" y="1256203"/>
            <a:ext cx="3122704" cy="68404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93C7A58-92F5-9A41-E3A9-B4B819A213D8}"/>
              </a:ext>
            </a:extLst>
          </p:cNvPr>
          <p:cNvSpPr txBox="1"/>
          <p:nvPr/>
        </p:nvSpPr>
        <p:spPr>
          <a:xfrm>
            <a:off x="8387350" y="1593788"/>
            <a:ext cx="34707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subnets is critical to create cloud native architectures deployed to VPCs.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Resources deployed to in different AZs must be placed in distinct subnets.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ABAF97-8174-CF92-1E31-450F36F5D8B4}"/>
              </a:ext>
            </a:extLst>
          </p:cNvPr>
          <p:cNvSpPr txBox="1"/>
          <p:nvPr/>
        </p:nvSpPr>
        <p:spPr>
          <a:xfrm>
            <a:off x="222976" y="6337187"/>
            <a:ext cx="8576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Example:  Splitting a /17 network into 8 distinct /20 networks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4DD37D-DAAA-C521-7AF3-DBEA29408398}"/>
              </a:ext>
            </a:extLst>
          </p:cNvPr>
          <p:cNvSpPr txBox="1"/>
          <p:nvPr/>
        </p:nvSpPr>
        <p:spPr>
          <a:xfrm>
            <a:off x="9806839" y="3927926"/>
            <a:ext cx="562783" cy="461665"/>
          </a:xfrm>
          <a:prstGeom prst="rect">
            <a:avLst/>
          </a:prstGeom>
          <a:solidFill>
            <a:srgbClr val="7030A0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txy</a:t>
            </a:r>
            <a:endParaRPr lang="en-US" sz="2400" b="1" dirty="0">
              <a:solidFill>
                <a:srgbClr val="7030A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A3A44E-6E1F-9C64-F2BC-6F32498948CA}"/>
              </a:ext>
            </a:extLst>
          </p:cNvPr>
          <p:cNvSpPr txBox="1"/>
          <p:nvPr/>
        </p:nvSpPr>
        <p:spPr>
          <a:xfrm>
            <a:off x="8799872" y="4719484"/>
            <a:ext cx="32938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t: First bit 0 = production, 1 = dev/test</a:t>
            </a:r>
          </a:p>
          <a:p>
            <a:endParaRPr lang="en-US" dirty="0"/>
          </a:p>
          <a:p>
            <a:r>
              <a:rPr lang="en-US" dirty="0"/>
              <a:t>{</a:t>
            </a:r>
            <a:r>
              <a:rPr lang="en-US" dirty="0" err="1"/>
              <a:t>xy</a:t>
            </a:r>
            <a:r>
              <a:rPr lang="en-US" dirty="0"/>
              <a:t>} = VPC ID, can support up to 4 distinct VPCs</a:t>
            </a:r>
          </a:p>
        </p:txBody>
      </p:sp>
    </p:spTree>
    <p:extLst>
      <p:ext uri="{BB962C8B-B14F-4D97-AF65-F5344CB8AC3E}">
        <p14:creationId xmlns:p14="http://schemas.microsoft.com/office/powerpoint/2010/main" val="176090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9062-CB5E-E7AC-E7D3-AB8771C58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8B67-8E99-FCD3-F4ED-DAFB8A7E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134"/>
            <a:ext cx="10515600" cy="762539"/>
          </a:xfrm>
        </p:spPr>
        <p:txBody>
          <a:bodyPr/>
          <a:lstStyle/>
          <a:p>
            <a:r>
              <a:rPr lang="en-US" dirty="0"/>
              <a:t>VPCs– Software Datacenter Clusters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2ED9E-4EF2-F4D1-D681-6C62D822F86C}"/>
              </a:ext>
            </a:extLst>
          </p:cNvPr>
          <p:cNvSpPr/>
          <p:nvPr/>
        </p:nvSpPr>
        <p:spPr>
          <a:xfrm>
            <a:off x="381977" y="1660337"/>
            <a:ext cx="7556500" cy="4670120"/>
          </a:xfrm>
          <a:prstGeom prst="rect">
            <a:avLst/>
          </a:prstGeom>
          <a:noFill/>
          <a:ln w="38100"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CCE91-3FAF-FBDD-3CDF-AAC29473D6C7}"/>
              </a:ext>
            </a:extLst>
          </p:cNvPr>
          <p:cNvSpPr/>
          <p:nvPr/>
        </p:nvSpPr>
        <p:spPr>
          <a:xfrm>
            <a:off x="750277" y="2131641"/>
            <a:ext cx="3048000" cy="17319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7B40A8-60E6-24FD-49E0-F9767226815E}"/>
              </a:ext>
            </a:extLst>
          </p:cNvPr>
          <p:cNvSpPr/>
          <p:nvPr/>
        </p:nvSpPr>
        <p:spPr>
          <a:xfrm>
            <a:off x="4344377" y="2119918"/>
            <a:ext cx="3225800" cy="17319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41D229-BD5C-54AD-D970-6016DD6E5C82}"/>
              </a:ext>
            </a:extLst>
          </p:cNvPr>
          <p:cNvSpPr/>
          <p:nvPr/>
        </p:nvSpPr>
        <p:spPr>
          <a:xfrm>
            <a:off x="2630827" y="4396151"/>
            <a:ext cx="3048000" cy="17319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62" name="Elbow Connector 10261">
            <a:extLst>
              <a:ext uri="{FF2B5EF4-FFF2-40B4-BE49-F238E27FC236}">
                <a16:creationId xmlns:a16="http://schemas.microsoft.com/office/drawing/2014/main" id="{1F4BBB0B-B9DB-195B-70C0-CCF058AE20C0}"/>
              </a:ext>
            </a:extLst>
          </p:cNvPr>
          <p:cNvCxnSpPr>
            <a:cxnSpLocks/>
            <a:stCxn id="5" idx="2"/>
            <a:endCxn id="14" idx="1"/>
          </p:cNvCxnSpPr>
          <p:nvPr/>
        </p:nvCxnSpPr>
        <p:spPr>
          <a:xfrm rot="16200000" flipH="1">
            <a:off x="1753288" y="4384593"/>
            <a:ext cx="1398529" cy="356550"/>
          </a:xfrm>
          <a:prstGeom prst="bentConnector2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5" name="Elbow Connector 10264">
            <a:extLst>
              <a:ext uri="{FF2B5EF4-FFF2-40B4-BE49-F238E27FC236}">
                <a16:creationId xmlns:a16="http://schemas.microsoft.com/office/drawing/2014/main" id="{EBF0F059-F43C-8423-E269-BC3DCC293ECD}"/>
              </a:ext>
            </a:extLst>
          </p:cNvPr>
          <p:cNvCxnSpPr>
            <a:cxnSpLocks/>
            <a:stCxn id="9" idx="2"/>
            <a:endCxn id="14" idx="3"/>
          </p:cNvCxnSpPr>
          <p:nvPr/>
        </p:nvCxnSpPr>
        <p:spPr>
          <a:xfrm rot="5400000">
            <a:off x="5112926" y="4417782"/>
            <a:ext cx="1410252" cy="278450"/>
          </a:xfrm>
          <a:prstGeom prst="bentConnector2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8" name="Elbow Connector 10267">
            <a:extLst>
              <a:ext uri="{FF2B5EF4-FFF2-40B4-BE49-F238E27FC236}">
                <a16:creationId xmlns:a16="http://schemas.microsoft.com/office/drawing/2014/main" id="{40865ED1-289D-6984-69C6-59D2E13F1A4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3798277" y="2985900"/>
            <a:ext cx="546100" cy="11723"/>
          </a:xfrm>
          <a:prstGeom prst="bentConnector3">
            <a:avLst>
              <a:gd name="adj1" fmla="val 50000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90" name="Picture 2" descr="AWS VPC Icon SVG Vector &amp; PNG Free Download | UXWing">
            <a:extLst>
              <a:ext uri="{FF2B5EF4-FFF2-40B4-BE49-F238E27FC236}">
                <a16:creationId xmlns:a16="http://schemas.microsoft.com/office/drawing/2014/main" id="{E7DC8EAF-00D7-716C-5274-8EE5BD78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63" y="1025673"/>
            <a:ext cx="832827" cy="83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1" name="TextBox 10270">
            <a:extLst>
              <a:ext uri="{FF2B5EF4-FFF2-40B4-BE49-F238E27FC236}">
                <a16:creationId xmlns:a16="http://schemas.microsoft.com/office/drawing/2014/main" id="{90ADFFA2-0739-550F-E41E-3BB9B65C3BE6}"/>
              </a:ext>
            </a:extLst>
          </p:cNvPr>
          <p:cNvSpPr txBox="1"/>
          <p:nvPr/>
        </p:nvSpPr>
        <p:spPr>
          <a:xfrm>
            <a:off x="726830" y="1742111"/>
            <a:ext cx="1197764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AZ Subnet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0272" name="TextBox 10271">
            <a:extLst>
              <a:ext uri="{FF2B5EF4-FFF2-40B4-BE49-F238E27FC236}">
                <a16:creationId xmlns:a16="http://schemas.microsoft.com/office/drawing/2014/main" id="{22057243-84F6-EDD2-4805-026A5840AC41}"/>
              </a:ext>
            </a:extLst>
          </p:cNvPr>
          <p:cNvSpPr txBox="1"/>
          <p:nvPr/>
        </p:nvSpPr>
        <p:spPr>
          <a:xfrm>
            <a:off x="4337657" y="1746891"/>
            <a:ext cx="1197764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AZ Subnet</a:t>
            </a:r>
          </a:p>
        </p:txBody>
      </p:sp>
      <p:pic>
        <p:nvPicPr>
          <p:cNvPr id="12292" name="Picture 4" descr="amazon #aws #icon #symbols #svg ...">
            <a:extLst>
              <a:ext uri="{FF2B5EF4-FFF2-40B4-BE49-F238E27FC236}">
                <a16:creationId xmlns:a16="http://schemas.microsoft.com/office/drawing/2014/main" id="{965C850D-5F8A-3C92-41E4-1AA5A5956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244" y="5097165"/>
            <a:ext cx="1725584" cy="105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4" name="TextBox 10273">
            <a:extLst>
              <a:ext uri="{FF2B5EF4-FFF2-40B4-BE49-F238E27FC236}">
                <a16:creationId xmlns:a16="http://schemas.microsoft.com/office/drawing/2014/main" id="{9AA59675-EE4F-4C85-59A6-9DA4ECB016B4}"/>
              </a:ext>
            </a:extLst>
          </p:cNvPr>
          <p:cNvSpPr txBox="1"/>
          <p:nvPr/>
        </p:nvSpPr>
        <p:spPr>
          <a:xfrm>
            <a:off x="6155001" y="4420080"/>
            <a:ext cx="168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68633"/>
                </a:solidFill>
              </a:rPr>
              <a:t>Regional AWS </a:t>
            </a:r>
            <a:br>
              <a:rPr lang="en-US" b="1" dirty="0">
                <a:solidFill>
                  <a:srgbClr val="F68633"/>
                </a:solidFill>
              </a:rPr>
            </a:br>
            <a:r>
              <a:rPr lang="en-US" b="1" dirty="0">
                <a:solidFill>
                  <a:srgbClr val="F68633"/>
                </a:solidFill>
              </a:rPr>
              <a:t>Services</a:t>
            </a:r>
          </a:p>
        </p:txBody>
      </p:sp>
      <p:sp>
        <p:nvSpPr>
          <p:cNvPr id="10278" name="TextBox 10277">
            <a:extLst>
              <a:ext uri="{FF2B5EF4-FFF2-40B4-BE49-F238E27FC236}">
                <a16:creationId xmlns:a16="http://schemas.microsoft.com/office/drawing/2014/main" id="{F1822BBC-6496-7A76-EBA7-FDDB2B81A8C0}"/>
              </a:ext>
            </a:extLst>
          </p:cNvPr>
          <p:cNvSpPr txBox="1"/>
          <p:nvPr/>
        </p:nvSpPr>
        <p:spPr>
          <a:xfrm>
            <a:off x="1232964" y="1296149"/>
            <a:ext cx="1379737" cy="369332"/>
          </a:xfrm>
          <a:prstGeom prst="rect">
            <a:avLst/>
          </a:prstGeom>
          <a:solidFill>
            <a:srgbClr val="F68633"/>
          </a:solidFill>
          <a:ln>
            <a:solidFill>
              <a:srgbClr val="F68633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AWS Region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D205A32-FD54-F343-EB76-24881EF0CA24}"/>
              </a:ext>
            </a:extLst>
          </p:cNvPr>
          <p:cNvSpPr/>
          <p:nvPr/>
        </p:nvSpPr>
        <p:spPr>
          <a:xfrm>
            <a:off x="2193774" y="746550"/>
            <a:ext cx="3138331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216F73A-6CAD-BDEA-A6A4-56DE4B4E945A}"/>
              </a:ext>
            </a:extLst>
          </p:cNvPr>
          <p:cNvSpPr/>
          <p:nvPr/>
        </p:nvSpPr>
        <p:spPr>
          <a:xfrm>
            <a:off x="6561724" y="766214"/>
            <a:ext cx="1386585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F68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A885E1-8EBA-B95B-A7F9-997B3D064100}"/>
              </a:ext>
            </a:extLst>
          </p:cNvPr>
          <p:cNvSpPr txBox="1"/>
          <p:nvPr/>
        </p:nvSpPr>
        <p:spPr>
          <a:xfrm>
            <a:off x="2223988" y="78424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nnnnnnnn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094B51-D8E2-94BE-BABB-6EAA5EE10FE6}"/>
              </a:ext>
            </a:extLst>
          </p:cNvPr>
          <p:cNvSpPr txBox="1"/>
          <p:nvPr/>
        </p:nvSpPr>
        <p:spPr>
          <a:xfrm>
            <a:off x="3697191" y="78424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nnnnnnnn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C568E2-07E7-C2B3-92CF-283FE2909E63}"/>
              </a:ext>
            </a:extLst>
          </p:cNvPr>
          <p:cNvSpPr txBox="1"/>
          <p:nvPr/>
        </p:nvSpPr>
        <p:spPr>
          <a:xfrm>
            <a:off x="5068794" y="790599"/>
            <a:ext cx="1483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sss</a:t>
            </a:r>
            <a:r>
              <a:rPr lang="en-US" sz="1200" dirty="0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aaaa</a:t>
            </a:r>
            <a:endParaRPr lang="en-US" sz="20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E381A5-2074-BFD1-31C3-7019CE9F772B}"/>
              </a:ext>
            </a:extLst>
          </p:cNvPr>
          <p:cNvSpPr txBox="1"/>
          <p:nvPr/>
        </p:nvSpPr>
        <p:spPr>
          <a:xfrm>
            <a:off x="6643597" y="784249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F686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hhhhhhhh</a:t>
            </a:r>
            <a:endParaRPr lang="en-US" sz="2000" dirty="0">
              <a:solidFill>
                <a:srgbClr val="F6863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FD46DD7-CED7-7AD4-FAF2-9E587AD34B7D}"/>
              </a:ext>
            </a:extLst>
          </p:cNvPr>
          <p:cNvSpPr/>
          <p:nvPr/>
        </p:nvSpPr>
        <p:spPr>
          <a:xfrm>
            <a:off x="5351222" y="763772"/>
            <a:ext cx="498548" cy="492431"/>
          </a:xfrm>
          <a:prstGeom prst="roundRect">
            <a:avLst>
              <a:gd name="adj" fmla="val 773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30D29-DD84-A3FF-3B7C-BBFEF5F5EEA1}"/>
              </a:ext>
            </a:extLst>
          </p:cNvPr>
          <p:cNvSpPr txBox="1"/>
          <p:nvPr/>
        </p:nvSpPr>
        <p:spPr>
          <a:xfrm>
            <a:off x="1922832" y="1755579"/>
            <a:ext cx="554960" cy="369332"/>
          </a:xfrm>
          <a:prstGeom prst="rect">
            <a:avLst/>
          </a:prstGeom>
          <a:solidFill>
            <a:srgbClr val="7030A0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000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FE169D-007F-0416-C202-A9D8F219209D}"/>
              </a:ext>
            </a:extLst>
          </p:cNvPr>
          <p:cNvSpPr txBox="1"/>
          <p:nvPr/>
        </p:nvSpPr>
        <p:spPr>
          <a:xfrm>
            <a:off x="5519202" y="1732772"/>
            <a:ext cx="554960" cy="369332"/>
          </a:xfrm>
          <a:prstGeom prst="rect">
            <a:avLst/>
          </a:prstGeom>
          <a:solidFill>
            <a:srgbClr val="7030A0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F794FA-CC17-356A-0E34-9B8FEE625126}"/>
              </a:ext>
            </a:extLst>
          </p:cNvPr>
          <p:cNvSpPr txBox="1"/>
          <p:nvPr/>
        </p:nvSpPr>
        <p:spPr>
          <a:xfrm>
            <a:off x="2612701" y="4001468"/>
            <a:ext cx="1197764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AZ Subnet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D610EE-C4FD-43D0-A415-FB98E155A291}"/>
              </a:ext>
            </a:extLst>
          </p:cNvPr>
          <p:cNvSpPr txBox="1"/>
          <p:nvPr/>
        </p:nvSpPr>
        <p:spPr>
          <a:xfrm>
            <a:off x="3794246" y="4007013"/>
            <a:ext cx="554960" cy="369332"/>
          </a:xfrm>
          <a:prstGeom prst="rect">
            <a:avLst/>
          </a:prstGeom>
          <a:solidFill>
            <a:srgbClr val="7030A0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010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6C8B5D-1BA0-DAAC-8451-BAB20B32B546}"/>
              </a:ext>
            </a:extLst>
          </p:cNvPr>
          <p:cNvCxnSpPr>
            <a:stCxn id="25" idx="2"/>
            <a:endCxn id="29" idx="0"/>
          </p:cNvCxnSpPr>
          <p:nvPr/>
        </p:nvCxnSpPr>
        <p:spPr>
          <a:xfrm flipH="1">
            <a:off x="4071726" y="1256203"/>
            <a:ext cx="1528770" cy="275081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587807E-E10F-7AE3-14E8-0AF5381ED99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5600496" y="1256203"/>
            <a:ext cx="196186" cy="47656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83201A3-D8EC-0D69-6559-91A6E81343CB}"/>
              </a:ext>
            </a:extLst>
          </p:cNvPr>
          <p:cNvCxnSpPr>
            <a:cxnSpLocks/>
            <a:stCxn id="25" idx="2"/>
            <a:endCxn id="26" idx="3"/>
          </p:cNvCxnSpPr>
          <p:nvPr/>
        </p:nvCxnSpPr>
        <p:spPr>
          <a:xfrm flipH="1">
            <a:off x="2477792" y="1256203"/>
            <a:ext cx="3122704" cy="68404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1D9815D-4D55-1EB6-D49D-E6A396C384D7}"/>
              </a:ext>
            </a:extLst>
          </p:cNvPr>
          <p:cNvSpPr txBox="1"/>
          <p:nvPr/>
        </p:nvSpPr>
        <p:spPr>
          <a:xfrm>
            <a:off x="8276901" y="2344741"/>
            <a:ext cx="34707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process can continue by further splitting the address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this example, using 4 bits to describe the contents of a subnet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 0001 = finance databases, 0010 = web databases, 1000 = public APIs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9853A2-290B-C533-F2D8-DB6F3BA93418}"/>
              </a:ext>
            </a:extLst>
          </p:cNvPr>
          <p:cNvSpPr txBox="1"/>
          <p:nvPr/>
        </p:nvSpPr>
        <p:spPr>
          <a:xfrm>
            <a:off x="222976" y="6337187"/>
            <a:ext cx="8741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Example:  Splitting a /20 network into 16 distinct /24 networks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2F3FACA-5D46-F192-1521-48E85DF3ADAE}"/>
              </a:ext>
            </a:extLst>
          </p:cNvPr>
          <p:cNvSpPr/>
          <p:nvPr/>
        </p:nvSpPr>
        <p:spPr>
          <a:xfrm>
            <a:off x="5877247" y="758855"/>
            <a:ext cx="661893" cy="492431"/>
          </a:xfrm>
          <a:prstGeom prst="roundRect">
            <a:avLst>
              <a:gd name="adj" fmla="val 7730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761851-92DB-A77A-163C-7B5B7FC03B28}"/>
              </a:ext>
            </a:extLst>
          </p:cNvPr>
          <p:cNvSpPr txBox="1"/>
          <p:nvPr/>
        </p:nvSpPr>
        <p:spPr>
          <a:xfrm>
            <a:off x="6702198" y="2269440"/>
            <a:ext cx="678391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0011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270F655-69A5-554C-9927-3F0E810D6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544" y="2922672"/>
            <a:ext cx="1743753" cy="86467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365E46C-A64E-0A7E-A549-BB016021A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936" y="4884773"/>
            <a:ext cx="915003" cy="91500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8FB0DC7-57E5-8701-E662-B729C30273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141" y="2612976"/>
            <a:ext cx="1596538" cy="885353"/>
          </a:xfrm>
          <a:prstGeom prst="rect">
            <a:avLst/>
          </a:prstGeom>
          <a:ln>
            <a:noFill/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0C7FE08-9A1F-3493-D660-97DE4B7F533F}"/>
              </a:ext>
            </a:extLst>
          </p:cNvPr>
          <p:cNvSpPr txBox="1"/>
          <p:nvPr/>
        </p:nvSpPr>
        <p:spPr>
          <a:xfrm>
            <a:off x="6698753" y="2707416"/>
            <a:ext cx="678391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0010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6B43B0-9701-1C24-1D64-6C2CB528DFEF}"/>
              </a:ext>
            </a:extLst>
          </p:cNvPr>
          <p:cNvSpPr txBox="1"/>
          <p:nvPr/>
        </p:nvSpPr>
        <p:spPr>
          <a:xfrm>
            <a:off x="6695308" y="3145392"/>
            <a:ext cx="678391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1011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D998C7-49E9-7C3E-41E2-4AD516B180C7}"/>
              </a:ext>
            </a:extLst>
          </p:cNvPr>
          <p:cNvSpPr txBox="1"/>
          <p:nvPr/>
        </p:nvSpPr>
        <p:spPr>
          <a:xfrm>
            <a:off x="4758193" y="4583740"/>
            <a:ext cx="678391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0011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FAED76-6AC8-E5EC-4D92-9E4523340CB7}"/>
              </a:ext>
            </a:extLst>
          </p:cNvPr>
          <p:cNvSpPr txBox="1"/>
          <p:nvPr/>
        </p:nvSpPr>
        <p:spPr>
          <a:xfrm>
            <a:off x="4754748" y="5021716"/>
            <a:ext cx="678391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1110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3A5B86-39E6-7B04-E58A-01E7206466A2}"/>
              </a:ext>
            </a:extLst>
          </p:cNvPr>
          <p:cNvSpPr txBox="1"/>
          <p:nvPr/>
        </p:nvSpPr>
        <p:spPr>
          <a:xfrm>
            <a:off x="4751303" y="5459692"/>
            <a:ext cx="678391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1011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DEDA05-09FC-4C1F-30CC-1B98EE939D90}"/>
              </a:ext>
            </a:extLst>
          </p:cNvPr>
          <p:cNvSpPr txBox="1"/>
          <p:nvPr/>
        </p:nvSpPr>
        <p:spPr>
          <a:xfrm>
            <a:off x="932371" y="2344741"/>
            <a:ext cx="678391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0011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C2AA2A-DAFB-BF4E-A2F2-7D58051F8835}"/>
              </a:ext>
            </a:extLst>
          </p:cNvPr>
          <p:cNvSpPr txBox="1"/>
          <p:nvPr/>
        </p:nvSpPr>
        <p:spPr>
          <a:xfrm>
            <a:off x="928926" y="2782717"/>
            <a:ext cx="678391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1110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A84A3E-EE74-3A17-8B03-24A9F6A5C015}"/>
              </a:ext>
            </a:extLst>
          </p:cNvPr>
          <p:cNvSpPr txBox="1"/>
          <p:nvPr/>
        </p:nvSpPr>
        <p:spPr>
          <a:xfrm>
            <a:off x="925481" y="3220693"/>
            <a:ext cx="678391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0001</a:t>
            </a: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787CD53-5536-9465-0E5A-F19458E1D01C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6178024" y="1263262"/>
            <a:ext cx="863370" cy="100617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D46FB9D-F828-8FE8-557F-5529684E87ED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1570877" y="1251286"/>
            <a:ext cx="4637317" cy="107368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DDED096-273C-4234-368F-74825E1458BA}"/>
              </a:ext>
            </a:extLst>
          </p:cNvPr>
          <p:cNvCxnSpPr>
            <a:cxnSpLocks/>
            <a:stCxn id="30" idx="2"/>
            <a:endCxn id="47" idx="0"/>
          </p:cNvCxnSpPr>
          <p:nvPr/>
        </p:nvCxnSpPr>
        <p:spPr>
          <a:xfrm flipH="1">
            <a:off x="5097389" y="1251286"/>
            <a:ext cx="1110805" cy="3332454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095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DB46-2276-42FF-A6C1-DA2B5ABB9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7C05-C4AA-00F6-7E35-22433BA3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-183767"/>
            <a:ext cx="10515600" cy="1325563"/>
          </a:xfrm>
        </p:spPr>
        <p:txBody>
          <a:bodyPr/>
          <a:lstStyle/>
          <a:p>
            <a:r>
              <a:rPr lang="en-US" dirty="0"/>
              <a:t>Private and Public Network Addresses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39A123-FB78-D1CC-33BC-9ABBBD303B4E}"/>
              </a:ext>
            </a:extLst>
          </p:cNvPr>
          <p:cNvSpPr txBox="1"/>
          <p:nvPr/>
        </p:nvSpPr>
        <p:spPr>
          <a:xfrm>
            <a:off x="622693" y="1023209"/>
            <a:ext cx="8306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RFC 1918 Defined 3 Private (Non-Routable) address ranges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BB11C1-AF21-49D6-AEFC-0FAC85A4F2A9}"/>
              </a:ext>
            </a:extLst>
          </p:cNvPr>
          <p:cNvSpPr txBox="1"/>
          <p:nvPr/>
        </p:nvSpPr>
        <p:spPr>
          <a:xfrm>
            <a:off x="622693" y="1484874"/>
            <a:ext cx="25506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10.0.0.0/8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172.16.0.0/12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192.168.0.0/16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C1FF41B-957D-E066-C43A-D1524ABA141E}"/>
              </a:ext>
            </a:extLst>
          </p:cNvPr>
          <p:cNvSpPr/>
          <p:nvPr/>
        </p:nvSpPr>
        <p:spPr>
          <a:xfrm>
            <a:off x="3173391" y="1484874"/>
            <a:ext cx="388516" cy="11094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F211A-40F4-3780-1B8E-6F567548838F}"/>
              </a:ext>
            </a:extLst>
          </p:cNvPr>
          <p:cNvSpPr txBox="1"/>
          <p:nvPr/>
        </p:nvSpPr>
        <p:spPr>
          <a:xfrm>
            <a:off x="3848987" y="1531777"/>
            <a:ext cx="70919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Any IP addresses in these ranges are considered to be non-routable on the </a:t>
            </a:r>
            <a:r>
              <a:rPr lang="en-US" sz="2000" b="1" dirty="0">
                <a:solidFill>
                  <a:srgbClr val="7030A0"/>
                </a:solidFill>
              </a:rPr>
              <a:t>public internet</a:t>
            </a:r>
            <a:r>
              <a:rPr lang="en-US" sz="2000" dirty="0"/>
              <a:t>.  Thus any addresses in these ranges are considered to be on a </a:t>
            </a:r>
            <a:r>
              <a:rPr lang="en-US" sz="2000" b="1" dirty="0">
                <a:solidFill>
                  <a:srgbClr val="7030A0"/>
                </a:solidFill>
              </a:rPr>
              <a:t>private network</a:t>
            </a:r>
          </a:p>
        </p:txBody>
      </p:sp>
      <p:pic>
        <p:nvPicPr>
          <p:cNvPr id="22530" name="Picture 2" descr="Cloud Storage Icon Padlock Symbol ...">
            <a:extLst>
              <a:ext uri="{FF2B5EF4-FFF2-40B4-BE49-F238E27FC236}">
                <a16:creationId xmlns:a16="http://schemas.microsoft.com/office/drawing/2014/main" id="{AEFB316C-973A-DC64-1F8D-6342EFBBD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3" t="17857" r="21046" b="10382"/>
          <a:stretch>
            <a:fillRect/>
          </a:stretch>
        </p:blipFill>
        <p:spPr bwMode="auto">
          <a:xfrm>
            <a:off x="2594347" y="3117715"/>
            <a:ext cx="2743200" cy="1936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Internet Cloud Icons - Free SVG &amp; PNG ...">
            <a:extLst>
              <a:ext uri="{FF2B5EF4-FFF2-40B4-BE49-F238E27FC236}">
                <a16:creationId xmlns:a16="http://schemas.microsoft.com/office/drawing/2014/main" id="{DAD676FB-1ED4-B144-A501-262AEA06FB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6" b="13299"/>
          <a:stretch>
            <a:fillRect/>
          </a:stretch>
        </p:blipFill>
        <p:spPr bwMode="auto">
          <a:xfrm>
            <a:off x="6569218" y="3179702"/>
            <a:ext cx="2540000" cy="193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 descr="Cloud Nat Vector SVG Icon - SVG Repo">
            <a:extLst>
              <a:ext uri="{FF2B5EF4-FFF2-40B4-BE49-F238E27FC236}">
                <a16:creationId xmlns:a16="http://schemas.microsoft.com/office/drawing/2014/main" id="{01C6E322-091A-1B4E-9E07-A0D79580E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385" y="3314792"/>
            <a:ext cx="1664947" cy="166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EEFDA5-1B98-6957-90DB-E82694A08212}"/>
              </a:ext>
            </a:extLst>
          </p:cNvPr>
          <p:cNvSpPr txBox="1"/>
          <p:nvPr/>
        </p:nvSpPr>
        <p:spPr>
          <a:xfrm>
            <a:off x="-47253" y="3244659"/>
            <a:ext cx="2743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Private IP Addresses in RFC 1918 Ranges. Internet traffic </a:t>
            </a:r>
            <a:r>
              <a:rPr lang="en-US" sz="2000" b="1" dirty="0"/>
              <a:t>MUST BE INITIATED </a:t>
            </a:r>
            <a:r>
              <a:rPr lang="en-US" sz="2000" dirty="0"/>
              <a:t>from the private network side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2FD69-FEAC-67AF-6902-348DF085DAB5}"/>
              </a:ext>
            </a:extLst>
          </p:cNvPr>
          <p:cNvSpPr txBox="1"/>
          <p:nvPr/>
        </p:nvSpPr>
        <p:spPr>
          <a:xfrm>
            <a:off x="9098585" y="3278406"/>
            <a:ext cx="2958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Public IP Addresses NOT in RFC 1918 Ranges, if any traffic with these addresses got to the Internet they would be dropped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E4E48-C703-3F41-128C-EB72F164DD03}"/>
              </a:ext>
            </a:extLst>
          </p:cNvPr>
          <p:cNvSpPr txBox="1"/>
          <p:nvPr/>
        </p:nvSpPr>
        <p:spPr>
          <a:xfrm>
            <a:off x="4892777" y="5311905"/>
            <a:ext cx="29582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Public IP Adress as Proxy for all Private IP traffic ingress and egress to internet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6CF951-32C5-A145-0559-45CCF3A0040E}"/>
              </a:ext>
            </a:extLst>
          </p:cNvPr>
          <p:cNvCxnSpPr>
            <a:stCxn id="9" idx="0"/>
          </p:cNvCxnSpPr>
          <p:nvPr/>
        </p:nvCxnSpPr>
        <p:spPr>
          <a:xfrm flipV="1">
            <a:off x="6371907" y="4439846"/>
            <a:ext cx="7630" cy="872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42D4C3E-D237-D920-5EAD-7F0C11AECD20}"/>
              </a:ext>
            </a:extLst>
          </p:cNvPr>
          <p:cNvSpPr txBox="1"/>
          <p:nvPr/>
        </p:nvSpPr>
        <p:spPr>
          <a:xfrm>
            <a:off x="4951444" y="3040384"/>
            <a:ext cx="1831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4285F4"/>
                </a:solidFill>
              </a:rPr>
              <a:t>NAT GATEWAY</a:t>
            </a:r>
          </a:p>
        </p:txBody>
      </p:sp>
    </p:spTree>
    <p:extLst>
      <p:ext uri="{BB962C8B-B14F-4D97-AF65-F5344CB8AC3E}">
        <p14:creationId xmlns:p14="http://schemas.microsoft.com/office/powerpoint/2010/main" val="4035476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4164-1475-D9BF-AA7A-F2B7C5CD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281A-16BF-6B94-827B-8B04162B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-31912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IP Assignment: How Instances Get Their Addresses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9D9AE99-796A-8AF7-BCBB-4D13241058B5}"/>
              </a:ext>
            </a:extLst>
          </p:cNvPr>
          <p:cNvSpPr/>
          <p:nvPr/>
        </p:nvSpPr>
        <p:spPr>
          <a:xfrm>
            <a:off x="320039" y="904052"/>
            <a:ext cx="97855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69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(Dynamic Host Configuration Protocol)</a:t>
            </a:r>
            <a:endParaRPr lang="en-US" sz="2400" dirty="0">
              <a:solidFill>
                <a:srgbClr val="669DF6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71E989C5-77EA-BEA5-F9E0-FD35691CE0CD}"/>
              </a:ext>
            </a:extLst>
          </p:cNvPr>
          <p:cNvSpPr/>
          <p:nvPr/>
        </p:nvSpPr>
        <p:spPr>
          <a:xfrm>
            <a:off x="320039" y="1205804"/>
            <a:ext cx="108504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EC2 instance launches, AWS acts as a DHCP server — automatically assigning a private IP from the subnet's CIDR range. You can also assign a specific IP at launch. The private IP persists for the lifetime of the instance (even across stop/start).</a:t>
            </a:r>
            <a:endParaRPr lang="en-US" sz="20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A62ED39B-FB22-5214-D5D6-E048F1096549}"/>
              </a:ext>
            </a:extLst>
          </p:cNvPr>
          <p:cNvSpPr/>
          <p:nvPr/>
        </p:nvSpPr>
        <p:spPr>
          <a:xfrm>
            <a:off x="270611" y="2351090"/>
            <a:ext cx="4743134" cy="3034726"/>
          </a:xfrm>
          <a:prstGeom prst="rect">
            <a:avLst/>
          </a:prstGeom>
          <a:solidFill>
            <a:srgbClr val="EBF3FB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19A62AD-2429-D7D2-4DC7-AEE46CBA62DB}"/>
              </a:ext>
            </a:extLst>
          </p:cNvPr>
          <p:cNvSpPr/>
          <p:nvPr/>
        </p:nvSpPr>
        <p:spPr>
          <a:xfrm>
            <a:off x="270611" y="2351090"/>
            <a:ext cx="4743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 Address</a:t>
            </a:r>
            <a:endParaRPr lang="en-US" sz="20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A1FAAB2E-FB3A-1A1F-EFEA-F80AA8E7E968}"/>
              </a:ext>
            </a:extLst>
          </p:cNvPr>
          <p:cNvSpPr/>
          <p:nvPr/>
        </p:nvSpPr>
        <p:spPr>
          <a:xfrm>
            <a:off x="453491" y="2735138"/>
            <a:ext cx="45602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RFC 1918 range (10.x, 172.16.x, 192.168.x)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Assigned by AWS DHCP at launch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Stays assigned for instance lifetime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Survives stop → start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routable on the public internet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all internal VPC communication</a:t>
            </a:r>
            <a:endParaRPr lang="en-US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589E2713-9049-8374-6D31-2FA301D4E61C}"/>
              </a:ext>
            </a:extLst>
          </p:cNvPr>
          <p:cNvSpPr/>
          <p:nvPr/>
        </p:nvSpPr>
        <p:spPr>
          <a:xfrm>
            <a:off x="5301261" y="2351090"/>
            <a:ext cx="6758933" cy="3034726"/>
          </a:xfrm>
          <a:prstGeom prst="rect">
            <a:avLst/>
          </a:prstGeom>
          <a:solidFill>
            <a:srgbClr val="F8F9FA"/>
          </a:solidFill>
          <a:ln w="9525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3151E916-39AA-8301-9E9A-E2A5071C8308}"/>
              </a:ext>
            </a:extLst>
          </p:cNvPr>
          <p:cNvSpPr/>
          <p:nvPr/>
        </p:nvSpPr>
        <p:spPr>
          <a:xfrm>
            <a:off x="5301262" y="2351090"/>
            <a:ext cx="67589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Address (two types)</a:t>
            </a:r>
            <a:endParaRPr lang="en-US" sz="20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8A516180-EA02-15E9-6065-77CB7356CBD3}"/>
              </a:ext>
            </a:extLst>
          </p:cNvPr>
          <p:cNvSpPr/>
          <p:nvPr/>
        </p:nvSpPr>
        <p:spPr>
          <a:xfrm>
            <a:off x="5484142" y="2762570"/>
            <a:ext cx="2953266" cy="2423876"/>
          </a:xfrm>
          <a:prstGeom prst="rect">
            <a:avLst/>
          </a:prstGeom>
          <a:solidFill>
            <a:srgbClr val="FEF3E8"/>
          </a:solidFill>
          <a:ln w="952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B30A1953-B292-868E-E8DF-04EB6CB2D734}"/>
              </a:ext>
            </a:extLst>
          </p:cNvPr>
          <p:cNvSpPr/>
          <p:nvPr/>
        </p:nvSpPr>
        <p:spPr>
          <a:xfrm>
            <a:off x="5484141" y="2762570"/>
            <a:ext cx="295326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</a:t>
            </a:r>
            <a:endParaRPr lang="en-US" sz="20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8350071E-FFBD-5F9D-2895-9E0F27B1E209}"/>
              </a:ext>
            </a:extLst>
          </p:cNvPr>
          <p:cNvSpPr/>
          <p:nvPr/>
        </p:nvSpPr>
        <p:spPr>
          <a:xfrm>
            <a:off x="5529861" y="3091754"/>
            <a:ext cx="3058083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Ephemeral — lost on stop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Changes every restart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be predicted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OK for dev/test</a:t>
            </a:r>
            <a:endParaRPr lang="en-US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A7793E01-233B-D2A8-8990-63F40CBF3CB6}"/>
              </a:ext>
            </a:extLst>
          </p:cNvPr>
          <p:cNvSpPr/>
          <p:nvPr/>
        </p:nvSpPr>
        <p:spPr>
          <a:xfrm>
            <a:off x="8507517" y="2762570"/>
            <a:ext cx="3413872" cy="2423876"/>
          </a:xfrm>
          <a:prstGeom prst="rect">
            <a:avLst/>
          </a:prstGeom>
          <a:solidFill>
            <a:srgbClr val="F4EEFF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1108C1F8-A542-707E-78F6-D4643E5CFCC6}"/>
              </a:ext>
            </a:extLst>
          </p:cNvPr>
          <p:cNvSpPr/>
          <p:nvPr/>
        </p:nvSpPr>
        <p:spPr>
          <a:xfrm>
            <a:off x="9119286" y="2850642"/>
            <a:ext cx="234149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(EIP)</a:t>
            </a:r>
            <a:endParaRPr lang="en-US" sz="20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4B40316A-3127-5CAD-4C0A-3B8ABA359D95}"/>
              </a:ext>
            </a:extLst>
          </p:cNvPr>
          <p:cNvSpPr/>
          <p:nvPr/>
        </p:nvSpPr>
        <p:spPr>
          <a:xfrm>
            <a:off x="8567207" y="3121411"/>
            <a:ext cx="3406489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$0.005/hr if unused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— survives stop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Reassignable to any instance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Required for stable public endpoint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Limited: 5 per region by default</a:t>
            </a:r>
            <a:endParaRPr lang="en-US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7AA26E58-1C38-06AC-4059-0BC31598301F}"/>
              </a:ext>
            </a:extLst>
          </p:cNvPr>
          <p:cNvSpPr/>
          <p:nvPr/>
        </p:nvSpPr>
        <p:spPr>
          <a:xfrm>
            <a:off x="5484141" y="5475869"/>
            <a:ext cx="643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 instance without an Elastic IP → it gets a new public IP on restart. Scripts or DNS records pointing at the old IP will break.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4C776E0C-3764-05D8-B564-42D83358C625}"/>
              </a:ext>
            </a:extLst>
          </p:cNvPr>
          <p:cNvSpPr/>
          <p:nvPr/>
        </p:nvSpPr>
        <p:spPr>
          <a:xfrm>
            <a:off x="79248" y="6279642"/>
            <a:ext cx="11980946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IPs are stable for the instance lifetime. Public IPs are ephemeral unless you use an Elastic IP — important for any public-facing resource.</a:t>
            </a:r>
            <a:endParaRPr lang="en-US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998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DF7D-6106-59C6-2FB9-E094E737A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D491-4F92-3039-4583-F7C2F083B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8" y="-310905"/>
            <a:ext cx="10515600" cy="1325563"/>
          </a:xfrm>
        </p:spPr>
        <p:txBody>
          <a:bodyPr/>
          <a:lstStyle/>
          <a:p>
            <a:r>
              <a:rPr lang="en-US" dirty="0"/>
              <a:t>Controlling Public (Internet Access)</a:t>
            </a:r>
          </a:p>
        </p:txBody>
      </p:sp>
      <p:pic>
        <p:nvPicPr>
          <p:cNvPr id="3074" name="Picture 2" descr="AWS Cloud Resource | Internet Gateway">
            <a:extLst>
              <a:ext uri="{FF2B5EF4-FFF2-40B4-BE49-F238E27FC236}">
                <a16:creationId xmlns:a16="http://schemas.microsoft.com/office/drawing/2014/main" id="{7E217245-52AA-D4BB-3852-50FB66783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879" y="1201371"/>
            <a:ext cx="19939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VPC NAT Gateway | AWS Compute">
            <a:extLst>
              <a:ext uri="{FF2B5EF4-FFF2-40B4-BE49-F238E27FC236}">
                <a16:creationId xmlns:a16="http://schemas.microsoft.com/office/drawing/2014/main" id="{607BC1B3-4027-1AB6-E7A4-CC9688D74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206" y="1201371"/>
            <a:ext cx="18796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73CACD-9EDB-929E-B5C6-B27AF39ABF2B}"/>
              </a:ext>
            </a:extLst>
          </p:cNvPr>
          <p:cNvSpPr txBox="1"/>
          <p:nvPr/>
        </p:nvSpPr>
        <p:spPr>
          <a:xfrm>
            <a:off x="1030240" y="3198167"/>
            <a:ext cx="3303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AWS Internet Gateway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1FE2A0-44AA-10A3-349C-15CE838E9147}"/>
              </a:ext>
            </a:extLst>
          </p:cNvPr>
          <p:cNvSpPr txBox="1"/>
          <p:nvPr/>
        </p:nvSpPr>
        <p:spPr>
          <a:xfrm>
            <a:off x="6925816" y="3198166"/>
            <a:ext cx="4388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38435"/>
                </a:solidFill>
              </a:rPr>
              <a:t>AWS NAT Gateway</a:t>
            </a:r>
            <a:br>
              <a:rPr lang="en-US" sz="2400" b="1" dirty="0">
                <a:solidFill>
                  <a:srgbClr val="F38435"/>
                </a:solidFill>
              </a:rPr>
            </a:br>
            <a:r>
              <a:rPr lang="en-US" sz="2400" b="1" dirty="0">
                <a:solidFill>
                  <a:srgbClr val="F38435"/>
                </a:solidFill>
              </a:rPr>
              <a:t>(Network Address Translation)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66489F-4AD6-4F9F-4111-75ADC3196F13}"/>
              </a:ext>
            </a:extLst>
          </p:cNvPr>
          <p:cNvSpPr txBox="1"/>
          <p:nvPr/>
        </p:nvSpPr>
        <p:spPr>
          <a:xfrm>
            <a:off x="88504" y="588775"/>
            <a:ext cx="8091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AWS VPCs are Designed around the Constructs of PUBLIC and PRIVATE Subnets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56C4B-15A3-C37C-E4D5-E03C962FFBF8}"/>
              </a:ext>
            </a:extLst>
          </p:cNvPr>
          <p:cNvSpPr txBox="1"/>
          <p:nvPr/>
        </p:nvSpPr>
        <p:spPr>
          <a:xfrm>
            <a:off x="333633" y="4201297"/>
            <a:ext cx="52269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VPCs are Private by default.  That means all subnets are private by default - No Internet Access. To gain Internet access an AWS Internet Gateway MUST be attached to the VPC.  AWS Internet Gateways have no cost.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215FD1-BF17-7B92-33B4-CDF4D8311777}"/>
              </a:ext>
            </a:extLst>
          </p:cNvPr>
          <p:cNvSpPr txBox="1"/>
          <p:nvPr/>
        </p:nvSpPr>
        <p:spPr>
          <a:xfrm>
            <a:off x="6096000" y="4146358"/>
            <a:ext cx="57623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38435"/>
                </a:solidFill>
              </a:rPr>
              <a:t>Once an Internet Gateway is attached to a VPC, private subnets still have no Internet access.  To gain internet access you must deploy add routing to an AWS NAT Gateway service.  NAT Gateways have costs about $0.05 per hour (~$1.20/day, ~$36.50/month)</a:t>
            </a:r>
          </a:p>
        </p:txBody>
      </p:sp>
    </p:spTree>
    <p:extLst>
      <p:ext uri="{BB962C8B-B14F-4D97-AF65-F5344CB8AC3E}">
        <p14:creationId xmlns:p14="http://schemas.microsoft.com/office/powerpoint/2010/main" val="1541519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78F2-0110-3EF2-0C76-42561C93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B743-EDC2-BE13-2A2D-3EC8B02A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8" y="-335618"/>
            <a:ext cx="10515600" cy="1325563"/>
          </a:xfrm>
        </p:spPr>
        <p:txBody>
          <a:bodyPr/>
          <a:lstStyle/>
          <a:p>
            <a:r>
              <a:rPr lang="en-US" dirty="0"/>
              <a:t>Public and Private Subnets</a:t>
            </a:r>
          </a:p>
        </p:txBody>
      </p:sp>
      <p:pic>
        <p:nvPicPr>
          <p:cNvPr id="16386" name="Picture 2" descr="Example: VPC for a test environment - Amazon Virtual Private Cloud">
            <a:extLst>
              <a:ext uri="{FF2B5EF4-FFF2-40B4-BE49-F238E27FC236}">
                <a16:creationId xmlns:a16="http://schemas.microsoft.com/office/drawing/2014/main" id="{01E22613-3341-76C4-47D2-94DBA5EA6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65" y="1427356"/>
            <a:ext cx="4830613" cy="274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1EBF61-EDD1-1839-CE18-C499593C4F2D}"/>
              </a:ext>
            </a:extLst>
          </p:cNvPr>
          <p:cNvSpPr txBox="1"/>
          <p:nvPr/>
        </p:nvSpPr>
        <p:spPr>
          <a:xfrm>
            <a:off x="591015" y="4425625"/>
            <a:ext cx="3039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Must have Route Table Entry: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ED7C7-0D5A-C73B-088A-9ED1685E768F}"/>
              </a:ext>
            </a:extLst>
          </p:cNvPr>
          <p:cNvSpPr txBox="1"/>
          <p:nvPr/>
        </p:nvSpPr>
        <p:spPr>
          <a:xfrm>
            <a:off x="1156009" y="4784313"/>
            <a:ext cx="4490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Destination Target       Status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0.0.0.0/0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ig-xxxxxxx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440D8-F88C-5B10-9F5F-1B40E014FB14}"/>
              </a:ext>
            </a:extLst>
          </p:cNvPr>
          <p:cNvSpPr txBox="1"/>
          <p:nvPr/>
        </p:nvSpPr>
        <p:spPr>
          <a:xfrm>
            <a:off x="591015" y="5604666"/>
            <a:ext cx="3975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Internal Resources must have a public</a:t>
            </a:r>
            <a:br>
              <a:rPr lang="en-US" dirty="0"/>
            </a:br>
            <a:r>
              <a:rPr lang="en-US" dirty="0"/>
              <a:t>IP or an elastic IP assigned</a:t>
            </a:r>
          </a:p>
        </p:txBody>
      </p:sp>
      <p:pic>
        <p:nvPicPr>
          <p:cNvPr id="16388" name="Picture 4" descr="What is AWS Virtual Private Cloud (VPC) and why is it important? - N2W  Software">
            <a:extLst>
              <a:ext uri="{FF2B5EF4-FFF2-40B4-BE49-F238E27FC236}">
                <a16:creationId xmlns:a16="http://schemas.microsoft.com/office/drawing/2014/main" id="{BBDE0306-CE2F-B8E6-35B3-44923CC9F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227" y="1326648"/>
            <a:ext cx="3917820" cy="312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2C3617-E7C3-52A7-FDDF-D88C1C9924CC}"/>
              </a:ext>
            </a:extLst>
          </p:cNvPr>
          <p:cNvSpPr txBox="1"/>
          <p:nvPr/>
        </p:nvSpPr>
        <p:spPr>
          <a:xfrm>
            <a:off x="6789721" y="4507247"/>
            <a:ext cx="5197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resources must have private IP addresses (RFC 1918) 10.0.0.0/8, 172.16.0.0/12 192.168.0.0/16</a:t>
            </a:r>
            <a:br>
              <a:rPr lang="en-US" dirty="0"/>
            </a:br>
            <a:br>
              <a:rPr lang="en-US" sz="900" dirty="0"/>
            </a:br>
            <a:r>
              <a:rPr lang="en-US" dirty="0"/>
              <a:t>No routes to internet gateway</a:t>
            </a:r>
          </a:p>
          <a:p>
            <a:endParaRPr lang="en-US" sz="900" dirty="0"/>
          </a:p>
          <a:p>
            <a:r>
              <a:rPr lang="en-US" dirty="0"/>
              <a:t>Internet access only via NAT gateway in public subnet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04292-7CE9-9A6D-D59D-BC5F8C393444}"/>
              </a:ext>
            </a:extLst>
          </p:cNvPr>
          <p:cNvSpPr txBox="1"/>
          <p:nvPr/>
        </p:nvSpPr>
        <p:spPr>
          <a:xfrm>
            <a:off x="7253275" y="6211669"/>
            <a:ext cx="4616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Destination Target       Status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0.0.0.0/0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nat-xxxxxxx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Active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53373-7859-D6F4-B16E-9226E19F975D}"/>
              </a:ext>
            </a:extLst>
          </p:cNvPr>
          <p:cNvSpPr txBox="1"/>
          <p:nvPr/>
        </p:nvSpPr>
        <p:spPr>
          <a:xfrm>
            <a:off x="886929" y="759112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PUBLIC SUBNET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10D6C9-C1CB-1F72-E868-36281786CB62}"/>
              </a:ext>
            </a:extLst>
          </p:cNvPr>
          <p:cNvSpPr txBox="1"/>
          <p:nvPr/>
        </p:nvSpPr>
        <p:spPr>
          <a:xfrm>
            <a:off x="8147472" y="818749"/>
            <a:ext cx="2546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PRIVATE SUBNET</a:t>
            </a:r>
          </a:p>
        </p:txBody>
      </p:sp>
    </p:spTree>
    <p:extLst>
      <p:ext uri="{BB962C8B-B14F-4D97-AF65-F5344CB8AC3E}">
        <p14:creationId xmlns:p14="http://schemas.microsoft.com/office/powerpoint/2010/main" val="239538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45DEC-0074-34AB-E000-8BC3B3BB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93723-F4DF-3176-5DE9-591EAAF28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-18376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DNS: How Names Become Addresses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21CD3B46-D9CD-57FE-18E8-0B6E218B7D46}"/>
              </a:ext>
            </a:extLst>
          </p:cNvPr>
          <p:cNvSpPr/>
          <p:nvPr/>
        </p:nvSpPr>
        <p:spPr>
          <a:xfrm>
            <a:off x="801956" y="1096047"/>
            <a:ext cx="2282257" cy="713232"/>
          </a:xfrm>
          <a:prstGeom prst="rect">
            <a:avLst/>
          </a:prstGeom>
          <a:solidFill>
            <a:srgbClr val="EBF3FB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942E47C-4910-A123-C769-A0E4F05070E4}"/>
              </a:ext>
            </a:extLst>
          </p:cNvPr>
          <p:cNvSpPr/>
          <p:nvPr/>
        </p:nvSpPr>
        <p:spPr>
          <a:xfrm>
            <a:off x="801957" y="1096047"/>
            <a:ext cx="2282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my-db.internal</a:t>
            </a:r>
            <a:endParaRPr lang="en-US" sz="20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FF4346B-442E-E4E8-8ECA-82273818CC5E}"/>
              </a:ext>
            </a:extLst>
          </p:cNvPr>
          <p:cNvSpPr/>
          <p:nvPr/>
        </p:nvSpPr>
        <p:spPr>
          <a:xfrm>
            <a:off x="3431486" y="1096047"/>
            <a:ext cx="2282257" cy="713232"/>
          </a:xfrm>
          <a:prstGeom prst="rect">
            <a:avLst/>
          </a:prstGeom>
          <a:solidFill>
            <a:srgbClr val="7030A0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C1B4A50-688B-0E0E-6BD4-5034E326D8FB}"/>
              </a:ext>
            </a:extLst>
          </p:cNvPr>
          <p:cNvSpPr/>
          <p:nvPr/>
        </p:nvSpPr>
        <p:spPr>
          <a:xfrm>
            <a:off x="3431486" y="1096047"/>
            <a:ext cx="228105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DNS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endParaRPr lang="en-US" sz="20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22F0E5D4-CA95-D035-37F8-186276413D25}"/>
              </a:ext>
            </a:extLst>
          </p:cNvPr>
          <p:cNvSpPr/>
          <p:nvPr/>
        </p:nvSpPr>
        <p:spPr>
          <a:xfrm>
            <a:off x="6061016" y="1096047"/>
            <a:ext cx="2282257" cy="713232"/>
          </a:xfrm>
          <a:prstGeom prst="rect">
            <a:avLst/>
          </a:prstGeom>
          <a:solidFill>
            <a:srgbClr val="156082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B1AFF23-AF8A-80AD-5B95-4101CCB0BC27}"/>
              </a:ext>
            </a:extLst>
          </p:cNvPr>
          <p:cNvSpPr/>
          <p:nvPr/>
        </p:nvSpPr>
        <p:spPr>
          <a:xfrm>
            <a:off x="6061017" y="1096047"/>
            <a:ext cx="226870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Zone</a:t>
            </a:r>
            <a:endParaRPr lang="en-US" sz="20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83D93A0B-669C-DF5E-CE1A-88ED44C578C8}"/>
              </a:ext>
            </a:extLst>
          </p:cNvPr>
          <p:cNvSpPr/>
          <p:nvPr/>
        </p:nvSpPr>
        <p:spPr>
          <a:xfrm>
            <a:off x="8678189" y="1096047"/>
            <a:ext cx="2282257" cy="713232"/>
          </a:xfrm>
          <a:prstGeom prst="rect">
            <a:avLst/>
          </a:prstGeom>
          <a:solidFill>
            <a:srgbClr val="EBF7EF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05DEA83-28FD-018E-B178-9D8A0D0F840E}"/>
              </a:ext>
            </a:extLst>
          </p:cNvPr>
          <p:cNvSpPr/>
          <p:nvPr/>
        </p:nvSpPr>
        <p:spPr>
          <a:xfrm>
            <a:off x="8678190" y="1096047"/>
            <a:ext cx="2282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10.0.2.47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4916A90-3CD5-9A23-DB56-1A6E7490C188}"/>
              </a:ext>
            </a:extLst>
          </p:cNvPr>
          <p:cNvSpPr/>
          <p:nvPr/>
        </p:nvSpPr>
        <p:spPr>
          <a:xfrm>
            <a:off x="3107736" y="1452663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7DF2CC1C-6C04-AC9C-48E6-C61F31C124F7}"/>
              </a:ext>
            </a:extLst>
          </p:cNvPr>
          <p:cNvSpPr/>
          <p:nvPr/>
        </p:nvSpPr>
        <p:spPr>
          <a:xfrm>
            <a:off x="5749621" y="1452663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6EC7BB5C-0054-9C48-81BB-DF6CDF1843D6}"/>
              </a:ext>
            </a:extLst>
          </p:cNvPr>
          <p:cNvSpPr/>
          <p:nvPr/>
        </p:nvSpPr>
        <p:spPr>
          <a:xfrm>
            <a:off x="8366796" y="1452663"/>
            <a:ext cx="27432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A08B0807-E462-A081-4652-F7001E8623EF}"/>
              </a:ext>
            </a:extLst>
          </p:cNvPr>
          <p:cNvSpPr/>
          <p:nvPr/>
        </p:nvSpPr>
        <p:spPr>
          <a:xfrm>
            <a:off x="4275437" y="850165"/>
            <a:ext cx="3299253" cy="163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|------------</a:t>
            </a:r>
            <a:r>
              <a:rPr lang="en-US" i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 IP </a:t>
            </a:r>
            <a:r>
              <a:rPr lang="en-US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-----------|</a:t>
            </a:r>
            <a:endParaRPr lang="en-US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B5DC7223-A261-F62B-5485-B01405413C68}"/>
              </a:ext>
            </a:extLst>
          </p:cNvPr>
          <p:cNvSpPr/>
          <p:nvPr/>
        </p:nvSpPr>
        <p:spPr>
          <a:xfrm>
            <a:off x="801956" y="1891575"/>
            <a:ext cx="1026969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DNS Resolver lives at VPC base address + 2</a:t>
            </a:r>
            <a:r>
              <a:rPr lang="en-US" dirty="0"/>
              <a:t>.  </a:t>
            </a:r>
            <a:r>
              <a:rPr lang="en-US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10.0.0.2 for a 10.0.0.0/16 VPC)</a:t>
            </a:r>
            <a:endParaRPr lang="en-US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F281AAE6-C06B-830A-DFE7-FF4E2BA8AC9A}"/>
              </a:ext>
            </a:extLst>
          </p:cNvPr>
          <p:cNvSpPr/>
          <p:nvPr/>
        </p:nvSpPr>
        <p:spPr>
          <a:xfrm>
            <a:off x="320039" y="2652998"/>
            <a:ext cx="5661855" cy="1445190"/>
          </a:xfrm>
          <a:prstGeom prst="rect">
            <a:avLst/>
          </a:prstGeom>
          <a:solidFill>
            <a:srgbClr val="EBF3FB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3A1A8366-DCC5-4F95-440A-85BE78001CCD}"/>
              </a:ext>
            </a:extLst>
          </p:cNvPr>
          <p:cNvSpPr/>
          <p:nvPr/>
        </p:nvSpPr>
        <p:spPr>
          <a:xfrm>
            <a:off x="457200" y="2726150"/>
            <a:ext cx="5430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EC2 Gets a DNS Name</a:t>
            </a:r>
            <a:endParaRPr lang="en-US" sz="240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A5E4E979-D244-E442-9964-9E17D62D0DCB}"/>
              </a:ext>
            </a:extLst>
          </p:cNvPr>
          <p:cNvSpPr/>
          <p:nvPr/>
        </p:nvSpPr>
        <p:spPr>
          <a:xfrm>
            <a:off x="457199" y="3105752"/>
            <a:ext cx="5199747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auto-assigns private and public DNS hostnames: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ip-10-0-1-45.ec2.internal (private)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ec2-54-x-x-x.compute.amazonaws.com (public)</a:t>
            </a:r>
            <a:endParaRPr lang="en-US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5B45090F-A3E4-5859-D753-9292C10E502E}"/>
              </a:ext>
            </a:extLst>
          </p:cNvPr>
          <p:cNvSpPr/>
          <p:nvPr/>
        </p:nvSpPr>
        <p:spPr>
          <a:xfrm>
            <a:off x="6212988" y="2652998"/>
            <a:ext cx="5661855" cy="1445190"/>
          </a:xfrm>
          <a:prstGeom prst="rect">
            <a:avLst/>
          </a:prstGeom>
          <a:solidFill>
            <a:srgbClr val="F4EEFF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AF2DD32A-8823-1675-9720-6E3FAEBFEB55}"/>
              </a:ext>
            </a:extLst>
          </p:cNvPr>
          <p:cNvSpPr/>
          <p:nvPr/>
        </p:nvSpPr>
        <p:spPr>
          <a:xfrm>
            <a:off x="6350149" y="2726150"/>
            <a:ext cx="5430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Private Hosted Zones</a:t>
            </a:r>
            <a:endParaRPr lang="en-US" sz="24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129ECAED-3F8D-4017-49B5-CC725882F8F4}"/>
              </a:ext>
            </a:extLst>
          </p:cNvPr>
          <p:cNvSpPr/>
          <p:nvPr/>
        </p:nvSpPr>
        <p:spPr>
          <a:xfrm>
            <a:off x="6350148" y="3105752"/>
            <a:ext cx="5384651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internal domain names (e.g., my-db.prod.internal) that only resolve inside your VPC. Essential for service discovery.</a:t>
            </a:r>
            <a:endParaRPr lang="en-US" dirty="0"/>
          </a:p>
        </p:txBody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A3AADD3F-11CE-B594-975A-B4B2681CA464}"/>
              </a:ext>
            </a:extLst>
          </p:cNvPr>
          <p:cNvSpPr/>
          <p:nvPr/>
        </p:nvSpPr>
        <p:spPr>
          <a:xfrm>
            <a:off x="320039" y="4329565"/>
            <a:ext cx="5661855" cy="1445190"/>
          </a:xfrm>
          <a:prstGeom prst="rect">
            <a:avLst/>
          </a:prstGeom>
          <a:solidFill>
            <a:srgbClr val="FEF3E8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12F6FAEC-81C0-E2BC-C1E4-A180EAA7C99F}"/>
              </a:ext>
            </a:extLst>
          </p:cNvPr>
          <p:cNvSpPr/>
          <p:nvPr/>
        </p:nvSpPr>
        <p:spPr>
          <a:xfrm>
            <a:off x="457200" y="4402717"/>
            <a:ext cx="54308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RDS, ElastiCache, and Others Use DNS</a:t>
            </a:r>
            <a:endParaRPr lang="en-US" sz="24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72D9AC4B-51A3-86A2-0AB0-E9A740F4F49C}"/>
              </a:ext>
            </a:extLst>
          </p:cNvPr>
          <p:cNvSpPr/>
          <p:nvPr/>
        </p:nvSpPr>
        <p:spPr>
          <a:xfrm>
            <a:off x="457200" y="4782319"/>
            <a:ext cx="519974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give you hostnames, not IPs (the IP can change on failover). Always connect via hostname — never hardcode an IP.</a:t>
            </a:r>
            <a:endParaRPr lang="en-US" dirty="0"/>
          </a:p>
        </p:txBody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58A7FDDA-FCFD-7A96-714B-CE9B089378EF}"/>
              </a:ext>
            </a:extLst>
          </p:cNvPr>
          <p:cNvSpPr/>
          <p:nvPr/>
        </p:nvSpPr>
        <p:spPr>
          <a:xfrm>
            <a:off x="6212988" y="4329565"/>
            <a:ext cx="5661855" cy="1445190"/>
          </a:xfrm>
          <a:prstGeom prst="rect">
            <a:avLst/>
          </a:prstGeom>
          <a:solidFill>
            <a:srgbClr val="E8F4F8"/>
          </a:solidFill>
          <a:ln w="12700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9E76F68D-4D83-52EE-EB7D-1E483192B6DE}"/>
              </a:ext>
            </a:extLst>
          </p:cNvPr>
          <p:cNvSpPr/>
          <p:nvPr/>
        </p:nvSpPr>
        <p:spPr>
          <a:xfrm>
            <a:off x="6313078" y="4402717"/>
            <a:ext cx="5661854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enableDnsSupport / enableDnsHostnames</a:t>
            </a:r>
            <a:endParaRPr lang="en-US" sz="24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7DB95969-0CEE-DEB2-C21E-2C2F75619232}"/>
              </a:ext>
            </a:extLst>
          </p:cNvPr>
          <p:cNvSpPr/>
          <p:nvPr/>
        </p:nvSpPr>
        <p:spPr>
          <a:xfrm>
            <a:off x="6350148" y="4782319"/>
            <a:ext cx="5430841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VPC settings control DNS resolution. Both must be enabled if you want resources inside the VPC to resolve hostnames — default is on, but worth knowing.</a:t>
            </a:r>
            <a:endParaRPr lang="en-US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9EF49579-A946-4FFD-C1C0-F3A6294B172D}"/>
              </a:ext>
            </a:extLst>
          </p:cNvPr>
          <p:cNvSpPr/>
          <p:nvPr/>
        </p:nvSpPr>
        <p:spPr>
          <a:xfrm>
            <a:off x="208828" y="5906290"/>
            <a:ext cx="11666015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(RDS, ElastiCache, MSK) return hostnames, not IPs — DNS is non-optional in a real VPC.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769A22D9-5325-40FD-22E8-A886A07D3D6B}"/>
              </a:ext>
            </a:extLst>
          </p:cNvPr>
          <p:cNvSpPr/>
          <p:nvPr/>
        </p:nvSpPr>
        <p:spPr>
          <a:xfrm>
            <a:off x="200588" y="6404685"/>
            <a:ext cx="11666015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DNS – Static Database, used to map names to IPs.  AWS DNS (Route53) adds a </a:t>
            </a:r>
            <a:r>
              <a:rPr lang="en-US" sz="2000" b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 component to map to AWS resources</a:t>
            </a:r>
            <a:endParaRPr lang="en-US" sz="2000" b="1" dirty="0">
              <a:solidFill>
                <a:srgbClr val="7030A0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71A9874-DBE7-097E-3713-9CAA0EBFAB14}"/>
              </a:ext>
            </a:extLst>
          </p:cNvPr>
          <p:cNvCxnSpPr/>
          <p:nvPr/>
        </p:nvCxnSpPr>
        <p:spPr>
          <a:xfrm>
            <a:off x="54534" y="2458995"/>
            <a:ext cx="12033504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939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4564-7D23-D41B-99FA-5708CC6B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82" y="-169009"/>
            <a:ext cx="10515600" cy="1325563"/>
          </a:xfrm>
        </p:spPr>
        <p:txBody>
          <a:bodyPr/>
          <a:lstStyle/>
          <a:p>
            <a:r>
              <a:rPr lang="en-US" dirty="0"/>
              <a:t>Controlling Traffic Flow in (and out) of a VPC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372F4-B123-771A-80A2-50C1D9E12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Route Tables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Network Access Controls (NACLs)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Groups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Internet Gateways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NAT Services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VPC Endpoints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AWS Connectors</a:t>
            </a:r>
          </a:p>
        </p:txBody>
      </p:sp>
      <p:pic>
        <p:nvPicPr>
          <p:cNvPr id="1026" name="Picture 2" descr="Subnets for your VPC - Amazon Virtual Private Cloud">
            <a:extLst>
              <a:ext uri="{FF2B5EF4-FFF2-40B4-BE49-F238E27FC236}">
                <a16:creationId xmlns:a16="http://schemas.microsoft.com/office/drawing/2014/main" id="{7BA520B7-0E6A-801D-717E-DE5F44902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396" y="1498862"/>
            <a:ext cx="5778114" cy="453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oute Table | AWS Networking &amp; Content ...">
            <a:extLst>
              <a:ext uri="{FF2B5EF4-FFF2-40B4-BE49-F238E27FC236}">
                <a16:creationId xmlns:a16="http://schemas.microsoft.com/office/drawing/2014/main" id="{86DA6FF8-ACE6-A5BA-767E-271E2D335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2453" y="2767362"/>
            <a:ext cx="422775" cy="42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Route Table | AWS Networking &amp; Content ...">
            <a:extLst>
              <a:ext uri="{FF2B5EF4-FFF2-40B4-BE49-F238E27FC236}">
                <a16:creationId xmlns:a16="http://schemas.microsoft.com/office/drawing/2014/main" id="{75A402CD-A4D3-58C1-5605-E98322E9C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755" y="3190137"/>
            <a:ext cx="422775" cy="42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curity Groups vs NACL - A Comparison ...">
            <a:extLst>
              <a:ext uri="{FF2B5EF4-FFF2-40B4-BE49-F238E27FC236}">
                <a16:creationId xmlns:a16="http://schemas.microsoft.com/office/drawing/2014/main" id="{60A133F2-8677-864D-4FDC-2121D3B6CB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8601399" y="3307664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ecurity Groups vs NACL - A Comparison ...">
            <a:extLst>
              <a:ext uri="{FF2B5EF4-FFF2-40B4-BE49-F238E27FC236}">
                <a16:creationId xmlns:a16="http://schemas.microsoft.com/office/drawing/2014/main" id="{F06BABB9-4571-E1C3-36F3-C8E1BC4306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11146410" y="4362724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ecurity Groups vs NACL - A Comparison ...">
            <a:extLst>
              <a:ext uri="{FF2B5EF4-FFF2-40B4-BE49-F238E27FC236}">
                <a16:creationId xmlns:a16="http://schemas.microsoft.com/office/drawing/2014/main" id="{C14CCDF1-0B6F-1208-BFB2-20781578D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8589257" y="4362724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Security Groups vs NACL - A Comparison ...">
            <a:extLst>
              <a:ext uri="{FF2B5EF4-FFF2-40B4-BE49-F238E27FC236}">
                <a16:creationId xmlns:a16="http://schemas.microsoft.com/office/drawing/2014/main" id="{2D00BAAE-A833-1C16-F8D3-BEE51FE6AD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11122508" y="3091243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WS Cloud Resource | Security Group">
            <a:extLst>
              <a:ext uri="{FF2B5EF4-FFF2-40B4-BE49-F238E27FC236}">
                <a16:creationId xmlns:a16="http://schemas.microsoft.com/office/drawing/2014/main" id="{C26BBACE-A157-A5CC-3EDA-E2945291D0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7894824" y="3266139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ws Ec2 icon as SVG, PNG, JSX, and Base64">
            <a:extLst>
              <a:ext uri="{FF2B5EF4-FFF2-40B4-BE49-F238E27FC236}">
                <a16:creationId xmlns:a16="http://schemas.microsoft.com/office/drawing/2014/main" id="{530D93E9-4EA3-BEF0-38AF-085C869B9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240" y="3275620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AWS Cloud Resource | Security Group">
            <a:extLst>
              <a:ext uri="{FF2B5EF4-FFF2-40B4-BE49-F238E27FC236}">
                <a16:creationId xmlns:a16="http://schemas.microsoft.com/office/drawing/2014/main" id="{F29F727E-4A28-5541-FF1C-5BF26C3A0D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7867767" y="4353243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Aws Ec2 icon as SVG, PNG, JSX, and Base64">
            <a:extLst>
              <a:ext uri="{FF2B5EF4-FFF2-40B4-BE49-F238E27FC236}">
                <a16:creationId xmlns:a16="http://schemas.microsoft.com/office/drawing/2014/main" id="{E409AB10-D628-47BA-7269-467E1EFCC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183" y="4362724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AWS Cloud Resource | Security Group">
            <a:extLst>
              <a:ext uri="{FF2B5EF4-FFF2-40B4-BE49-F238E27FC236}">
                <a16:creationId xmlns:a16="http://schemas.microsoft.com/office/drawing/2014/main" id="{11157387-C57E-4E3F-1E50-1877141CA0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10678239" y="3266139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Aws Ec2 icon as SVG, PNG, JSX, and Base64">
            <a:extLst>
              <a:ext uri="{FF2B5EF4-FFF2-40B4-BE49-F238E27FC236}">
                <a16:creationId xmlns:a16="http://schemas.microsoft.com/office/drawing/2014/main" id="{96F1ABC5-586D-2420-0013-DEFE11FE2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9655" y="3275620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AWS Cloud Resource | Security Group">
            <a:extLst>
              <a:ext uri="{FF2B5EF4-FFF2-40B4-BE49-F238E27FC236}">
                <a16:creationId xmlns:a16="http://schemas.microsoft.com/office/drawing/2014/main" id="{B396F0B8-6857-843C-9250-9667863DCF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10651182" y="4353243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Aws Ec2 icon as SVG, PNG, JSX, and Base64">
            <a:extLst>
              <a:ext uri="{FF2B5EF4-FFF2-40B4-BE49-F238E27FC236}">
                <a16:creationId xmlns:a16="http://schemas.microsoft.com/office/drawing/2014/main" id="{92BB900A-C378-2C02-EDBA-343868430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598" y="4362724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mazon VPC Endpoints | AWS Networking ...">
            <a:extLst>
              <a:ext uri="{FF2B5EF4-FFF2-40B4-BE49-F238E27FC236}">
                <a16:creationId xmlns:a16="http://schemas.microsoft.com/office/drawing/2014/main" id="{F4804941-7BCE-D06C-0465-6B60F1AEF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886" y="2113655"/>
            <a:ext cx="467589" cy="46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rivate Subnets - NAT Gateway vs NAT ...">
            <a:extLst>
              <a:ext uri="{FF2B5EF4-FFF2-40B4-BE49-F238E27FC236}">
                <a16:creationId xmlns:a16="http://schemas.microsoft.com/office/drawing/2014/main" id="{42C21AD0-677F-746A-1C1D-5C938F0B65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9" t="6111" r="23479" b="33800"/>
          <a:stretch>
            <a:fillRect/>
          </a:stretch>
        </p:blipFill>
        <p:spPr bwMode="auto">
          <a:xfrm>
            <a:off x="8002800" y="2063495"/>
            <a:ext cx="511242" cy="53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loud Icons | AWS Direct Connect">
            <a:extLst>
              <a:ext uri="{FF2B5EF4-FFF2-40B4-BE49-F238E27FC236}">
                <a16:creationId xmlns:a16="http://schemas.microsoft.com/office/drawing/2014/main" id="{C6FAC20E-01F9-03AF-3E50-99775CC07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811" y="2096253"/>
            <a:ext cx="504507" cy="50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A756C3C-0734-F7E6-A83F-A95D2205E5F5}"/>
              </a:ext>
            </a:extLst>
          </p:cNvPr>
          <p:cNvSpPr/>
          <p:nvPr/>
        </p:nvSpPr>
        <p:spPr>
          <a:xfrm>
            <a:off x="9402048" y="3062875"/>
            <a:ext cx="254524" cy="254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DFBC93-A805-7962-8CC2-985E23BEE153}"/>
              </a:ext>
            </a:extLst>
          </p:cNvPr>
          <p:cNvSpPr/>
          <p:nvPr/>
        </p:nvSpPr>
        <p:spPr>
          <a:xfrm>
            <a:off x="9882997" y="3499373"/>
            <a:ext cx="254524" cy="254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A782840-7FD7-4F03-28E9-925770B8BABF}"/>
              </a:ext>
            </a:extLst>
          </p:cNvPr>
          <p:cNvSpPr/>
          <p:nvPr/>
        </p:nvSpPr>
        <p:spPr>
          <a:xfrm>
            <a:off x="8117746" y="3160169"/>
            <a:ext cx="254524" cy="254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170DE89-8821-1312-CA8F-7988D58A434E}"/>
              </a:ext>
            </a:extLst>
          </p:cNvPr>
          <p:cNvSpPr/>
          <p:nvPr/>
        </p:nvSpPr>
        <p:spPr>
          <a:xfrm>
            <a:off x="8879746" y="4237855"/>
            <a:ext cx="254524" cy="254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41C3900-015B-99CC-7239-65E02C20DF84}"/>
              </a:ext>
            </a:extLst>
          </p:cNvPr>
          <p:cNvSpPr/>
          <p:nvPr/>
        </p:nvSpPr>
        <p:spPr>
          <a:xfrm>
            <a:off x="9434705" y="2050503"/>
            <a:ext cx="254524" cy="254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76BBE06-0507-D44E-55FD-980E8226DD11}"/>
              </a:ext>
            </a:extLst>
          </p:cNvPr>
          <p:cNvSpPr/>
          <p:nvPr/>
        </p:nvSpPr>
        <p:spPr>
          <a:xfrm>
            <a:off x="8335247" y="1985187"/>
            <a:ext cx="254524" cy="254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60EF390-E51F-8B3D-22F9-6F03CF11FDF0}"/>
              </a:ext>
            </a:extLst>
          </p:cNvPr>
          <p:cNvSpPr/>
          <p:nvPr/>
        </p:nvSpPr>
        <p:spPr>
          <a:xfrm>
            <a:off x="9946333" y="2017845"/>
            <a:ext cx="254524" cy="254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8F71B32-7301-0DD0-61EF-57783026A623}"/>
              </a:ext>
            </a:extLst>
          </p:cNvPr>
          <p:cNvSpPr/>
          <p:nvPr/>
        </p:nvSpPr>
        <p:spPr>
          <a:xfrm>
            <a:off x="10697446" y="1985187"/>
            <a:ext cx="254524" cy="25452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98464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70ECF-17EE-54EC-DB56-71E16869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ACA3-69E7-F9CE-EF59-C8C21D74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18255"/>
            <a:ext cx="10515600" cy="1325563"/>
          </a:xfrm>
        </p:spPr>
        <p:txBody>
          <a:bodyPr/>
          <a:lstStyle/>
          <a:p>
            <a:r>
              <a:rPr lang="en-US" dirty="0"/>
              <a:t>Route Tables</a:t>
            </a:r>
          </a:p>
        </p:txBody>
      </p:sp>
      <p:pic>
        <p:nvPicPr>
          <p:cNvPr id="3" name="Picture 4" descr="Route Table | AWS Networking &amp; Content ...">
            <a:extLst>
              <a:ext uri="{FF2B5EF4-FFF2-40B4-BE49-F238E27FC236}">
                <a16:creationId xmlns:a16="http://schemas.microsoft.com/office/drawing/2014/main" id="{FF6340B8-DC0B-EE24-E5A0-004419456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287" y="166065"/>
            <a:ext cx="1029942" cy="102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VPC peering | Databricks on AWS">
            <a:extLst>
              <a:ext uri="{FF2B5EF4-FFF2-40B4-BE49-F238E27FC236}">
                <a16:creationId xmlns:a16="http://schemas.microsoft.com/office/drawing/2014/main" id="{2BF01D96-C49E-EDC7-537C-7A518EE21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86" y="2225949"/>
            <a:ext cx="6192791" cy="358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FC3AB-6518-84D5-6990-10FBE00FDEA9}"/>
              </a:ext>
            </a:extLst>
          </p:cNvPr>
          <p:cNvSpPr txBox="1"/>
          <p:nvPr/>
        </p:nvSpPr>
        <p:spPr>
          <a:xfrm>
            <a:off x="163287" y="1196007"/>
            <a:ext cx="11821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"A </a:t>
            </a:r>
            <a:r>
              <a:rPr lang="en-US" sz="2400" b="1" dirty="0"/>
              <a:t>route table</a:t>
            </a:r>
            <a:r>
              <a:rPr lang="en-US" sz="2400" dirty="0"/>
              <a:t> is a set of rules used by network devices to determine the best path for directing data packets from their source to a specific destination network."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179419-7A46-0B2A-DDD5-230A6C908186}"/>
              </a:ext>
            </a:extLst>
          </p:cNvPr>
          <p:cNvSpPr txBox="1"/>
          <p:nvPr/>
        </p:nvSpPr>
        <p:spPr>
          <a:xfrm>
            <a:off x="6892157" y="2225949"/>
            <a:ext cx="46829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VPCs are configured with a default route table associated with all subnets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Additional Route tables can be created and associated with a VPC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VPC can have MANY route tables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Subnets must be associated with exactly one route table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Route targets may be a network CIDR range or be an AWS resource such as an internet gateway</a:t>
            </a:r>
          </a:p>
        </p:txBody>
      </p:sp>
    </p:spTree>
    <p:extLst>
      <p:ext uri="{BB962C8B-B14F-4D97-AF65-F5344CB8AC3E}">
        <p14:creationId xmlns:p14="http://schemas.microsoft.com/office/powerpoint/2010/main" val="3591875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3BBE-AC3A-D5B6-3C16-9A424B34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883B8C-A83B-3B5C-2DFF-093D249D7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628" y="1106038"/>
            <a:ext cx="7119280" cy="558589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432A700D-3088-8E95-3F6E-8ABD0E61B331}"/>
              </a:ext>
            </a:extLst>
          </p:cNvPr>
          <p:cNvSpPr txBox="1">
            <a:spLocks/>
          </p:cNvSpPr>
          <p:nvPr/>
        </p:nvSpPr>
        <p:spPr>
          <a:xfrm>
            <a:off x="79248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Route Tables</a:t>
            </a:r>
          </a:p>
        </p:txBody>
      </p:sp>
      <p:pic>
        <p:nvPicPr>
          <p:cNvPr id="28" name="Picture 4" descr="Route Table | AWS Networking &amp; Content ...">
            <a:extLst>
              <a:ext uri="{FF2B5EF4-FFF2-40B4-BE49-F238E27FC236}">
                <a16:creationId xmlns:a16="http://schemas.microsoft.com/office/drawing/2014/main" id="{347A357A-2DB1-2998-3042-F6F4A2C22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287" y="166065"/>
            <a:ext cx="1029942" cy="102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BA0434D-172A-0495-8B4A-F9A04A9D4E15}"/>
              </a:ext>
            </a:extLst>
          </p:cNvPr>
          <p:cNvCxnSpPr>
            <a:cxnSpLocks/>
          </p:cNvCxnSpPr>
          <p:nvPr/>
        </p:nvCxnSpPr>
        <p:spPr>
          <a:xfrm>
            <a:off x="7025269" y="2286001"/>
            <a:ext cx="0" cy="33453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989E5B3-5AE3-C409-2565-DA3EBECF82DD}"/>
              </a:ext>
            </a:extLst>
          </p:cNvPr>
          <p:cNvCxnSpPr>
            <a:cxnSpLocks/>
          </p:cNvCxnSpPr>
          <p:nvPr/>
        </p:nvCxnSpPr>
        <p:spPr>
          <a:xfrm>
            <a:off x="7025269" y="2620536"/>
            <a:ext cx="3569579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E893BE-3068-7E0F-2676-DF6547C9F717}"/>
              </a:ext>
            </a:extLst>
          </p:cNvPr>
          <p:cNvCxnSpPr>
            <a:cxnSpLocks/>
          </p:cNvCxnSpPr>
          <p:nvPr/>
        </p:nvCxnSpPr>
        <p:spPr>
          <a:xfrm>
            <a:off x="8393150" y="2453269"/>
            <a:ext cx="0" cy="241609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2DC51AE-708A-8B2E-C9C7-8CCEED13BC16}"/>
              </a:ext>
            </a:extLst>
          </p:cNvPr>
          <p:cNvCxnSpPr>
            <a:cxnSpLocks/>
          </p:cNvCxnSpPr>
          <p:nvPr/>
        </p:nvCxnSpPr>
        <p:spPr>
          <a:xfrm>
            <a:off x="9541723" y="2282287"/>
            <a:ext cx="0" cy="33453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69D4A91-D5EE-1FF1-6F73-7E22E0C42596}"/>
              </a:ext>
            </a:extLst>
          </p:cNvPr>
          <p:cNvCxnSpPr>
            <a:cxnSpLocks/>
          </p:cNvCxnSpPr>
          <p:nvPr/>
        </p:nvCxnSpPr>
        <p:spPr>
          <a:xfrm>
            <a:off x="10575064" y="2278573"/>
            <a:ext cx="0" cy="334536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A94439B-E578-1227-2CDA-9B8E147A839B}"/>
              </a:ext>
            </a:extLst>
          </p:cNvPr>
          <p:cNvCxnSpPr>
            <a:cxnSpLocks/>
          </p:cNvCxnSpPr>
          <p:nvPr/>
        </p:nvCxnSpPr>
        <p:spPr>
          <a:xfrm>
            <a:off x="8393150" y="3094464"/>
            <a:ext cx="0" cy="1462667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2A5C103-EF91-B556-9907-60BB9B20D03E}"/>
              </a:ext>
            </a:extLst>
          </p:cNvPr>
          <p:cNvCxnSpPr>
            <a:cxnSpLocks/>
          </p:cNvCxnSpPr>
          <p:nvPr/>
        </p:nvCxnSpPr>
        <p:spPr>
          <a:xfrm>
            <a:off x="7619999" y="4557131"/>
            <a:ext cx="142364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643CA3C-4D45-EF0D-F258-0653CE0A78BF}"/>
              </a:ext>
            </a:extLst>
          </p:cNvPr>
          <p:cNvCxnSpPr>
            <a:cxnSpLocks/>
          </p:cNvCxnSpPr>
          <p:nvPr/>
        </p:nvCxnSpPr>
        <p:spPr>
          <a:xfrm>
            <a:off x="7619999" y="3248722"/>
            <a:ext cx="773151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D16EB19-1B56-36C9-0F0B-2BBEC5F37CBB}"/>
              </a:ext>
            </a:extLst>
          </p:cNvPr>
          <p:cNvCxnSpPr>
            <a:cxnSpLocks/>
          </p:cNvCxnSpPr>
          <p:nvPr/>
        </p:nvCxnSpPr>
        <p:spPr>
          <a:xfrm>
            <a:off x="8653346" y="3429000"/>
            <a:ext cx="451624" cy="0"/>
          </a:xfrm>
          <a:prstGeom prst="line">
            <a:avLst/>
          </a:prstGeom>
          <a:ln w="508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0D76C5A-2763-331E-EEA2-8E888A946F73}"/>
              </a:ext>
            </a:extLst>
          </p:cNvPr>
          <p:cNvCxnSpPr>
            <a:cxnSpLocks/>
          </p:cNvCxnSpPr>
          <p:nvPr/>
        </p:nvCxnSpPr>
        <p:spPr>
          <a:xfrm>
            <a:off x="8671932" y="3409484"/>
            <a:ext cx="0" cy="1541657"/>
          </a:xfrm>
          <a:prstGeom prst="line">
            <a:avLst/>
          </a:prstGeom>
          <a:ln w="508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4E19297-2F3B-FA1B-E9A6-070E94A9FEC6}"/>
              </a:ext>
            </a:extLst>
          </p:cNvPr>
          <p:cNvCxnSpPr>
            <a:cxnSpLocks/>
          </p:cNvCxnSpPr>
          <p:nvPr/>
        </p:nvCxnSpPr>
        <p:spPr>
          <a:xfrm>
            <a:off x="8674719" y="4930698"/>
            <a:ext cx="451624" cy="0"/>
          </a:xfrm>
          <a:prstGeom prst="line">
            <a:avLst/>
          </a:prstGeom>
          <a:ln w="508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3C2810C-339B-BC0C-5DE6-1577FB94604A}"/>
              </a:ext>
            </a:extLst>
          </p:cNvPr>
          <p:cNvSpPr txBox="1"/>
          <p:nvPr/>
        </p:nvSpPr>
        <p:spPr>
          <a:xfrm>
            <a:off x="494255" y="3063145"/>
            <a:ext cx="35340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/>
              <a:t>All VPCs have a single </a:t>
            </a:r>
            <a:br>
              <a:rPr lang="en-US" sz="2400" b="1" dirty="0"/>
            </a:br>
            <a:r>
              <a:rPr lang="en-US" sz="2400" b="1" dirty="0"/>
              <a:t>global route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F9D08-1FCA-5B71-3EEE-905573BB9D17}"/>
              </a:ext>
            </a:extLst>
          </p:cNvPr>
          <p:cNvSpPr txBox="1"/>
          <p:nvPr/>
        </p:nvSpPr>
        <p:spPr>
          <a:xfrm>
            <a:off x="515628" y="4156502"/>
            <a:ext cx="35340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/>
              <a:t>Individual subnets may define their own route table to override or add rules found in the global route table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20D16D-A95C-3916-C46F-95D3B4FFECB3}"/>
              </a:ext>
            </a:extLst>
          </p:cNvPr>
          <p:cNvCxnSpPr>
            <a:stCxn id="3" idx="3"/>
          </p:cNvCxnSpPr>
          <p:nvPr/>
        </p:nvCxnSpPr>
        <p:spPr>
          <a:xfrm flipV="1">
            <a:off x="4049661" y="3571103"/>
            <a:ext cx="5055309" cy="155489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1E409E-7BF2-45FC-CCFD-7B22344D1B3E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4028288" y="2910525"/>
            <a:ext cx="4114053" cy="56811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B7BF09-1A1D-1C3F-E9E7-FD932C4DEF5A}"/>
              </a:ext>
            </a:extLst>
          </p:cNvPr>
          <p:cNvSpPr txBox="1"/>
          <p:nvPr/>
        </p:nvSpPr>
        <p:spPr>
          <a:xfrm>
            <a:off x="515627" y="1401670"/>
            <a:ext cx="3534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/>
              <a:t>Routing traffic outside the VPC is managed by route tables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34F9DA-0FCF-E743-A872-17FFC12F4D8E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049660" y="1507524"/>
            <a:ext cx="2975609" cy="494311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342E32-5A0B-27F2-E3E8-35A7F017A03E}"/>
              </a:ext>
            </a:extLst>
          </p:cNvPr>
          <p:cNvCxnSpPr>
            <a:cxnSpLocks/>
          </p:cNvCxnSpPr>
          <p:nvPr/>
        </p:nvCxnSpPr>
        <p:spPr>
          <a:xfrm>
            <a:off x="7025269" y="1507524"/>
            <a:ext cx="3549795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882217-EA70-BE5F-6717-CB558435438C}"/>
              </a:ext>
            </a:extLst>
          </p:cNvPr>
          <p:cNvCxnSpPr>
            <a:cxnSpLocks/>
          </p:cNvCxnSpPr>
          <p:nvPr/>
        </p:nvCxnSpPr>
        <p:spPr>
          <a:xfrm>
            <a:off x="7025269" y="1507524"/>
            <a:ext cx="0" cy="26272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638B10-1657-38D2-AC76-94BE4045450F}"/>
              </a:ext>
            </a:extLst>
          </p:cNvPr>
          <p:cNvCxnSpPr>
            <a:cxnSpLocks/>
          </p:cNvCxnSpPr>
          <p:nvPr/>
        </p:nvCxnSpPr>
        <p:spPr>
          <a:xfrm>
            <a:off x="8354085" y="1513195"/>
            <a:ext cx="0" cy="26272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C75324-18EA-CECA-CA97-3C61573F8707}"/>
              </a:ext>
            </a:extLst>
          </p:cNvPr>
          <p:cNvCxnSpPr>
            <a:cxnSpLocks/>
          </p:cNvCxnSpPr>
          <p:nvPr/>
        </p:nvCxnSpPr>
        <p:spPr>
          <a:xfrm>
            <a:off x="9485191" y="1518866"/>
            <a:ext cx="0" cy="26272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83CB9C8-A13B-0B23-0302-D5D65FBEC5EC}"/>
              </a:ext>
            </a:extLst>
          </p:cNvPr>
          <p:cNvCxnSpPr>
            <a:cxnSpLocks/>
          </p:cNvCxnSpPr>
          <p:nvPr/>
        </p:nvCxnSpPr>
        <p:spPr>
          <a:xfrm>
            <a:off x="10579226" y="1499823"/>
            <a:ext cx="0" cy="26272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949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E73D1-8C59-4A62-1207-BF703F87C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Understanding Network Access Control Lists and Security Groups in AWS | by  Brandon Damue | AWS in Plain English">
            <a:extLst>
              <a:ext uri="{FF2B5EF4-FFF2-40B4-BE49-F238E27FC236}">
                <a16:creationId xmlns:a16="http://schemas.microsoft.com/office/drawing/2014/main" id="{04EEA23A-8568-3461-3A6F-E4FD587C5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482" y="2074126"/>
            <a:ext cx="6298580" cy="321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Security Groups vs NACL - A Comparison ...">
            <a:extLst>
              <a:ext uri="{FF2B5EF4-FFF2-40B4-BE49-F238E27FC236}">
                <a16:creationId xmlns:a16="http://schemas.microsoft.com/office/drawing/2014/main" id="{E299F589-BE4F-9549-2F64-3FEE1E5C4E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10036097" y="252822"/>
            <a:ext cx="863647" cy="85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719059-E76C-08B9-C4B3-8B7385BBE197}"/>
              </a:ext>
            </a:extLst>
          </p:cNvPr>
          <p:cNvSpPr txBox="1"/>
          <p:nvPr/>
        </p:nvSpPr>
        <p:spPr>
          <a:xfrm>
            <a:off x="446049" y="1249866"/>
            <a:ext cx="51630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STATELESS</a:t>
            </a:r>
            <a:r>
              <a:rPr lang="en-US" dirty="0"/>
              <a:t>: Rules must be defined for both inbound and outbound traffic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ALLOW/DENY: </a:t>
            </a:r>
            <a:r>
              <a:rPr lang="en-US" dirty="0"/>
              <a:t>Rules can be explicit allow or deny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DEFAULT RULE:  </a:t>
            </a:r>
            <a:r>
              <a:rPr lang="en-US" dirty="0"/>
              <a:t>Last rule marked with “*” matches all traffic</a:t>
            </a:r>
          </a:p>
          <a:p>
            <a:endParaRPr lang="en-US" dirty="0"/>
          </a:p>
          <a:p>
            <a:r>
              <a:rPr lang="en-US" b="1" dirty="0"/>
              <a:t>RULE NUMBERS:  </a:t>
            </a:r>
            <a:r>
              <a:rPr lang="en-US" dirty="0"/>
              <a:t>Rules are applied from lowest to highest number in order, first rule that matches is applied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Rule numbers go from 0-32767 – Best practice is to leave spaces to add rules in later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Source can be IP Range (CIDR) or AWS Resource (e.g., Internet Gateway)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Rules filter based on specific port, protocol or port ranges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A742A6-7237-8981-C9BA-835584DED140}"/>
              </a:ext>
            </a:extLst>
          </p:cNvPr>
          <p:cNvSpPr txBox="1">
            <a:spLocks/>
          </p:cNvSpPr>
          <p:nvPr/>
        </p:nvSpPr>
        <p:spPr>
          <a:xfrm>
            <a:off x="79248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NACL – Network Access Control Lists</a:t>
            </a:r>
          </a:p>
        </p:txBody>
      </p:sp>
    </p:spTree>
    <p:extLst>
      <p:ext uri="{BB962C8B-B14F-4D97-AF65-F5344CB8AC3E}">
        <p14:creationId xmlns:p14="http://schemas.microsoft.com/office/powerpoint/2010/main" val="4224275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8CD0-766E-CAB6-A2FA-698914D3C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3269295B-7614-A085-84E7-264806512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740" y="1240171"/>
            <a:ext cx="7783553" cy="5409305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87CED3D5-1E63-D21A-ECCA-F0D60F058EBF}"/>
              </a:ext>
            </a:extLst>
          </p:cNvPr>
          <p:cNvSpPr txBox="1">
            <a:spLocks/>
          </p:cNvSpPr>
          <p:nvPr/>
        </p:nvSpPr>
        <p:spPr>
          <a:xfrm>
            <a:off x="79248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NACL – Network Access Control Lists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2C7806-BA2D-322E-24B6-87C98325A6A4}"/>
              </a:ext>
            </a:extLst>
          </p:cNvPr>
          <p:cNvCxnSpPr>
            <a:cxnSpLocks/>
          </p:cNvCxnSpPr>
          <p:nvPr/>
        </p:nvCxnSpPr>
        <p:spPr>
          <a:xfrm flipV="1">
            <a:off x="7645091" y="3518209"/>
            <a:ext cx="394939" cy="3717"/>
          </a:xfrm>
          <a:prstGeom prst="line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6E19FD-14CB-CB0D-8F02-F40D454902A7}"/>
              </a:ext>
            </a:extLst>
          </p:cNvPr>
          <p:cNvCxnSpPr>
            <a:cxnSpLocks/>
          </p:cNvCxnSpPr>
          <p:nvPr/>
        </p:nvCxnSpPr>
        <p:spPr>
          <a:xfrm>
            <a:off x="7645091" y="3727777"/>
            <a:ext cx="394939" cy="0"/>
          </a:xfrm>
          <a:prstGeom prst="line">
            <a:avLst/>
          </a:prstGeom>
          <a:ln w="5080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DBDAF-760F-BFBD-2220-3B88E5E7D38D}"/>
              </a:ext>
            </a:extLst>
          </p:cNvPr>
          <p:cNvCxnSpPr>
            <a:cxnSpLocks/>
          </p:cNvCxnSpPr>
          <p:nvPr/>
        </p:nvCxnSpPr>
        <p:spPr>
          <a:xfrm flipV="1">
            <a:off x="7663679" y="4785731"/>
            <a:ext cx="394939" cy="3717"/>
          </a:xfrm>
          <a:prstGeom prst="line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479905-3F4A-3CE7-3BE8-813F312B84F5}"/>
              </a:ext>
            </a:extLst>
          </p:cNvPr>
          <p:cNvCxnSpPr>
            <a:cxnSpLocks/>
          </p:cNvCxnSpPr>
          <p:nvPr/>
        </p:nvCxnSpPr>
        <p:spPr>
          <a:xfrm>
            <a:off x="7663679" y="4995299"/>
            <a:ext cx="394939" cy="0"/>
          </a:xfrm>
          <a:prstGeom prst="line">
            <a:avLst/>
          </a:prstGeom>
          <a:ln w="5080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56FDED-0BF1-83BD-BF6B-72A87406F104}"/>
              </a:ext>
            </a:extLst>
          </p:cNvPr>
          <p:cNvCxnSpPr>
            <a:cxnSpLocks/>
          </p:cNvCxnSpPr>
          <p:nvPr/>
        </p:nvCxnSpPr>
        <p:spPr>
          <a:xfrm flipV="1">
            <a:off x="8384792" y="4770861"/>
            <a:ext cx="394939" cy="3717"/>
          </a:xfrm>
          <a:prstGeom prst="line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10E67A-9845-AEBC-43DB-ABC2345720D3}"/>
              </a:ext>
            </a:extLst>
          </p:cNvPr>
          <p:cNvCxnSpPr>
            <a:cxnSpLocks/>
          </p:cNvCxnSpPr>
          <p:nvPr/>
        </p:nvCxnSpPr>
        <p:spPr>
          <a:xfrm>
            <a:off x="8384792" y="4980429"/>
            <a:ext cx="394939" cy="0"/>
          </a:xfrm>
          <a:prstGeom prst="line">
            <a:avLst/>
          </a:prstGeom>
          <a:ln w="5080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F337AA-D99D-B018-6ED5-24879EC12B19}"/>
              </a:ext>
            </a:extLst>
          </p:cNvPr>
          <p:cNvCxnSpPr>
            <a:cxnSpLocks/>
          </p:cNvCxnSpPr>
          <p:nvPr/>
        </p:nvCxnSpPr>
        <p:spPr>
          <a:xfrm flipV="1">
            <a:off x="8403381" y="3495899"/>
            <a:ext cx="394939" cy="3717"/>
          </a:xfrm>
          <a:prstGeom prst="line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4F9A09-22AE-5FE7-0B88-FF0AAE9149B4}"/>
              </a:ext>
            </a:extLst>
          </p:cNvPr>
          <p:cNvCxnSpPr>
            <a:cxnSpLocks/>
          </p:cNvCxnSpPr>
          <p:nvPr/>
        </p:nvCxnSpPr>
        <p:spPr>
          <a:xfrm>
            <a:off x="8403381" y="3705467"/>
            <a:ext cx="394939" cy="0"/>
          </a:xfrm>
          <a:prstGeom prst="line">
            <a:avLst/>
          </a:prstGeom>
          <a:ln w="5080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AF9F687-48A2-905F-B0A7-2E1FA35FBF0D}"/>
              </a:ext>
            </a:extLst>
          </p:cNvPr>
          <p:cNvSpPr/>
          <p:nvPr/>
        </p:nvSpPr>
        <p:spPr>
          <a:xfrm rot="16200000">
            <a:off x="6885190" y="4020702"/>
            <a:ext cx="2654444" cy="3447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NETWORK TRAFFIC</a:t>
            </a:r>
          </a:p>
        </p:txBody>
      </p:sp>
      <p:pic>
        <p:nvPicPr>
          <p:cNvPr id="14" name="Picture 13" descr="Security Groups vs NACL - A Comparison ...">
            <a:extLst>
              <a:ext uri="{FF2B5EF4-FFF2-40B4-BE49-F238E27FC236}">
                <a16:creationId xmlns:a16="http://schemas.microsoft.com/office/drawing/2014/main" id="{8A0B6D0C-70F4-2AAE-EE15-D7811FB653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9348615" y="208524"/>
            <a:ext cx="863647" cy="85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AFD4BB-4CBA-75E0-262C-9ADE5B6F64D5}"/>
              </a:ext>
            </a:extLst>
          </p:cNvPr>
          <p:cNvCxnSpPr>
            <a:cxnSpLocks/>
          </p:cNvCxnSpPr>
          <p:nvPr/>
        </p:nvCxnSpPr>
        <p:spPr>
          <a:xfrm flipV="1">
            <a:off x="6872582" y="3603296"/>
            <a:ext cx="394939" cy="3717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E066EE-2C92-F687-D425-5C4F9B9B8B74}"/>
              </a:ext>
            </a:extLst>
          </p:cNvPr>
          <p:cNvCxnSpPr>
            <a:cxnSpLocks/>
          </p:cNvCxnSpPr>
          <p:nvPr/>
        </p:nvCxnSpPr>
        <p:spPr>
          <a:xfrm flipV="1">
            <a:off x="6824261" y="4881971"/>
            <a:ext cx="394939" cy="3717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F78148-6437-89B4-5B22-3B2AA87F856C}"/>
              </a:ext>
            </a:extLst>
          </p:cNvPr>
          <p:cNvCxnSpPr>
            <a:cxnSpLocks/>
          </p:cNvCxnSpPr>
          <p:nvPr/>
        </p:nvCxnSpPr>
        <p:spPr>
          <a:xfrm flipV="1">
            <a:off x="9199467" y="3610731"/>
            <a:ext cx="394939" cy="3717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CC8F86-7A37-8D06-6745-FF457C43D557}"/>
              </a:ext>
            </a:extLst>
          </p:cNvPr>
          <p:cNvCxnSpPr>
            <a:cxnSpLocks/>
          </p:cNvCxnSpPr>
          <p:nvPr/>
        </p:nvCxnSpPr>
        <p:spPr>
          <a:xfrm flipV="1">
            <a:off x="9151146" y="4889406"/>
            <a:ext cx="394939" cy="3717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D2AD513-5CB9-F12F-BDA1-65078C84089E}"/>
              </a:ext>
            </a:extLst>
          </p:cNvPr>
          <p:cNvSpPr txBox="1"/>
          <p:nvPr/>
        </p:nvSpPr>
        <p:spPr>
          <a:xfrm>
            <a:off x="249666" y="3059476"/>
            <a:ext cx="35340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NACLS are the front doors to a subnet.  They defined what is allowed or not allowed into and out of a VPC</a:t>
            </a:r>
          </a:p>
        </p:txBody>
      </p:sp>
    </p:spTree>
    <p:extLst>
      <p:ext uri="{BB962C8B-B14F-4D97-AF65-F5344CB8AC3E}">
        <p14:creationId xmlns:p14="http://schemas.microsoft.com/office/powerpoint/2010/main" val="62219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553A0-7251-E772-F746-2F2B7ADA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0F74E0-D1EB-1993-BB6E-C725EFAEFFDE}"/>
              </a:ext>
            </a:extLst>
          </p:cNvPr>
          <p:cNvSpPr txBox="1"/>
          <p:nvPr/>
        </p:nvSpPr>
        <p:spPr>
          <a:xfrm>
            <a:off x="334838" y="1799295"/>
            <a:ext cx="516301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STATEFUL: If traffic is allowed out, return traffic is allowed in and vice versa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ALLOW ONLY: Rules can be allow only, if no rules match, traffic is denied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Rules match based on Protocol, Port, Port Range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Source can be IP Range (CIDR) or AWS Resource (e.g., Internet Gateway)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6706E72-B5E5-FBFD-33F2-2160EA0670DD}"/>
              </a:ext>
            </a:extLst>
          </p:cNvPr>
          <p:cNvSpPr txBox="1">
            <a:spLocks/>
          </p:cNvSpPr>
          <p:nvPr/>
        </p:nvSpPr>
        <p:spPr>
          <a:xfrm>
            <a:off x="79248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Security Groups</a:t>
            </a:r>
          </a:p>
        </p:txBody>
      </p:sp>
      <p:pic>
        <p:nvPicPr>
          <p:cNvPr id="2" name="Picture 8" descr="AWS Cloud Resource | Security Group">
            <a:extLst>
              <a:ext uri="{FF2B5EF4-FFF2-40B4-BE49-F238E27FC236}">
                <a16:creationId xmlns:a16="http://schemas.microsoft.com/office/drawing/2014/main" id="{2AB22B48-4F0C-6E2D-924E-CC40874D8C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9669057" y="307487"/>
            <a:ext cx="925791" cy="74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New – Descriptions for Security Group Rules | AWS News Blog">
            <a:extLst>
              <a:ext uri="{FF2B5EF4-FFF2-40B4-BE49-F238E27FC236}">
                <a16:creationId xmlns:a16="http://schemas.microsoft.com/office/drawing/2014/main" id="{CA108F31-374E-F0E6-DB22-E7E94A39D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754" y="1757566"/>
            <a:ext cx="5955197" cy="351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785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83D88-40B9-EE4E-FDFE-73CA3BE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59786-6045-2B09-7BFD-92FF25FCA219}"/>
              </a:ext>
            </a:extLst>
          </p:cNvPr>
          <p:cNvSpPr txBox="1">
            <a:spLocks/>
          </p:cNvSpPr>
          <p:nvPr/>
        </p:nvSpPr>
        <p:spPr>
          <a:xfrm>
            <a:off x="79248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Security Groups</a:t>
            </a:r>
          </a:p>
        </p:txBody>
      </p:sp>
      <p:pic>
        <p:nvPicPr>
          <p:cNvPr id="4" name="Picture 8" descr="AWS Cloud Resource | Security Group">
            <a:extLst>
              <a:ext uri="{FF2B5EF4-FFF2-40B4-BE49-F238E27FC236}">
                <a16:creationId xmlns:a16="http://schemas.microsoft.com/office/drawing/2014/main" id="{76BB68A3-BD9D-0D70-289D-A0CBE24A07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9669057" y="307487"/>
            <a:ext cx="925791" cy="74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A VPC with two security groups and servers in two subnets. The servers in subnet A are associated with security group 1. The servers in subnet B are associated with security group 2.">
            <a:extLst>
              <a:ext uri="{FF2B5EF4-FFF2-40B4-BE49-F238E27FC236}">
                <a16:creationId xmlns:a16="http://schemas.microsoft.com/office/drawing/2014/main" id="{7E0BA2C3-8CD0-7B95-2B85-810579147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068" y="1633050"/>
            <a:ext cx="7513429" cy="438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A8767A-027E-3F75-EF3B-BB61ABE645BC}"/>
              </a:ext>
            </a:extLst>
          </p:cNvPr>
          <p:cNvSpPr txBox="1"/>
          <p:nvPr/>
        </p:nvSpPr>
        <p:spPr>
          <a:xfrm>
            <a:off x="179503" y="1933812"/>
            <a:ext cx="3848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Security Groups are the </a:t>
            </a:r>
            <a:r>
              <a:rPr lang="en-US" sz="2400" b="1" dirty="0">
                <a:solidFill>
                  <a:srgbClr val="7030A0"/>
                </a:solidFill>
              </a:rPr>
              <a:t>most granular</a:t>
            </a:r>
            <a:r>
              <a:rPr lang="en-US" sz="2400" b="1" dirty="0"/>
              <a:t>, they are applied to </a:t>
            </a:r>
            <a:r>
              <a:rPr lang="en-US" sz="2400" b="1" dirty="0">
                <a:solidFill>
                  <a:srgbClr val="7030A0"/>
                </a:solidFill>
              </a:rPr>
              <a:t>individual resources</a:t>
            </a:r>
            <a:r>
              <a:rPr lang="en-US" sz="2400" b="1" dirty="0"/>
              <a:t> in a subnet.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Recall NACLs are for </a:t>
            </a:r>
            <a:r>
              <a:rPr lang="en-US" sz="2400" b="1" dirty="0">
                <a:solidFill>
                  <a:srgbClr val="7030A0"/>
                </a:solidFill>
              </a:rPr>
              <a:t>entire subnet</a:t>
            </a:r>
            <a:r>
              <a:rPr lang="en-US" sz="2400" b="1" dirty="0"/>
              <a:t>, and Route Tables are for the </a:t>
            </a:r>
            <a:r>
              <a:rPr lang="en-US" sz="2400" b="1" dirty="0">
                <a:solidFill>
                  <a:srgbClr val="7030A0"/>
                </a:solidFill>
              </a:rPr>
              <a:t>entire VPC</a:t>
            </a:r>
            <a:r>
              <a:rPr lang="en-US" sz="2400" b="1" dirty="0"/>
              <a:t> unless a custom route table is defined for a specific subnet</a:t>
            </a:r>
          </a:p>
        </p:txBody>
      </p:sp>
    </p:spTree>
    <p:extLst>
      <p:ext uri="{BB962C8B-B14F-4D97-AF65-F5344CB8AC3E}">
        <p14:creationId xmlns:p14="http://schemas.microsoft.com/office/powerpoint/2010/main" val="333403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AB9F-5AF7-D68E-474F-A6A2749A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1C84116D-2D82-0482-5393-A820B01E3325}"/>
              </a:ext>
            </a:extLst>
          </p:cNvPr>
          <p:cNvSpPr txBox="1">
            <a:spLocks/>
          </p:cNvSpPr>
          <p:nvPr/>
        </p:nvSpPr>
        <p:spPr>
          <a:xfrm>
            <a:off x="79248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Internet Gateway</a:t>
            </a:r>
          </a:p>
        </p:txBody>
      </p:sp>
      <p:pic>
        <p:nvPicPr>
          <p:cNvPr id="14340" name="Picture 4" descr="Image showing that the internet gateway sits between the VPC we create and the AWS region, showing a traffic flow from the public subnet in AZ A through to the internet.">
            <a:extLst>
              <a:ext uri="{FF2B5EF4-FFF2-40B4-BE49-F238E27FC236}">
                <a16:creationId xmlns:a16="http://schemas.microsoft.com/office/drawing/2014/main" id="{F164248C-1412-5204-BC65-28809C182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631" y="202433"/>
            <a:ext cx="6137422" cy="645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FA0A35-ABE6-A6B4-6EFC-528378F32FF8}"/>
              </a:ext>
            </a:extLst>
          </p:cNvPr>
          <p:cNvSpPr txBox="1"/>
          <p:nvPr/>
        </p:nvSpPr>
        <p:spPr>
          <a:xfrm>
            <a:off x="426067" y="1698171"/>
            <a:ext cx="510074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Connects to edge of VPC that enables internet access</a:t>
            </a:r>
          </a:p>
          <a:p>
            <a:endParaRPr lang="en-US" sz="2400" dirty="0"/>
          </a:p>
          <a:p>
            <a:r>
              <a:rPr lang="en-US" sz="2400" dirty="0"/>
              <a:t>All resources in public subnets with public IPs can send and receive data over internet</a:t>
            </a:r>
          </a:p>
          <a:p>
            <a:endParaRPr lang="en-US" sz="2400" dirty="0"/>
          </a:p>
          <a:p>
            <a:r>
              <a:rPr lang="en-US" sz="2400" dirty="0"/>
              <a:t>Can be restricted with things like security groups</a:t>
            </a:r>
          </a:p>
        </p:txBody>
      </p:sp>
    </p:spTree>
    <p:extLst>
      <p:ext uri="{BB962C8B-B14F-4D97-AF65-F5344CB8AC3E}">
        <p14:creationId xmlns:p14="http://schemas.microsoft.com/office/powerpoint/2010/main" val="708850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3B99-5897-D0C4-DF84-F4AC9F04A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99FDB15B-AD48-C617-4B58-A1D9EFDFBC13}"/>
              </a:ext>
            </a:extLst>
          </p:cNvPr>
          <p:cNvSpPr txBox="1">
            <a:spLocks/>
          </p:cNvSpPr>
          <p:nvPr/>
        </p:nvSpPr>
        <p:spPr>
          <a:xfrm>
            <a:off x="79248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NAT Gateway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6DF7D7-0157-C57E-4156-27A8A82EADE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86497" y="-301083"/>
            <a:ext cx="4775200" cy="6858000"/>
          </a:xfrm>
          <a:prstGeom prst="rect">
            <a:avLst/>
          </a:prstGeom>
        </p:spPr>
      </p:pic>
      <p:pic>
        <p:nvPicPr>
          <p:cNvPr id="17410" name="Picture 2" descr="NAT Gateway SVG and PNG Icons | AWS Icons">
            <a:extLst>
              <a:ext uri="{FF2B5EF4-FFF2-40B4-BE49-F238E27FC236}">
                <a16:creationId xmlns:a16="http://schemas.microsoft.com/office/drawing/2014/main" id="{A3B145A4-9DE2-38A7-9515-37DA89C90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046" y="189364"/>
            <a:ext cx="1029852" cy="98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A8F592-E7B3-1D1E-3E87-F61CA9A8969E}"/>
              </a:ext>
            </a:extLst>
          </p:cNvPr>
          <p:cNvSpPr txBox="1"/>
          <p:nvPr/>
        </p:nvSpPr>
        <p:spPr>
          <a:xfrm>
            <a:off x="426067" y="1872875"/>
            <a:ext cx="611361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RFC 1918 Private addresses are used in a private subnet</a:t>
            </a:r>
          </a:p>
          <a:p>
            <a:endParaRPr lang="en-US" sz="2400" dirty="0"/>
          </a:p>
          <a:p>
            <a:r>
              <a:rPr lang="en-US" sz="2400" dirty="0"/>
              <a:t>Internet traffic targeted at NAT gateway, via NACL</a:t>
            </a:r>
          </a:p>
          <a:p>
            <a:endParaRPr lang="en-US" sz="2400" dirty="0"/>
          </a:p>
          <a:p>
            <a:r>
              <a:rPr lang="en-US" sz="2400" dirty="0"/>
              <a:t>NAT gateway in public subnet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Proxies traffic to and from internet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Internal servers not reachable from Internet</a:t>
            </a:r>
          </a:p>
        </p:txBody>
      </p:sp>
    </p:spTree>
    <p:extLst>
      <p:ext uri="{BB962C8B-B14F-4D97-AF65-F5344CB8AC3E}">
        <p14:creationId xmlns:p14="http://schemas.microsoft.com/office/powerpoint/2010/main" val="1157616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C41C-6C4F-01AD-FBE0-58D0E1906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8110165-7C9B-94BE-7D14-C332E7327413}"/>
              </a:ext>
            </a:extLst>
          </p:cNvPr>
          <p:cNvSpPr txBox="1">
            <a:spLocks/>
          </p:cNvSpPr>
          <p:nvPr/>
        </p:nvSpPr>
        <p:spPr>
          <a:xfrm>
            <a:off x="79248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VPC Endpoint(s)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C75D6-0EE1-BC7B-2DDE-C87482126D03}"/>
              </a:ext>
            </a:extLst>
          </p:cNvPr>
          <p:cNvSpPr txBox="1"/>
          <p:nvPr/>
        </p:nvSpPr>
        <p:spPr>
          <a:xfrm>
            <a:off x="366546" y="1839686"/>
            <a:ext cx="51198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Resources within a VPC generally want to use other cloud provider services (AWS or others)</a:t>
            </a:r>
          </a:p>
          <a:p>
            <a:endParaRPr lang="en-US" dirty="0"/>
          </a:p>
          <a:p>
            <a:r>
              <a:rPr lang="en-US" dirty="0"/>
              <a:t>If the cloud service is public, you can exit the VPC go out to the internet, then back into AWS</a:t>
            </a:r>
          </a:p>
          <a:p>
            <a:endParaRPr lang="en-US" dirty="0"/>
          </a:p>
          <a:p>
            <a:r>
              <a:rPr lang="en-US" dirty="0"/>
              <a:t>If the cloud service is private, you cannot reach over the internet</a:t>
            </a:r>
          </a:p>
          <a:p>
            <a:endParaRPr lang="en-US" dirty="0"/>
          </a:p>
          <a:p>
            <a:r>
              <a:rPr lang="en-US" dirty="0"/>
              <a:t>VPC endpoints allow you to access services without going over the public internet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Security advantages, latency advantages, and cost advantages (not internet traffic)</a:t>
            </a:r>
          </a:p>
        </p:txBody>
      </p:sp>
      <p:pic>
        <p:nvPicPr>
          <p:cNvPr id="19458" name="Picture 2" descr="AWS Cloud Resource | VPC Endpoint">
            <a:extLst>
              <a:ext uri="{FF2B5EF4-FFF2-40B4-BE49-F238E27FC236}">
                <a16:creationId xmlns:a16="http://schemas.microsoft.com/office/drawing/2014/main" id="{791BDB80-B284-A571-3D09-5AE1C116F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901" y="330371"/>
            <a:ext cx="840921" cy="840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 descr="AWS VPC Interface Endpoints - PrivateLink">
            <a:extLst>
              <a:ext uri="{FF2B5EF4-FFF2-40B4-BE49-F238E27FC236}">
                <a16:creationId xmlns:a16="http://schemas.microsoft.com/office/drawing/2014/main" id="{5755B511-9D30-5CC6-A574-BC2480B48E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" r="4680"/>
          <a:stretch>
            <a:fillRect/>
          </a:stretch>
        </p:blipFill>
        <p:spPr bwMode="auto">
          <a:xfrm>
            <a:off x="5910919" y="1230084"/>
            <a:ext cx="6201833" cy="495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888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A951B-94B5-942B-D133-A0AF77444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617807-5B20-9E34-C490-5271AF27263A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V="1">
            <a:off x="8289381" y="2277323"/>
            <a:ext cx="0" cy="1379294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77E5D08-FA7D-9DFA-6663-0E56F248DC31}"/>
              </a:ext>
            </a:extLst>
          </p:cNvPr>
          <p:cNvCxnSpPr>
            <a:cxnSpLocks/>
            <a:stCxn id="21506" idx="3"/>
            <a:endCxn id="21" idx="1"/>
          </p:cNvCxnSpPr>
          <p:nvPr/>
        </p:nvCxnSpPr>
        <p:spPr>
          <a:xfrm flipV="1">
            <a:off x="8715297" y="2948754"/>
            <a:ext cx="1497663" cy="1821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A92D12-3E0B-4BC4-E494-8B8F5643960D}"/>
              </a:ext>
            </a:extLst>
          </p:cNvPr>
          <p:cNvCxnSpPr/>
          <p:nvPr/>
        </p:nvCxnSpPr>
        <p:spPr>
          <a:xfrm>
            <a:off x="1844537" y="4023444"/>
            <a:ext cx="3193448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EA7B43-1B40-0ECC-3061-681A035A3C71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1703197" y="1891564"/>
            <a:ext cx="3193448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itle 1">
            <a:extLst>
              <a:ext uri="{FF2B5EF4-FFF2-40B4-BE49-F238E27FC236}">
                <a16:creationId xmlns:a16="http://schemas.microsoft.com/office/drawing/2014/main" id="{2D4BDC07-1999-3D74-86A8-6052D14769C8}"/>
              </a:ext>
            </a:extLst>
          </p:cNvPr>
          <p:cNvSpPr txBox="1">
            <a:spLocks/>
          </p:cNvSpPr>
          <p:nvPr/>
        </p:nvSpPr>
        <p:spPr>
          <a:xfrm>
            <a:off x="73607" y="-1707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AWS Connectors</a:t>
            </a:r>
          </a:p>
        </p:txBody>
      </p:sp>
      <p:pic>
        <p:nvPicPr>
          <p:cNvPr id="21506" name="Picture 2" descr="AWS Cloud Resource | Transit Gateway">
            <a:extLst>
              <a:ext uri="{FF2B5EF4-FFF2-40B4-BE49-F238E27FC236}">
                <a16:creationId xmlns:a16="http://schemas.microsoft.com/office/drawing/2014/main" id="{0D7A9565-25EF-07FD-BE7F-DA24567D2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467" y="2541055"/>
            <a:ext cx="851830" cy="85183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508" name="Picture 4" descr="Cloud Icons | AWS Site To Site VPN">
            <a:extLst>
              <a:ext uri="{FF2B5EF4-FFF2-40B4-BE49-F238E27FC236}">
                <a16:creationId xmlns:a16="http://schemas.microsoft.com/office/drawing/2014/main" id="{543D168C-D781-E9DF-038A-F2099811C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516" y="3709112"/>
            <a:ext cx="628664" cy="62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 descr="Cloud Icons | AWS Direct Connect">
            <a:extLst>
              <a:ext uri="{FF2B5EF4-FFF2-40B4-BE49-F238E27FC236}">
                <a16:creationId xmlns:a16="http://schemas.microsoft.com/office/drawing/2014/main" id="{F05D8069-1D20-EB3E-4DF0-CD9F3FC80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4639" y="2636870"/>
            <a:ext cx="1006369" cy="65926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514" name="Picture 10" descr="AWS Cloud Resource | VPC Peering">
            <a:extLst>
              <a:ext uri="{FF2B5EF4-FFF2-40B4-BE49-F238E27FC236}">
                <a16:creationId xmlns:a16="http://schemas.microsoft.com/office/drawing/2014/main" id="{F0E5F418-B0D6-1E2B-BD96-37CAB8B8C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432" y="1465661"/>
            <a:ext cx="851807" cy="85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B4226AE-0E6C-6E44-3E1B-D85804312A8A}"/>
              </a:ext>
            </a:extLst>
          </p:cNvPr>
          <p:cNvSpPr/>
          <p:nvPr/>
        </p:nvSpPr>
        <p:spPr>
          <a:xfrm>
            <a:off x="833673" y="1657648"/>
            <a:ext cx="869524" cy="46783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VPC 1</a:t>
            </a:r>
          </a:p>
        </p:txBody>
      </p:sp>
      <p:pic>
        <p:nvPicPr>
          <p:cNvPr id="7" name="Picture 10" descr="AWS Cloud Resource | VPC Peering">
            <a:extLst>
              <a:ext uri="{FF2B5EF4-FFF2-40B4-BE49-F238E27FC236}">
                <a16:creationId xmlns:a16="http://schemas.microsoft.com/office/drawing/2014/main" id="{5D07F2D1-B072-F65E-C4AA-67D6E0A41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097" y="1465661"/>
            <a:ext cx="851807" cy="85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974E00F-B00A-4007-9F0E-3FDA3964F7A1}"/>
              </a:ext>
            </a:extLst>
          </p:cNvPr>
          <p:cNvSpPr/>
          <p:nvPr/>
        </p:nvSpPr>
        <p:spPr>
          <a:xfrm>
            <a:off x="4896645" y="1657648"/>
            <a:ext cx="869524" cy="46783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VPC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257E1-BD5F-13C2-4ABA-9F53ACFE08F0}"/>
              </a:ext>
            </a:extLst>
          </p:cNvPr>
          <p:cNvSpPr/>
          <p:nvPr/>
        </p:nvSpPr>
        <p:spPr>
          <a:xfrm>
            <a:off x="2888263" y="1657648"/>
            <a:ext cx="869524" cy="467832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VPC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DFA7C-B8C4-FED9-EBF0-0B44C9586E37}"/>
              </a:ext>
            </a:extLst>
          </p:cNvPr>
          <p:cNvSpPr txBox="1"/>
          <p:nvPr/>
        </p:nvSpPr>
        <p:spPr>
          <a:xfrm>
            <a:off x="2583466" y="1028317"/>
            <a:ext cx="1397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VPC Peering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2E9433-2968-9CB7-E6C8-86BCB9AA8B98}"/>
              </a:ext>
            </a:extLst>
          </p:cNvPr>
          <p:cNvSpPr/>
          <p:nvPr/>
        </p:nvSpPr>
        <p:spPr>
          <a:xfrm>
            <a:off x="985186" y="3789528"/>
            <a:ext cx="869524" cy="46783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VPC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078F90-69B1-2116-2D5E-23EE7959B6F8}"/>
              </a:ext>
            </a:extLst>
          </p:cNvPr>
          <p:cNvSpPr/>
          <p:nvPr/>
        </p:nvSpPr>
        <p:spPr>
          <a:xfrm>
            <a:off x="3090015" y="3668910"/>
            <a:ext cx="1397498" cy="709068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On Premise Network</a:t>
            </a:r>
          </a:p>
        </p:txBody>
      </p:sp>
      <p:pic>
        <p:nvPicPr>
          <p:cNvPr id="21516" name="Picture 12" descr="Stick-Man Icons - Free SVG &amp; PNG Stick ...">
            <a:extLst>
              <a:ext uri="{FF2B5EF4-FFF2-40B4-BE49-F238E27FC236}">
                <a16:creationId xmlns:a16="http://schemas.microsoft.com/office/drawing/2014/main" id="{71F362D3-E360-8247-F266-8B7BB8EB1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417" y="3751108"/>
            <a:ext cx="625022" cy="625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136F8E-C6B8-DFCD-9240-6759FB10D2AB}"/>
              </a:ext>
            </a:extLst>
          </p:cNvPr>
          <p:cNvSpPr txBox="1"/>
          <p:nvPr/>
        </p:nvSpPr>
        <p:spPr>
          <a:xfrm>
            <a:off x="7386272" y="1142423"/>
            <a:ext cx="3752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Transit Gateway and Direct Connect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AAA449-B4F5-D6D4-A5A3-5DBD20DF0E3F}"/>
              </a:ext>
            </a:extLst>
          </p:cNvPr>
          <p:cNvSpPr/>
          <p:nvPr/>
        </p:nvSpPr>
        <p:spPr>
          <a:xfrm>
            <a:off x="6508106" y="2377226"/>
            <a:ext cx="869524" cy="467832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VPC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889DC3-1DC7-99AD-4683-A89D7838FEB8}"/>
              </a:ext>
            </a:extLst>
          </p:cNvPr>
          <p:cNvSpPr/>
          <p:nvPr/>
        </p:nvSpPr>
        <p:spPr>
          <a:xfrm>
            <a:off x="6508106" y="3014531"/>
            <a:ext cx="869524" cy="467832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VPC2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1E8C16-51F9-D54C-7036-83773061DA81}"/>
              </a:ext>
            </a:extLst>
          </p:cNvPr>
          <p:cNvSpPr/>
          <p:nvPr/>
        </p:nvSpPr>
        <p:spPr>
          <a:xfrm>
            <a:off x="7705311" y="3656617"/>
            <a:ext cx="1168139" cy="559916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VENDOR VPC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D09CA1-5363-7910-3BA4-5F305C423560}"/>
              </a:ext>
            </a:extLst>
          </p:cNvPr>
          <p:cNvSpPr/>
          <p:nvPr/>
        </p:nvSpPr>
        <p:spPr>
          <a:xfrm>
            <a:off x="7080938" y="1717407"/>
            <a:ext cx="2416886" cy="559916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OTHER CLOUD PROVIDER COMPUTE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F3D4DA-553E-CDBC-F082-12475B78CBBA}"/>
              </a:ext>
            </a:extLst>
          </p:cNvPr>
          <p:cNvSpPr/>
          <p:nvPr/>
        </p:nvSpPr>
        <p:spPr>
          <a:xfrm>
            <a:off x="10212960" y="2594220"/>
            <a:ext cx="1397498" cy="709068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On Premise Network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2E6C34F-747D-20A3-1DF4-06F14C27C77B}"/>
              </a:ext>
            </a:extLst>
          </p:cNvPr>
          <p:cNvCxnSpPr>
            <a:cxnSpLocks/>
            <a:stCxn id="17" idx="3"/>
            <a:endCxn id="21506" idx="1"/>
          </p:cNvCxnSpPr>
          <p:nvPr/>
        </p:nvCxnSpPr>
        <p:spPr>
          <a:xfrm>
            <a:off x="7377630" y="2611142"/>
            <a:ext cx="485837" cy="35582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DC916A-15C2-E488-6B3C-40A64E5F25DB}"/>
              </a:ext>
            </a:extLst>
          </p:cNvPr>
          <p:cNvCxnSpPr>
            <a:cxnSpLocks/>
            <a:stCxn id="18" idx="3"/>
            <a:endCxn id="21506" idx="1"/>
          </p:cNvCxnSpPr>
          <p:nvPr/>
        </p:nvCxnSpPr>
        <p:spPr>
          <a:xfrm flipV="1">
            <a:off x="7377630" y="2966970"/>
            <a:ext cx="485837" cy="28147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ECC3D9D-943A-EC09-467C-061F86F54665}"/>
              </a:ext>
            </a:extLst>
          </p:cNvPr>
          <p:cNvSpPr/>
          <p:nvPr/>
        </p:nvSpPr>
        <p:spPr>
          <a:xfrm>
            <a:off x="10212960" y="3507465"/>
            <a:ext cx="1397498" cy="709068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Partner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Network</a:t>
            </a:r>
          </a:p>
        </p:txBody>
      </p:sp>
      <p:pic>
        <p:nvPicPr>
          <p:cNvPr id="36" name="Picture 4" descr="Cloud Icons | AWS Site To Site VPN">
            <a:extLst>
              <a:ext uri="{FF2B5EF4-FFF2-40B4-BE49-F238E27FC236}">
                <a16:creationId xmlns:a16="http://schemas.microsoft.com/office/drawing/2014/main" id="{C5179EA4-590A-E9A9-CD78-2DFDDF339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331" y="3547667"/>
            <a:ext cx="628664" cy="62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1C9243-21A7-1CA9-3415-DEDE86861903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8715297" y="3186152"/>
            <a:ext cx="547034" cy="67584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58464A-3687-40C4-663E-BEFAAADEB80D}"/>
              </a:ext>
            </a:extLst>
          </p:cNvPr>
          <p:cNvCxnSpPr>
            <a:cxnSpLocks/>
            <a:stCxn id="35" idx="1"/>
            <a:endCxn id="36" idx="3"/>
          </p:cNvCxnSpPr>
          <p:nvPr/>
        </p:nvCxnSpPr>
        <p:spPr>
          <a:xfrm flipH="1">
            <a:off x="9890995" y="3861999"/>
            <a:ext cx="32196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CD12A80-ED9B-770D-64A7-57C93080A6C4}"/>
              </a:ext>
            </a:extLst>
          </p:cNvPr>
          <p:cNvSpPr txBox="1"/>
          <p:nvPr/>
        </p:nvSpPr>
        <p:spPr>
          <a:xfrm>
            <a:off x="2345335" y="3210115"/>
            <a:ext cx="1639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2 Site VPN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08B2C0-A893-4405-85FE-165066D0C9B1}"/>
              </a:ext>
            </a:extLst>
          </p:cNvPr>
          <p:cNvSpPr/>
          <p:nvPr/>
        </p:nvSpPr>
        <p:spPr>
          <a:xfrm>
            <a:off x="1922981" y="2498649"/>
            <a:ext cx="869524" cy="46783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VPC 3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971E2D0-75A9-AD3E-9439-C5F1D4FDDDEF}"/>
              </a:ext>
            </a:extLst>
          </p:cNvPr>
          <p:cNvCxnSpPr>
            <a:cxnSpLocks/>
            <a:stCxn id="44" idx="0"/>
            <a:endCxn id="21514" idx="2"/>
          </p:cNvCxnSpPr>
          <p:nvPr/>
        </p:nvCxnSpPr>
        <p:spPr>
          <a:xfrm flipH="1" flipV="1">
            <a:off x="2345336" y="2317468"/>
            <a:ext cx="12407" cy="18118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EC955A3-1798-0B8A-206E-9CE446A8381B}"/>
              </a:ext>
            </a:extLst>
          </p:cNvPr>
          <p:cNvSpPr txBox="1"/>
          <p:nvPr/>
        </p:nvSpPr>
        <p:spPr>
          <a:xfrm>
            <a:off x="455428" y="5095751"/>
            <a:ext cx="112811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VPCs by design are a Virtual Data Center, thus they have a well enforced security boundary.  Connecting VPCs to other “datacenters” – either physical, other virtual within AWS, or the equivalent to a VPC in Azure, GCP, </a:t>
            </a:r>
            <a:r>
              <a:rPr lang="en-US" sz="2400" dirty="0" err="1"/>
              <a:t>etc</a:t>
            </a:r>
            <a:r>
              <a:rPr lang="en-US" sz="2400" dirty="0"/>
              <a:t> requires up front agreements and specific peering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046832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E7E0-7E18-576F-A6EB-A8DDC9156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9ED7-05E5-C6DF-8D21-FF91049DA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18255"/>
            <a:ext cx="10515600" cy="1325563"/>
          </a:xfrm>
        </p:spPr>
        <p:txBody>
          <a:bodyPr/>
          <a:lstStyle/>
          <a:p>
            <a:r>
              <a:rPr lang="en-US" dirty="0"/>
              <a:t>US-EAST-1 Region – 6AZs (2 shown)</a:t>
            </a:r>
          </a:p>
        </p:txBody>
      </p:sp>
      <p:pic>
        <p:nvPicPr>
          <p:cNvPr id="3" name="Picture 2" descr="Subnets for your VPC - Amazon Virtual Private Cloud">
            <a:extLst>
              <a:ext uri="{FF2B5EF4-FFF2-40B4-BE49-F238E27FC236}">
                <a16:creationId xmlns:a16="http://schemas.microsoft.com/office/drawing/2014/main" id="{D62C18DB-9AA2-2A6F-93C3-5F1671187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86" y="1521165"/>
            <a:ext cx="5778114" cy="453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Route Table | AWS Networking &amp; Content ...">
            <a:extLst>
              <a:ext uri="{FF2B5EF4-FFF2-40B4-BE49-F238E27FC236}">
                <a16:creationId xmlns:a16="http://schemas.microsoft.com/office/drawing/2014/main" id="{42BCDC17-8D39-0B61-47A3-A1E4234EB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943" y="2789665"/>
            <a:ext cx="422775" cy="42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oute Table | AWS Networking &amp; Content ...">
            <a:extLst>
              <a:ext uri="{FF2B5EF4-FFF2-40B4-BE49-F238E27FC236}">
                <a16:creationId xmlns:a16="http://schemas.microsoft.com/office/drawing/2014/main" id="{959A2953-FAAB-4BA0-B6C1-4A283125C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245" y="3212440"/>
            <a:ext cx="422775" cy="42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Security Groups vs NACL - A Comparison ...">
            <a:extLst>
              <a:ext uri="{FF2B5EF4-FFF2-40B4-BE49-F238E27FC236}">
                <a16:creationId xmlns:a16="http://schemas.microsoft.com/office/drawing/2014/main" id="{31C38106-BC98-7C31-1438-2656E1ABE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2655889" y="3329967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ecurity Groups vs NACL - A Comparison ...">
            <a:extLst>
              <a:ext uri="{FF2B5EF4-FFF2-40B4-BE49-F238E27FC236}">
                <a16:creationId xmlns:a16="http://schemas.microsoft.com/office/drawing/2014/main" id="{83A2D8C3-B8E8-6D23-FD44-1B6427932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5200900" y="4385027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ecurity Groups vs NACL - A Comparison ...">
            <a:extLst>
              <a:ext uri="{FF2B5EF4-FFF2-40B4-BE49-F238E27FC236}">
                <a16:creationId xmlns:a16="http://schemas.microsoft.com/office/drawing/2014/main" id="{951E1146-2BCA-4681-88AC-2587E29224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2643747" y="4385027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ecurity Groups vs NACL - A Comparison ...">
            <a:extLst>
              <a:ext uri="{FF2B5EF4-FFF2-40B4-BE49-F238E27FC236}">
                <a16:creationId xmlns:a16="http://schemas.microsoft.com/office/drawing/2014/main" id="{81C72481-3EEA-FFBE-F020-04462A6A05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5176998" y="3113546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AWS Cloud Resource | Security Group">
            <a:extLst>
              <a:ext uri="{FF2B5EF4-FFF2-40B4-BE49-F238E27FC236}">
                <a16:creationId xmlns:a16="http://schemas.microsoft.com/office/drawing/2014/main" id="{B68B4F16-276A-F08A-0F8D-C947BDA71E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1949314" y="3288442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ws Ec2 icon as SVG, PNG, JSX, and Base64">
            <a:extLst>
              <a:ext uri="{FF2B5EF4-FFF2-40B4-BE49-F238E27FC236}">
                <a16:creationId xmlns:a16="http://schemas.microsoft.com/office/drawing/2014/main" id="{A6379BB1-0845-7511-D63F-893A78AFE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730" y="3297923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AWS Cloud Resource | Security Group">
            <a:extLst>
              <a:ext uri="{FF2B5EF4-FFF2-40B4-BE49-F238E27FC236}">
                <a16:creationId xmlns:a16="http://schemas.microsoft.com/office/drawing/2014/main" id="{C1FCB82E-7FDA-F48D-5E4F-514DB0D589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1922257" y="4375546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Aws Ec2 icon as SVG, PNG, JSX, and Base64">
            <a:extLst>
              <a:ext uri="{FF2B5EF4-FFF2-40B4-BE49-F238E27FC236}">
                <a16:creationId xmlns:a16="http://schemas.microsoft.com/office/drawing/2014/main" id="{C3429E42-067C-8447-23E8-9458C690D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673" y="4385027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AWS Cloud Resource | Security Group">
            <a:extLst>
              <a:ext uri="{FF2B5EF4-FFF2-40B4-BE49-F238E27FC236}">
                <a16:creationId xmlns:a16="http://schemas.microsoft.com/office/drawing/2014/main" id="{5AD3F3A0-1F4E-044D-3AD3-FECF02CF7E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4732729" y="3288442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Aws Ec2 icon as SVG, PNG, JSX, and Base64">
            <a:extLst>
              <a:ext uri="{FF2B5EF4-FFF2-40B4-BE49-F238E27FC236}">
                <a16:creationId xmlns:a16="http://schemas.microsoft.com/office/drawing/2014/main" id="{66883D3F-12B8-3A5E-CC0F-C59436EA9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145" y="3297923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AWS Cloud Resource | Security Group">
            <a:extLst>
              <a:ext uri="{FF2B5EF4-FFF2-40B4-BE49-F238E27FC236}">
                <a16:creationId xmlns:a16="http://schemas.microsoft.com/office/drawing/2014/main" id="{B176CF56-B789-0E3C-95F0-7A1F3F3E5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4705672" y="4375546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Aws Ec2 icon as SVG, PNG, JSX, and Base64">
            <a:extLst>
              <a:ext uri="{FF2B5EF4-FFF2-40B4-BE49-F238E27FC236}">
                <a16:creationId xmlns:a16="http://schemas.microsoft.com/office/drawing/2014/main" id="{BBE82523-CC9A-E08B-3435-20C59E067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088" y="4385027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Amazon VPC Endpoints | AWS Networking ...">
            <a:extLst>
              <a:ext uri="{FF2B5EF4-FFF2-40B4-BE49-F238E27FC236}">
                <a16:creationId xmlns:a16="http://schemas.microsoft.com/office/drawing/2014/main" id="{EC097283-46B6-39BE-9748-C74C7906C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376" y="2135958"/>
            <a:ext cx="467589" cy="46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4" descr="Private Subnets - NAT Gateway vs NAT ...">
            <a:extLst>
              <a:ext uri="{FF2B5EF4-FFF2-40B4-BE49-F238E27FC236}">
                <a16:creationId xmlns:a16="http://schemas.microsoft.com/office/drawing/2014/main" id="{18B27667-7238-047D-CFBB-BC4193E84B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9" t="6111" r="23479" b="33800"/>
          <a:stretch>
            <a:fillRect/>
          </a:stretch>
        </p:blipFill>
        <p:spPr bwMode="auto">
          <a:xfrm>
            <a:off x="2057290" y="2085798"/>
            <a:ext cx="511242" cy="53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6" descr="Cloud Icons | AWS Direct Connect">
            <a:extLst>
              <a:ext uri="{FF2B5EF4-FFF2-40B4-BE49-F238E27FC236}">
                <a16:creationId xmlns:a16="http://schemas.microsoft.com/office/drawing/2014/main" id="{FB90633F-7794-6E65-96EE-3E574B586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301" y="2118556"/>
            <a:ext cx="504507" cy="50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Subnets for your VPC - Amazon Virtual Private Cloud">
            <a:extLst>
              <a:ext uri="{FF2B5EF4-FFF2-40B4-BE49-F238E27FC236}">
                <a16:creationId xmlns:a16="http://schemas.microsoft.com/office/drawing/2014/main" id="{364404F9-68DC-FA3D-9A5F-FED81046B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709" y="1521165"/>
            <a:ext cx="5778114" cy="453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Security Groups vs NACL - A Comparison ...">
            <a:extLst>
              <a:ext uri="{FF2B5EF4-FFF2-40B4-BE49-F238E27FC236}">
                <a16:creationId xmlns:a16="http://schemas.microsoft.com/office/drawing/2014/main" id="{D5042C09-D2DC-AA92-7917-7DDA11D943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8799712" y="3329967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 descr="Security Groups vs NACL - A Comparison ...">
            <a:extLst>
              <a:ext uri="{FF2B5EF4-FFF2-40B4-BE49-F238E27FC236}">
                <a16:creationId xmlns:a16="http://schemas.microsoft.com/office/drawing/2014/main" id="{5B9E9356-42F5-3355-C0A3-54037FC953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8787570" y="4385027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AWS Cloud Resource | Security Group">
            <a:extLst>
              <a:ext uri="{FF2B5EF4-FFF2-40B4-BE49-F238E27FC236}">
                <a16:creationId xmlns:a16="http://schemas.microsoft.com/office/drawing/2014/main" id="{94CA3BF4-B007-D3B2-1C4E-C2E1FC25C8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8093137" y="3288442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 descr="Aws Ec2 icon as SVG, PNG, JSX, and Base64">
            <a:extLst>
              <a:ext uri="{FF2B5EF4-FFF2-40B4-BE49-F238E27FC236}">
                <a16:creationId xmlns:a16="http://schemas.microsoft.com/office/drawing/2014/main" id="{97D659C5-CD13-9987-2510-A7F78F0B5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4553" y="3297923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8" descr="AWS Cloud Resource | Security Group">
            <a:extLst>
              <a:ext uri="{FF2B5EF4-FFF2-40B4-BE49-F238E27FC236}">
                <a16:creationId xmlns:a16="http://schemas.microsoft.com/office/drawing/2014/main" id="{12DAB500-89A8-55E2-A485-7A6D2B472D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8066080" y="4375546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 descr="Aws Ec2 icon as SVG, PNG, JSX, and Base64">
            <a:extLst>
              <a:ext uri="{FF2B5EF4-FFF2-40B4-BE49-F238E27FC236}">
                <a16:creationId xmlns:a16="http://schemas.microsoft.com/office/drawing/2014/main" id="{48013B4C-BC16-1D2E-479D-7A00BFC65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496" y="4385027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8" descr="AWS Cloud Resource | Security Group">
            <a:extLst>
              <a:ext uri="{FF2B5EF4-FFF2-40B4-BE49-F238E27FC236}">
                <a16:creationId xmlns:a16="http://schemas.microsoft.com/office/drawing/2014/main" id="{D0BF21E2-FE77-9164-B2A8-797C881D91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10553168" y="3299593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0" descr="Aws Ec2 icon as SVG, PNG, JSX, and Base64">
            <a:extLst>
              <a:ext uri="{FF2B5EF4-FFF2-40B4-BE49-F238E27FC236}">
                <a16:creationId xmlns:a16="http://schemas.microsoft.com/office/drawing/2014/main" id="{DC295898-2444-0723-B33F-31AEE7ECB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468" y="3309074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AWS Cloud Resource | Security Group">
            <a:extLst>
              <a:ext uri="{FF2B5EF4-FFF2-40B4-BE49-F238E27FC236}">
                <a16:creationId xmlns:a16="http://schemas.microsoft.com/office/drawing/2014/main" id="{3CB8D701-1DB6-9FE9-F7BE-6DE46D3B3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5" b="10127"/>
          <a:stretch>
            <a:fillRect/>
          </a:stretch>
        </p:blipFill>
        <p:spPr bwMode="auto">
          <a:xfrm>
            <a:off x="10526111" y="4386697"/>
            <a:ext cx="511242" cy="41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0" descr="Aws Ec2 icon as SVG, PNG, JSX, and Base64">
            <a:extLst>
              <a:ext uri="{FF2B5EF4-FFF2-40B4-BE49-F238E27FC236}">
                <a16:creationId xmlns:a16="http://schemas.microsoft.com/office/drawing/2014/main" id="{93E55DF3-AAEB-9BB9-0F36-657D60F3C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411" y="4396178"/>
            <a:ext cx="345641" cy="3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2" descr="Amazon VPC Endpoints | AWS Networking ...">
            <a:extLst>
              <a:ext uri="{FF2B5EF4-FFF2-40B4-BE49-F238E27FC236}">
                <a16:creationId xmlns:a16="http://schemas.microsoft.com/office/drawing/2014/main" id="{09760B96-053A-8765-D112-24853F94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199" y="2135958"/>
            <a:ext cx="467589" cy="46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4" descr="Private Subnets - NAT Gateway vs NAT ...">
            <a:extLst>
              <a:ext uri="{FF2B5EF4-FFF2-40B4-BE49-F238E27FC236}">
                <a16:creationId xmlns:a16="http://schemas.microsoft.com/office/drawing/2014/main" id="{7BCFFEFA-A718-6C8E-94BC-1AF1CB8B92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9" t="6111" r="23479" b="33800"/>
          <a:stretch>
            <a:fillRect/>
          </a:stretch>
        </p:blipFill>
        <p:spPr bwMode="auto">
          <a:xfrm>
            <a:off x="8201113" y="2085798"/>
            <a:ext cx="511242" cy="53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6" descr="Cloud Icons | AWS Direct Connect">
            <a:extLst>
              <a:ext uri="{FF2B5EF4-FFF2-40B4-BE49-F238E27FC236}">
                <a16:creationId xmlns:a16="http://schemas.microsoft.com/office/drawing/2014/main" id="{2B675B41-E7B6-BE47-BCE0-79D56F4C1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0124" y="2118556"/>
            <a:ext cx="504507" cy="504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Security Groups vs NACL - A Comparison ...">
            <a:extLst>
              <a:ext uri="{FF2B5EF4-FFF2-40B4-BE49-F238E27FC236}">
                <a16:creationId xmlns:a16="http://schemas.microsoft.com/office/drawing/2014/main" id="{B37B5F46-24E7-3159-261A-BA28A67863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9899965" y="3326252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 descr="Security Groups vs NACL - A Comparison ...">
            <a:extLst>
              <a:ext uri="{FF2B5EF4-FFF2-40B4-BE49-F238E27FC236}">
                <a16:creationId xmlns:a16="http://schemas.microsoft.com/office/drawing/2014/main" id="{D2DFD8FD-371E-96CD-5632-657438EE5A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5" r="10536" b="18258"/>
          <a:stretch>
            <a:fillRect/>
          </a:stretch>
        </p:blipFill>
        <p:spPr bwMode="auto">
          <a:xfrm>
            <a:off x="9887823" y="4381312"/>
            <a:ext cx="414780" cy="41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335D28-ABE2-0366-97CC-CF963A93D639}"/>
              </a:ext>
            </a:extLst>
          </p:cNvPr>
          <p:cNvSpPr txBox="1"/>
          <p:nvPr/>
        </p:nvSpPr>
        <p:spPr>
          <a:xfrm>
            <a:off x="1484564" y="6315108"/>
            <a:ext cx="9779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Visualizing all of the AWS VPC Traffic Control Components in Context</a:t>
            </a:r>
          </a:p>
        </p:txBody>
      </p:sp>
    </p:spTree>
    <p:extLst>
      <p:ext uri="{BB962C8B-B14F-4D97-AF65-F5344CB8AC3E}">
        <p14:creationId xmlns:p14="http://schemas.microsoft.com/office/powerpoint/2010/main" val="1706512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307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Logs: Visibility Into Your Network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39" y="730471"/>
            <a:ext cx="107865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Logs capture metadata about IP traffic flowing through your network interfaces — not the packet contents, but who talked to whom, on what port, and whether it was allowed or rejected.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275650" y="1328614"/>
            <a:ext cx="7062064" cy="280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841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|------------</a:t>
            </a:r>
            <a:r>
              <a:rPr lang="en-US" sz="20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Level</a:t>
            </a:r>
            <a:r>
              <a:rPr lang="en-US" sz="2000" b="1" dirty="0">
                <a:solidFill>
                  <a:srgbClr val="0E2841"/>
                </a:solidFill>
                <a:latin typeface="Consolas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------------|</a:t>
            </a:r>
            <a:endParaRPr lang="en-US" sz="2000" b="1" dirty="0"/>
          </a:p>
        </p:txBody>
      </p:sp>
      <p:sp>
        <p:nvSpPr>
          <p:cNvPr id="6" name="Shape 4"/>
          <p:cNvSpPr/>
          <p:nvPr/>
        </p:nvSpPr>
        <p:spPr>
          <a:xfrm>
            <a:off x="2275649" y="1740249"/>
            <a:ext cx="2012795" cy="1068975"/>
          </a:xfrm>
          <a:prstGeom prst="rect">
            <a:avLst/>
          </a:prstGeom>
          <a:solidFill>
            <a:srgbClr val="F4EEFF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75649" y="1740250"/>
            <a:ext cx="20127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75649" y="2060290"/>
            <a:ext cx="20127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ENIs in the entire VPC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00285" y="1699678"/>
            <a:ext cx="2012795" cy="1068975"/>
          </a:xfrm>
          <a:prstGeom prst="rect">
            <a:avLst/>
          </a:prstGeom>
          <a:solidFill>
            <a:srgbClr val="EBF3FB"/>
          </a:solidFill>
          <a:ln w="9525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285" y="1699679"/>
            <a:ext cx="201279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00285" y="2019719"/>
            <a:ext cx="20127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ENIs in a specific subnet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24921" y="1639398"/>
            <a:ext cx="2012795" cy="1068975"/>
          </a:xfrm>
          <a:prstGeom prst="rect">
            <a:avLst/>
          </a:prstGeom>
          <a:solidFill>
            <a:srgbClr val="E8F4F8"/>
          </a:solidFill>
          <a:ln w="952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7324921" y="1639399"/>
            <a:ext cx="201279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24921" y="1938700"/>
            <a:ext cx="201279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network interface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285" y="2936477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 Record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0" y="3276490"/>
            <a:ext cx="12192000" cy="698841"/>
          </a:xfrm>
          <a:prstGeom prst="rect">
            <a:avLst/>
          </a:prstGeom>
          <a:solidFill>
            <a:srgbClr val="1A1A2E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81" y="3322210"/>
            <a:ext cx="1213021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FF88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version  account-id  interface-id  srcaddr    dstaddr    srcport  dstport  protocol  packets  bytes  start  end  action  log-status</a:t>
            </a:r>
            <a:endParaRPr lang="en-US" sz="1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00FF88"/>
                </a:solidFill>
                <a:latin typeface="Consolas" panose="020B0609020204030204" pitchFamily="49" charset="0"/>
                <a:ea typeface="Courier New" pitchFamily="34" charset="-122"/>
                <a:cs typeface="Consolas" panose="020B0609020204030204" pitchFamily="49" charset="0"/>
              </a:rPr>
              <a:t>2        123456789   eni-abc123    10.0.1.45  10.0.2.12  52341    5432     6         12       8192   ...    ...  ACCEPT  OK</a:t>
            </a:r>
            <a:endParaRPr lang="en-US" sz="13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56052" y="4367661"/>
            <a:ext cx="3797472" cy="1826641"/>
          </a:xfrm>
          <a:prstGeom prst="rect">
            <a:avLst/>
          </a:prstGeom>
          <a:solidFill>
            <a:srgbClr val="FD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3569" y="4459657"/>
            <a:ext cx="400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43569" y="4834501"/>
            <a:ext cx="361174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unexpected traffic sources, rejected connection attempts, or lateral movement inside the VPC.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203213" y="4372789"/>
            <a:ext cx="3797472" cy="1826641"/>
          </a:xfrm>
          <a:prstGeom prst="rect">
            <a:avLst/>
          </a:prstGeom>
          <a:solidFill>
            <a:srgbClr val="EBF3FB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03213" y="4475629"/>
            <a:ext cx="400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Debugging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245187" y="4818529"/>
            <a:ext cx="365078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can't my Lambda reach RDS?" Flow Logs show REJECT entries revealing which Security Group or NACL rule is blocking traffic.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188590" y="4367661"/>
            <a:ext cx="3797472" cy="1826641"/>
          </a:xfrm>
          <a:prstGeom prst="rect">
            <a:avLst/>
          </a:prstGeom>
          <a:solidFill>
            <a:srgbClr val="EBF7EF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88590" y="4459657"/>
            <a:ext cx="400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50375" y="4818529"/>
            <a:ext cx="3614524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frameworks (PCI-DSS, HIPAA, SOC2) require evidence of network monitoring. Flow Logs sent to S3 or CloudWatch Logs satisfy this.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6052" y="6377940"/>
            <a:ext cx="1183001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Logs go to CloudWatch Logs or S3. They don't capture DNS queries or packet contents — for that you need VPC Traffic Mirroring.</a:t>
            </a:r>
            <a:endParaRPr lang="en-US" sz="16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4102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VPCs Are More Than Just VMs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39" y="791576"/>
            <a:ext cx="1069234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managed AWS services deploy customer compute inside your VPC — meaning your subnet design, security groups, and CIDR sizing affect them too.</a:t>
            </a: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102445" y="1341941"/>
            <a:ext cx="3633720" cy="3806796"/>
          </a:xfrm>
          <a:prstGeom prst="rect">
            <a:avLst/>
          </a:prstGeom>
          <a:solidFill>
            <a:srgbClr val="EBF3FB"/>
          </a:solidFill>
          <a:ln w="19050">
            <a:solidFill>
              <a:srgbClr val="0070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96716" y="144079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VPC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825316" y="1905412"/>
            <a:ext cx="2286000" cy="1034433"/>
          </a:xfrm>
          <a:prstGeom prst="rect">
            <a:avLst/>
          </a:prstGeom>
          <a:solidFill>
            <a:srgbClr val="EBF3FB"/>
          </a:solidFill>
          <a:ln w="9525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5316" y="1905411"/>
            <a:ext cx="2286000" cy="1034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25316" y="3124779"/>
            <a:ext cx="2286000" cy="1034419"/>
          </a:xfrm>
          <a:prstGeom prst="rect">
            <a:avLst/>
          </a:prstGeom>
          <a:solidFill>
            <a:srgbClr val="F4EEFF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25316" y="3124778"/>
            <a:ext cx="2286000" cy="1034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25316" y="4721275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 injected by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↑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6282" y="1341942"/>
            <a:ext cx="3431842" cy="888627"/>
          </a:xfrm>
          <a:prstGeom prst="rect">
            <a:avLst/>
          </a:prstGeom>
          <a:solidFill>
            <a:srgbClr val="F1F3F5"/>
          </a:solidFill>
          <a:ln w="9525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396282" y="1409868"/>
            <a:ext cx="3340402" cy="294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96282" y="1770477"/>
            <a:ext cx="3340402" cy="343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nodes in private subnets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28124" y="1748976"/>
            <a:ext cx="274320" cy="0"/>
          </a:xfrm>
          <a:prstGeom prst="line">
            <a:avLst/>
          </a:prstGeom>
          <a:noFill/>
          <a:ln w="12700">
            <a:solidFill>
              <a:srgbClr val="0070C0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6282" y="2314667"/>
            <a:ext cx="3431842" cy="888627"/>
          </a:xfrm>
          <a:prstGeom prst="rect">
            <a:avLst/>
          </a:prstGeom>
          <a:solidFill>
            <a:srgbClr val="F1F3F5"/>
          </a:solidFill>
          <a:ln w="952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396282" y="2382593"/>
            <a:ext cx="3340402" cy="294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6282" y="2730845"/>
            <a:ext cx="3340402" cy="343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Redis/Memcached nodes in private subnets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828124" y="2746414"/>
            <a:ext cx="274320" cy="0"/>
          </a:xfrm>
          <a:prstGeom prst="line">
            <a:avLst/>
          </a:prstGeom>
          <a:noFill/>
          <a:ln w="12700">
            <a:solidFill>
              <a:srgbClr val="15608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6282" y="3287389"/>
            <a:ext cx="3431842" cy="888627"/>
          </a:xfrm>
          <a:prstGeom prst="rect">
            <a:avLst/>
          </a:prstGeom>
          <a:solidFill>
            <a:srgbClr val="F1F3F5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396282" y="3355315"/>
            <a:ext cx="3340402" cy="294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6282" y="3691210"/>
            <a:ext cx="3340402" cy="343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nodes in private subnets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828124" y="3682067"/>
            <a:ext cx="27432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96282" y="4260114"/>
            <a:ext cx="3431842" cy="888627"/>
          </a:xfrm>
          <a:prstGeom prst="rect">
            <a:avLst/>
          </a:prstGeom>
          <a:solidFill>
            <a:srgbClr val="F1F3F5"/>
          </a:solidFill>
          <a:ln w="952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396282" y="4328040"/>
            <a:ext cx="3340402" cy="2948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(Kafka)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6282" y="4676292"/>
            <a:ext cx="3340402" cy="343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nodes in private subnets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828124" y="4630076"/>
            <a:ext cx="274320" cy="0"/>
          </a:xfrm>
          <a:prstGeom prst="line">
            <a:avLst/>
          </a:prstGeom>
          <a:noFill/>
          <a:ln w="12700">
            <a:solidFill>
              <a:srgbClr val="E97132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59081" y="1341942"/>
            <a:ext cx="3556274" cy="867630"/>
          </a:xfrm>
          <a:prstGeom prst="rect">
            <a:avLst/>
          </a:prstGeom>
          <a:solidFill>
            <a:srgbClr val="F1F3F5"/>
          </a:solidFill>
          <a:ln w="952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8150520" y="1378517"/>
            <a:ext cx="3306711" cy="33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150520" y="1698614"/>
            <a:ext cx="3306711" cy="391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(EC2 or Fargate) in your VPC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784761" y="1835472"/>
            <a:ext cx="274320" cy="0"/>
          </a:xfrm>
          <a:prstGeom prst="line">
            <a:avLst/>
          </a:prstGeom>
          <a:noFill/>
          <a:ln w="12700">
            <a:solidFill>
              <a:srgbClr val="E97132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59081" y="2289954"/>
            <a:ext cx="3556274" cy="867630"/>
          </a:xfrm>
          <a:prstGeom prst="rect">
            <a:avLst/>
          </a:prstGeom>
          <a:solidFill>
            <a:srgbClr val="F1F3F5"/>
          </a:solidFill>
          <a:ln w="95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3" name="Text 31"/>
          <p:cNvSpPr/>
          <p:nvPr/>
        </p:nvSpPr>
        <p:spPr>
          <a:xfrm>
            <a:off x="8150520" y="2326529"/>
            <a:ext cx="3306711" cy="33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(Fargate)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150519" y="2695251"/>
            <a:ext cx="3306711" cy="391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awsvpc mode: each task gets its own ENI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784761" y="2696985"/>
            <a:ext cx="27432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59081" y="3225610"/>
            <a:ext cx="3556274" cy="867630"/>
          </a:xfrm>
          <a:prstGeom prst="rect">
            <a:avLst/>
          </a:prstGeom>
          <a:solidFill>
            <a:srgbClr val="F1F3F5"/>
          </a:solidFill>
          <a:ln w="9525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7" name="Text 35"/>
          <p:cNvSpPr/>
          <p:nvPr/>
        </p:nvSpPr>
        <p:spPr>
          <a:xfrm>
            <a:off x="8150520" y="3262185"/>
            <a:ext cx="3306711" cy="33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150519" y="3617013"/>
            <a:ext cx="3464836" cy="391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nodes in private subnets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784761" y="3620283"/>
            <a:ext cx="274320" cy="0"/>
          </a:xfrm>
          <a:prstGeom prst="line">
            <a:avLst/>
          </a:prstGeom>
          <a:noFill/>
          <a:ln w="12700">
            <a:solidFill>
              <a:srgbClr val="196B24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059081" y="4198335"/>
            <a:ext cx="3556274" cy="867630"/>
          </a:xfrm>
          <a:prstGeom prst="rect">
            <a:avLst/>
          </a:prstGeom>
          <a:solidFill>
            <a:srgbClr val="F1F3F5"/>
          </a:solidFill>
          <a:ln w="9525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41" name="Text 39"/>
          <p:cNvSpPr/>
          <p:nvPr/>
        </p:nvSpPr>
        <p:spPr>
          <a:xfrm>
            <a:off x="8150520" y="4234910"/>
            <a:ext cx="3306711" cy="33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(optional)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150519" y="4581440"/>
            <a:ext cx="3306711" cy="391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VPC-attached for private resource access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784761" y="4617724"/>
            <a:ext cx="274320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06532" y="5314399"/>
            <a:ext cx="3431842" cy="1044542"/>
          </a:xfrm>
          <a:prstGeom prst="rect">
            <a:avLst/>
          </a:prstGeom>
          <a:solidFill>
            <a:srgbClr val="F8F9FA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06531" y="5314399"/>
            <a:ext cx="62635" cy="104454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1124" y="5314399"/>
            <a:ext cx="3257000" cy="1044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CIDR sizing: each managed service node consumes IPs from your subnet — /24 (251 IPs) runs out fast with EKS + RDS + Fargate.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112704" y="5302784"/>
            <a:ext cx="3746529" cy="1060944"/>
          </a:xfrm>
          <a:prstGeom prst="rect">
            <a:avLst/>
          </a:prstGeom>
          <a:solidFill>
            <a:srgbClr val="F8F9FA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8" name="Shape 46"/>
          <p:cNvSpPr/>
          <p:nvPr/>
        </p:nvSpPr>
        <p:spPr>
          <a:xfrm>
            <a:off x="4105161" y="5302701"/>
            <a:ext cx="48595" cy="1060944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9" name="Text 47"/>
          <p:cNvSpPr/>
          <p:nvPr/>
        </p:nvSpPr>
        <p:spPr>
          <a:xfrm>
            <a:off x="4315559" y="5302784"/>
            <a:ext cx="3478920" cy="1060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Groups still apply — your app SG must explicitly allow the port to the database SG. VPC placement alone doesn't open traffic.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74649" y="5314399"/>
            <a:ext cx="3540706" cy="1044542"/>
          </a:xfrm>
          <a:prstGeom prst="rect">
            <a:avLst/>
          </a:prstGeom>
          <a:solidFill>
            <a:srgbClr val="F8F9FA"/>
          </a:solidFill>
          <a:ln w="635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1" name="Shape 49"/>
          <p:cNvSpPr/>
          <p:nvPr/>
        </p:nvSpPr>
        <p:spPr>
          <a:xfrm>
            <a:off x="8074649" y="5314399"/>
            <a:ext cx="63737" cy="104454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52" name="Text 50"/>
          <p:cNvSpPr/>
          <p:nvPr/>
        </p:nvSpPr>
        <p:spPr>
          <a:xfrm>
            <a:off x="8301027" y="5314399"/>
            <a:ext cx="3314328" cy="1044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AZ placement — spread managed service subnets across AZs for HA, exactly as you would for EC2 instances.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4409" y="6481624"/>
            <a:ext cx="12047591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launch a VM to need a VPC — provision an RDS instance or an EKS cluster and you're already inside one.</a:t>
            </a:r>
            <a:endParaRPr lang="en-US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What You Should Now Be Able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0324" y="1204477"/>
            <a:ext cx="3136392" cy="2271411"/>
          </a:xfrm>
          <a:prstGeom prst="rect">
            <a:avLst/>
          </a:prstGeom>
          <a:solidFill>
            <a:srgbClr val="EBF3FB"/>
          </a:solidFill>
          <a:ln w="9525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18657" y="1277630"/>
            <a:ext cx="28308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VPC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18657" y="1588526"/>
            <a:ext cx="283089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CIDR range, divide it into public and private subnets across multiple AZs, and understand why /16 vs /24 matters.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4731" y="1204477"/>
            <a:ext cx="3049895" cy="2271411"/>
          </a:xfrm>
          <a:prstGeom prst="rect">
            <a:avLst/>
          </a:prstGeom>
          <a:solidFill>
            <a:srgbClr val="F4EEFF"/>
          </a:solidFill>
          <a:ln w="9525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51891" y="1277630"/>
            <a:ext cx="27528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Traffic Flow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51891" y="1588526"/>
            <a:ext cx="2752827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Security Group rules (stateful, allow-only) and NACL rules (stateless, allow/deny) and explain when to use each.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530947" y="1204477"/>
            <a:ext cx="3049895" cy="2271411"/>
          </a:xfrm>
          <a:prstGeom prst="rect">
            <a:avLst/>
          </a:prstGeom>
          <a:solidFill>
            <a:srgbClr val="E8F4F8"/>
          </a:solidFill>
          <a:ln w="9525">
            <a:solidFill>
              <a:srgbClr val="156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68107" y="1277630"/>
            <a:ext cx="27528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Traffic Correctly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68107" y="1588526"/>
            <a:ext cx="2752827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route tables with IGW for public subnets, NAT Gateway for private egress, and VPC Endpoints to reach AWS services privately.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50324" y="3587851"/>
            <a:ext cx="3136392" cy="2271411"/>
          </a:xfrm>
          <a:prstGeom prst="rect">
            <a:avLst/>
          </a:prstGeom>
          <a:solidFill>
            <a:srgbClr val="FEF3E8"/>
          </a:solidFill>
          <a:ln w="9525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18657" y="3772217"/>
            <a:ext cx="28308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VPCs and Networks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18657" y="4169612"/>
            <a:ext cx="283089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VPC Peering, Transit Gateway, Direct Connect, and Site-to-Site VPN — and when each is the right tool.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14731" y="3575494"/>
            <a:ext cx="3049895" cy="2271411"/>
          </a:xfrm>
          <a:prstGeom prst="rect">
            <a:avLst/>
          </a:prstGeom>
          <a:solidFill>
            <a:srgbClr val="FDEAEA"/>
          </a:solidFill>
          <a:ln w="95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51891" y="3648647"/>
            <a:ext cx="27528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Your Network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51891" y="4120183"/>
            <a:ext cx="2752827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and query VPC Flow Logs to debug connectivity, identify rejected traffic, and satisfy compliance requirements.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530947" y="3575494"/>
            <a:ext cx="3049895" cy="2271411"/>
          </a:xfrm>
          <a:prstGeom prst="rect">
            <a:avLst/>
          </a:prstGeom>
          <a:solidFill>
            <a:srgbClr val="EBF7EF"/>
          </a:solidFill>
          <a:ln w="9525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68107" y="3735146"/>
            <a:ext cx="27528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for Managed Services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68107" y="4194326"/>
            <a:ext cx="291273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AWS managed services inject ENIs into your VPC and what that means for subnet sizing, security groups, and AZ placement.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50324" y="6184758"/>
            <a:ext cx="9530518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Lab  — Deploy a multi-subnet VPC with public/private tiers using Pulumi, connecting a public EC2 to a private RDS instance.</a:t>
            </a:r>
            <a:endParaRPr lang="en-US" sz="20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38091</TotalTime>
  <Words>3153</Words>
  <Application>Microsoft Macintosh PowerPoint</Application>
  <PresentationFormat>Widescreen</PresentationFormat>
  <Paragraphs>417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Consolas</vt:lpstr>
      <vt:lpstr>Office Theme</vt:lpstr>
      <vt:lpstr>Cloud Native Platform Engineering</vt:lpstr>
      <vt:lpstr>Objectives</vt:lpstr>
      <vt:lpstr>The Traditional Datacenter</vt:lpstr>
      <vt:lpstr>US-EAST-1 Region – 6AZs</vt:lpstr>
      <vt:lpstr>VPCs– Software Datacenter Clusters</vt:lpstr>
      <vt:lpstr>Networking</vt:lpstr>
      <vt:lpstr>Addresses</vt:lpstr>
      <vt:lpstr>Networking Layers: What VPCS’s Operate On</vt:lpstr>
      <vt:lpstr>IP Addresses</vt:lpstr>
      <vt:lpstr>Subnetting and “Sandboxes”</vt:lpstr>
      <vt:lpstr>VPCs– Software Datacenter Clusters</vt:lpstr>
      <vt:lpstr>VPCs– Software Datacenter Clusters</vt:lpstr>
      <vt:lpstr>Private and Public Network Addresses </vt:lpstr>
      <vt:lpstr>IP Assignment: How Instances Get Their Addresses</vt:lpstr>
      <vt:lpstr>Controlling Public (Internet Access)</vt:lpstr>
      <vt:lpstr>Public and Private Subnets</vt:lpstr>
      <vt:lpstr>DNS: How Names Become Addresses</vt:lpstr>
      <vt:lpstr>Controlling Traffic Flow in (and out) of a VPC</vt:lpstr>
      <vt:lpstr>Route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US-EAST-1 Region – 6AZs (2 shown)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Mitchell,Brian</dc:creator>
  <cp:lastModifiedBy>Mitchell,Brian</cp:lastModifiedBy>
  <cp:revision>15</cp:revision>
  <dcterms:created xsi:type="dcterms:W3CDTF">2024-07-24T15:07:03Z</dcterms:created>
  <dcterms:modified xsi:type="dcterms:W3CDTF">2026-04-14T21:23:01Z</dcterms:modified>
</cp:coreProperties>
</file>