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98" r:id="rId3"/>
    <p:sldId id="299" r:id="rId4"/>
    <p:sldId id="304" r:id="rId5"/>
    <p:sldId id="300" r:id="rId6"/>
    <p:sldId id="319" r:id="rId7"/>
    <p:sldId id="314" r:id="rId8"/>
    <p:sldId id="321" r:id="rId9"/>
    <p:sldId id="301" r:id="rId10"/>
    <p:sldId id="308" r:id="rId11"/>
    <p:sldId id="310" r:id="rId12"/>
    <p:sldId id="311" r:id="rId13"/>
    <p:sldId id="312" r:id="rId14"/>
    <p:sldId id="313" r:id="rId15"/>
    <p:sldId id="32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8435"/>
    <a:srgbClr val="F68633"/>
    <a:srgbClr val="669DF6"/>
    <a:srgbClr val="00AF50"/>
    <a:srgbClr val="156082"/>
    <a:srgbClr val="4285F4"/>
    <a:srgbClr val="126D99"/>
    <a:srgbClr val="FFB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2"/>
    <p:restoredTop sz="93367"/>
  </p:normalViewPr>
  <p:slideViewPr>
    <p:cSldViewPr snapToGrid="0">
      <p:cViewPr varScale="1">
        <p:scale>
          <a:sx n="126" d="100"/>
          <a:sy n="126" d="100"/>
        </p:scale>
        <p:origin x="17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905CF6-A74B-6442-8641-C51712A866E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3F77D4-DDE9-DC4C-A50E-6758A07ABE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568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DFB37-BB34-75F1-C8DE-46E07910DD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9E173E-C5B3-2CAC-3464-8192BC047E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64E165-139E-401D-DDB7-1AA6E2508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D2D36-BB97-361D-EA9F-E30ED86F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CD6DA-7B99-E92E-93BF-6C2F70922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004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A864-A996-F71E-246B-0653B590A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87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CD5A1-7088-AEAD-5225-75BCFD48D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93CE29-ACEE-574E-C9A1-B84566FF9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FC0D4-C46D-9C62-B67E-104A826C4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B54D0A-2E0C-28FC-E825-5BAC8F9E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16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29D1A-1BC2-8DDD-126F-CAC99B3BE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425CD-98B7-3707-4BA1-4C2334D1BD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DDBDA-E254-257F-CE6F-DABC4F5DE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58D8F-16A8-9944-4C4E-DCC33B1E0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74406-EF16-A29C-06E4-4928F611B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7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22376-0384-A58E-5CCA-1046F98A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9ADDE-4EDD-A1B6-52CD-695B210462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10B07F-34A6-81F4-8959-3308FEE4A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96AF81-01AC-14EE-E1CC-134E35CB2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26B2B-DE7C-37AE-DA4C-4AECAA375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13DFE-C4C3-98BB-71A3-B25E0CE7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2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53FC5-4816-D493-010B-77E9256B5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B526C-5D1E-47C1-6097-E929D64148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B11BD-6044-1C40-CB8A-9CEB9EDFB9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FAA9D6-C018-3BD6-53F4-03830C33A5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3253FD-1A02-1A16-B998-35B8C4398C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25DBAA-C41F-993E-FBCF-6A0C7EC18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768F4-AE17-04BE-39F6-0C23E7C7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99EA49-DF32-0D50-21D2-83AFAB039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145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0BB86-049C-D463-30C2-25A2B724C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D13066-BEE2-C2CE-75B6-3A712E2F5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81744D-3D21-84DD-A81E-8DE696323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F39AC6-4EAC-C8E3-216A-9250B4D3D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632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7F0169-F095-A895-B4F2-D5EFFA6D3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6EA386-3478-7354-7205-4BE5809D6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609BD-D21C-05E9-D8B2-63DAA5E4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13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3A0B5-4708-7555-7CE4-D3CEC5440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E74F0-77DC-5122-1418-AAF87E1B33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81F181-7334-79A4-178E-E85D9381C3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042CD2-BE7C-3542-52DB-930B0688C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CF4FB5-83DB-1A98-62D9-ADEEC502A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6A890-C567-E87D-8AF6-B34C46D08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24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BF13-6F0C-528D-D62B-F4DAFC407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DA0F83-2BD9-5A01-36B9-F1A2AB8222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3D50D9-FD43-D1B7-079D-6F18C2FA5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7562E4-DAB0-229B-D711-086B76601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A17913-2915-8054-96A6-1D7000B53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C4269-CBDF-B077-7A1A-35DFBC298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13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DC84A-646F-E3CC-6C99-80D35E22F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71A998-4AA2-DC9D-8C88-416D38A6FC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9176F-5102-21A0-1711-A1CC5C3A5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890AA-3838-E7D5-3E62-EB5A23A37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8870E-04F4-CB6E-7C3C-871B5B0F8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56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4BEE9F-07D3-F81D-9D14-667E8773A8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C34A7C-AA91-351F-EFC3-B345EA062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3A9973-E32E-5A2D-1E2E-5FCD65ABD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99B81-CED0-194B-B020-EBC8858F9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08541-185A-2687-60EE-04B038C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94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7B2519-5E56-A315-7C16-60389617F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9525"/>
            <a:ext cx="110871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120675-5C55-9CB3-DD41-6ECF1FC712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1825625"/>
            <a:ext cx="116713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AD68D-05DC-E468-D7CA-DCBBF80571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7F5B6-2269-2483-E0B4-949B543F07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B49B7-D89C-D2CE-D153-15414FA51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2" descr="Drexel College of Computing &amp; Informatics (@DrexelCCI) / X">
            <a:extLst>
              <a:ext uri="{FF2B5EF4-FFF2-40B4-BE49-F238E27FC236}">
                <a16:creationId xmlns:a16="http://schemas.microsoft.com/office/drawing/2014/main" id="{F4E77C9E-C2CC-36E9-5ACF-8D8B4C9685A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4846" y="0"/>
            <a:ext cx="1077153" cy="1013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2358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5.png"/><Relationship Id="rId7" Type="http://schemas.openxmlformats.org/officeDocument/2006/relationships/image" Target="../media/image28.jpeg"/><Relationship Id="rId12" Type="http://schemas.openxmlformats.org/officeDocument/2006/relationships/image" Target="../media/image3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0.png"/><Relationship Id="rId5" Type="http://schemas.openxmlformats.org/officeDocument/2006/relationships/image" Target="../media/image12.png"/><Relationship Id="rId10" Type="http://schemas.openxmlformats.org/officeDocument/2006/relationships/image" Target="../media/image29.png"/><Relationship Id="rId4" Type="http://schemas.openxmlformats.org/officeDocument/2006/relationships/image" Target="../media/image26.png"/><Relationship Id="rId9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DB36E-0C7A-8047-02CE-E4D61AC40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1300" y="1465263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Cloud Native Platform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1F5E47-530C-F346-73CB-B0848329FF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3200" y="4859338"/>
            <a:ext cx="9144000" cy="1655762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3 – VPC: Software Defined Datacenters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Dr. Brian Mitchell</a:t>
            </a:r>
          </a:p>
        </p:txBody>
      </p:sp>
    </p:spTree>
    <p:extLst>
      <p:ext uri="{BB962C8B-B14F-4D97-AF65-F5344CB8AC3E}">
        <p14:creationId xmlns:p14="http://schemas.microsoft.com/office/powerpoint/2010/main" val="1943721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AE42-2A35-B03A-E43E-C0422E22B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4B3CE-C0CC-B51C-4C69-A2BC24D19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" y="18255"/>
            <a:ext cx="10515600" cy="762539"/>
          </a:xfrm>
        </p:spPr>
        <p:txBody>
          <a:bodyPr/>
          <a:lstStyle/>
          <a:p>
            <a:r>
              <a:rPr lang="en-US" dirty="0"/>
              <a:t>VPCs– Software Datacenter Clusters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57B01C-7032-3C2D-7D5E-808B4F3462D3}"/>
              </a:ext>
            </a:extLst>
          </p:cNvPr>
          <p:cNvSpPr/>
          <p:nvPr/>
        </p:nvSpPr>
        <p:spPr>
          <a:xfrm>
            <a:off x="381977" y="1660337"/>
            <a:ext cx="7556500" cy="4670120"/>
          </a:xfrm>
          <a:prstGeom prst="rect">
            <a:avLst/>
          </a:prstGeom>
          <a:noFill/>
          <a:ln w="38100"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2092E4-CDE7-51D0-7A7D-C383A996F8B6}"/>
              </a:ext>
            </a:extLst>
          </p:cNvPr>
          <p:cNvSpPr/>
          <p:nvPr/>
        </p:nvSpPr>
        <p:spPr>
          <a:xfrm>
            <a:off x="750277" y="2131641"/>
            <a:ext cx="3048000" cy="1731963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FA56EF-4BE2-7B95-E5FF-4829BB1B4258}"/>
              </a:ext>
            </a:extLst>
          </p:cNvPr>
          <p:cNvSpPr txBox="1"/>
          <p:nvPr/>
        </p:nvSpPr>
        <p:spPr>
          <a:xfrm>
            <a:off x="889772" y="2275682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54B869-7EC8-C148-085A-1943505784E1}"/>
              </a:ext>
            </a:extLst>
          </p:cNvPr>
          <p:cNvSpPr txBox="1"/>
          <p:nvPr/>
        </p:nvSpPr>
        <p:spPr>
          <a:xfrm>
            <a:off x="2311476" y="2811647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22C6DC-0017-71DC-ACBB-832E99151955}"/>
              </a:ext>
            </a:extLst>
          </p:cNvPr>
          <p:cNvSpPr txBox="1"/>
          <p:nvPr/>
        </p:nvSpPr>
        <p:spPr>
          <a:xfrm>
            <a:off x="889311" y="3326329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510C92-7CF6-A90D-3BB3-8E8090E85528}"/>
              </a:ext>
            </a:extLst>
          </p:cNvPr>
          <p:cNvSpPr/>
          <p:nvPr/>
        </p:nvSpPr>
        <p:spPr>
          <a:xfrm>
            <a:off x="4344377" y="2119918"/>
            <a:ext cx="3225800" cy="1731963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B98EB5-1B6A-80CD-D3B2-875A59022CA1}"/>
              </a:ext>
            </a:extLst>
          </p:cNvPr>
          <p:cNvSpPr txBox="1"/>
          <p:nvPr/>
        </p:nvSpPr>
        <p:spPr>
          <a:xfrm>
            <a:off x="4460426" y="2263959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3D68E4-4AA9-9BCE-01F6-5C1A99DC2FAE}"/>
              </a:ext>
            </a:extLst>
          </p:cNvPr>
          <p:cNvSpPr txBox="1"/>
          <p:nvPr/>
        </p:nvSpPr>
        <p:spPr>
          <a:xfrm>
            <a:off x="6160477" y="2641228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613453-E88F-AC3B-B83D-6452EA2622C2}"/>
              </a:ext>
            </a:extLst>
          </p:cNvPr>
          <p:cNvSpPr txBox="1"/>
          <p:nvPr/>
        </p:nvSpPr>
        <p:spPr>
          <a:xfrm>
            <a:off x="4460426" y="2918064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E4A0C3-9A14-E2DF-05E5-09568EE09F21}"/>
              </a:ext>
            </a:extLst>
          </p:cNvPr>
          <p:cNvSpPr txBox="1"/>
          <p:nvPr/>
        </p:nvSpPr>
        <p:spPr>
          <a:xfrm>
            <a:off x="6155001" y="3291275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DA1A6E-074D-1692-EB22-8B5D232BBB1D}"/>
              </a:ext>
            </a:extLst>
          </p:cNvPr>
          <p:cNvSpPr/>
          <p:nvPr/>
        </p:nvSpPr>
        <p:spPr>
          <a:xfrm>
            <a:off x="2630827" y="4396151"/>
            <a:ext cx="3048000" cy="1731963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4E4505-EB7F-47C2-C918-5145B7A4B1E0}"/>
              </a:ext>
            </a:extLst>
          </p:cNvPr>
          <p:cNvSpPr txBox="1"/>
          <p:nvPr/>
        </p:nvSpPr>
        <p:spPr>
          <a:xfrm>
            <a:off x="3463104" y="4639834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888CF5-60E2-D08B-266A-9ABB84CA6F7D}"/>
              </a:ext>
            </a:extLst>
          </p:cNvPr>
          <p:cNvSpPr txBox="1"/>
          <p:nvPr/>
        </p:nvSpPr>
        <p:spPr>
          <a:xfrm>
            <a:off x="3463104" y="5524071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7C3315E-EDCC-4C95-5989-D9BB2C6931CB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>
            <a:off x="4101612" y="5009166"/>
            <a:ext cx="0" cy="51490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64A4039-0911-D69B-D793-F099C046AE35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5098934" y="2633291"/>
            <a:ext cx="0" cy="2847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AC4A06-0384-21AD-DEE9-51B39242D122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6793509" y="3010560"/>
            <a:ext cx="5476" cy="280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ACB40CFC-4FF2-6440-34C2-122C757118C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5737442" y="2324401"/>
            <a:ext cx="1061543" cy="31682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DB345092-373D-0A14-9583-A544EC58488E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5484581" y="2901748"/>
            <a:ext cx="284773" cy="105606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739F381A-2858-2E3F-F8BB-75892FAFDFB3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>
            <a:off x="5737442" y="2448625"/>
            <a:ext cx="417559" cy="102731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0" name="Elbow Connector 10239">
            <a:extLst>
              <a:ext uri="{FF2B5EF4-FFF2-40B4-BE49-F238E27FC236}">
                <a16:creationId xmlns:a16="http://schemas.microsoft.com/office/drawing/2014/main" id="{D28014CF-18F8-D133-809E-F3FE85B7BBE7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rot="10800000" flipV="1">
            <a:off x="5737443" y="2825894"/>
            <a:ext cx="423035" cy="276836"/>
          </a:xfrm>
          <a:prstGeom prst="bentConnector3">
            <a:avLst>
              <a:gd name="adj1" fmla="val 2674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3" name="Elbow Connector 10252">
            <a:extLst>
              <a:ext uri="{FF2B5EF4-FFF2-40B4-BE49-F238E27FC236}">
                <a16:creationId xmlns:a16="http://schemas.microsoft.com/office/drawing/2014/main" id="{41E0115D-8750-9E59-A5D9-357E1303D33F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2166788" y="2460348"/>
            <a:ext cx="783196" cy="35129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6" name="Elbow Connector 10255">
            <a:extLst>
              <a:ext uri="{FF2B5EF4-FFF2-40B4-BE49-F238E27FC236}">
                <a16:creationId xmlns:a16="http://schemas.microsoft.com/office/drawing/2014/main" id="{2E060EF8-9828-CD32-8D9B-E458169B2347}"/>
              </a:ext>
            </a:extLst>
          </p:cNvPr>
          <p:cNvCxnSpPr>
            <a:cxnSpLocks/>
            <a:stCxn id="8" idx="3"/>
            <a:endCxn id="7" idx="2"/>
          </p:cNvCxnSpPr>
          <p:nvPr/>
        </p:nvCxnSpPr>
        <p:spPr>
          <a:xfrm flipV="1">
            <a:off x="2166327" y="3180979"/>
            <a:ext cx="783657" cy="330016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9" name="Straight Connector 10258">
            <a:extLst>
              <a:ext uri="{FF2B5EF4-FFF2-40B4-BE49-F238E27FC236}">
                <a16:creationId xmlns:a16="http://schemas.microsoft.com/office/drawing/2014/main" id="{5B64B5FC-AF0C-71E1-7B77-885F5132905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1527819" y="2645014"/>
            <a:ext cx="461" cy="6813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2" name="Elbow Connector 10261">
            <a:extLst>
              <a:ext uri="{FF2B5EF4-FFF2-40B4-BE49-F238E27FC236}">
                <a16:creationId xmlns:a16="http://schemas.microsoft.com/office/drawing/2014/main" id="{94AC4CBA-D721-BF2C-FD53-44CC99F2C164}"/>
              </a:ext>
            </a:extLst>
          </p:cNvPr>
          <p:cNvCxnSpPr>
            <a:cxnSpLocks/>
            <a:stCxn id="5" idx="2"/>
            <a:endCxn id="14" idx="1"/>
          </p:cNvCxnSpPr>
          <p:nvPr/>
        </p:nvCxnSpPr>
        <p:spPr>
          <a:xfrm rot="16200000" flipH="1">
            <a:off x="1753288" y="4384593"/>
            <a:ext cx="1398529" cy="356550"/>
          </a:xfrm>
          <a:prstGeom prst="bentConnector2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5" name="Elbow Connector 10264">
            <a:extLst>
              <a:ext uri="{FF2B5EF4-FFF2-40B4-BE49-F238E27FC236}">
                <a16:creationId xmlns:a16="http://schemas.microsoft.com/office/drawing/2014/main" id="{80F47107-6D81-BC35-64A8-7F06D9409F95}"/>
              </a:ext>
            </a:extLst>
          </p:cNvPr>
          <p:cNvCxnSpPr>
            <a:cxnSpLocks/>
            <a:stCxn id="9" idx="2"/>
            <a:endCxn id="14" idx="3"/>
          </p:cNvCxnSpPr>
          <p:nvPr/>
        </p:nvCxnSpPr>
        <p:spPr>
          <a:xfrm rot="5400000">
            <a:off x="5112926" y="4417782"/>
            <a:ext cx="1410252" cy="278450"/>
          </a:xfrm>
          <a:prstGeom prst="bentConnector2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8" name="Elbow Connector 10267">
            <a:extLst>
              <a:ext uri="{FF2B5EF4-FFF2-40B4-BE49-F238E27FC236}">
                <a16:creationId xmlns:a16="http://schemas.microsoft.com/office/drawing/2014/main" id="{6BB84C53-68A9-3B9F-E690-6990947B8998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 flipV="1">
            <a:off x="3798277" y="2985900"/>
            <a:ext cx="546100" cy="11723"/>
          </a:xfrm>
          <a:prstGeom prst="bentConnector3">
            <a:avLst>
              <a:gd name="adj1" fmla="val 50000"/>
            </a:avLst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290" name="Picture 2" descr="AWS VPC Icon SVG Vector &amp; PNG Free Download | UXWing">
            <a:extLst>
              <a:ext uri="{FF2B5EF4-FFF2-40B4-BE49-F238E27FC236}">
                <a16:creationId xmlns:a16="http://schemas.microsoft.com/office/drawing/2014/main" id="{DD61B50C-46A1-7C09-520B-5D2728BC60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63" y="1025673"/>
            <a:ext cx="832827" cy="832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1" name="TextBox 10270">
            <a:extLst>
              <a:ext uri="{FF2B5EF4-FFF2-40B4-BE49-F238E27FC236}">
                <a16:creationId xmlns:a16="http://schemas.microsoft.com/office/drawing/2014/main" id="{B26022D2-D879-3154-2B9F-F2C252123C18}"/>
              </a:ext>
            </a:extLst>
          </p:cNvPr>
          <p:cNvSpPr txBox="1"/>
          <p:nvPr/>
        </p:nvSpPr>
        <p:spPr>
          <a:xfrm>
            <a:off x="726830" y="1742111"/>
            <a:ext cx="1779590" cy="369332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availability zone</a:t>
            </a:r>
          </a:p>
        </p:txBody>
      </p:sp>
      <p:sp>
        <p:nvSpPr>
          <p:cNvPr id="10272" name="TextBox 10271">
            <a:extLst>
              <a:ext uri="{FF2B5EF4-FFF2-40B4-BE49-F238E27FC236}">
                <a16:creationId xmlns:a16="http://schemas.microsoft.com/office/drawing/2014/main" id="{FDFC0419-7445-764E-B57D-E1009DE7DA9B}"/>
              </a:ext>
            </a:extLst>
          </p:cNvPr>
          <p:cNvSpPr txBox="1"/>
          <p:nvPr/>
        </p:nvSpPr>
        <p:spPr>
          <a:xfrm>
            <a:off x="4332653" y="1766524"/>
            <a:ext cx="1779590" cy="369332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availability zone</a:t>
            </a:r>
          </a:p>
        </p:txBody>
      </p:sp>
      <p:sp>
        <p:nvSpPr>
          <p:cNvPr id="10273" name="TextBox 10272">
            <a:extLst>
              <a:ext uri="{FF2B5EF4-FFF2-40B4-BE49-F238E27FC236}">
                <a16:creationId xmlns:a16="http://schemas.microsoft.com/office/drawing/2014/main" id="{3ED94656-42A7-17E3-3C33-BA148771688D}"/>
              </a:ext>
            </a:extLst>
          </p:cNvPr>
          <p:cNvSpPr txBox="1"/>
          <p:nvPr/>
        </p:nvSpPr>
        <p:spPr>
          <a:xfrm>
            <a:off x="2619103" y="4031023"/>
            <a:ext cx="1779590" cy="369332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availability zone</a:t>
            </a:r>
          </a:p>
        </p:txBody>
      </p:sp>
      <p:pic>
        <p:nvPicPr>
          <p:cNvPr id="12292" name="Picture 4" descr="amazon #aws #icon #symbols #svg ...">
            <a:extLst>
              <a:ext uri="{FF2B5EF4-FFF2-40B4-BE49-F238E27FC236}">
                <a16:creationId xmlns:a16="http://schemas.microsoft.com/office/drawing/2014/main" id="{03884D5B-7EF9-16FB-6D77-37D76E184D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2244" y="5097165"/>
            <a:ext cx="1725584" cy="1052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4" name="TextBox 10273">
            <a:extLst>
              <a:ext uri="{FF2B5EF4-FFF2-40B4-BE49-F238E27FC236}">
                <a16:creationId xmlns:a16="http://schemas.microsoft.com/office/drawing/2014/main" id="{DD668142-87A4-A996-E808-2C8C39F16638}"/>
              </a:ext>
            </a:extLst>
          </p:cNvPr>
          <p:cNvSpPr txBox="1"/>
          <p:nvPr/>
        </p:nvSpPr>
        <p:spPr>
          <a:xfrm>
            <a:off x="6155001" y="4420080"/>
            <a:ext cx="1684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68633"/>
                </a:solidFill>
              </a:rPr>
              <a:t>Regional AWS </a:t>
            </a:r>
            <a:br>
              <a:rPr lang="en-US" b="1" dirty="0">
                <a:solidFill>
                  <a:srgbClr val="F68633"/>
                </a:solidFill>
              </a:rPr>
            </a:br>
            <a:r>
              <a:rPr lang="en-US" b="1" dirty="0">
                <a:solidFill>
                  <a:srgbClr val="F68633"/>
                </a:solidFill>
              </a:rPr>
              <a:t>Services</a:t>
            </a:r>
          </a:p>
        </p:txBody>
      </p:sp>
      <p:pic>
        <p:nvPicPr>
          <p:cNvPr id="12294" name="Picture 6" descr="Aws Iam icon - Free Download PNG &amp; SVG | Streamline">
            <a:extLst>
              <a:ext uri="{FF2B5EF4-FFF2-40B4-BE49-F238E27FC236}">
                <a16:creationId xmlns:a16="http://schemas.microsoft.com/office/drawing/2014/main" id="{626A4837-0A84-8F5D-A91C-DD61783B3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8492" y="1015505"/>
            <a:ext cx="485271" cy="485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8" name="Picture 10" descr="Amazon Route 53 | AWS News Blog">
            <a:extLst>
              <a:ext uri="{FF2B5EF4-FFF2-40B4-BE49-F238E27FC236}">
                <a16:creationId xmlns:a16="http://schemas.microsoft.com/office/drawing/2014/main" id="{01E16860-A0CA-56A7-2CF3-4AF04B801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632" y="1016660"/>
            <a:ext cx="485271" cy="491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00" name="Picture 12" descr="Aws Cloudfront icon - Free Download PNG ...">
            <a:extLst>
              <a:ext uri="{FF2B5EF4-FFF2-40B4-BE49-F238E27FC236}">
                <a16:creationId xmlns:a16="http://schemas.microsoft.com/office/drawing/2014/main" id="{1CAB05A4-9D7C-A64B-B054-F550EEA8A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0975" y="1029626"/>
            <a:ext cx="511473" cy="511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6" name="TextBox 10275">
            <a:extLst>
              <a:ext uri="{FF2B5EF4-FFF2-40B4-BE49-F238E27FC236}">
                <a16:creationId xmlns:a16="http://schemas.microsoft.com/office/drawing/2014/main" id="{402B2A84-5311-45A2-03B5-58EE065B6912}"/>
              </a:ext>
            </a:extLst>
          </p:cNvPr>
          <p:cNvSpPr txBox="1"/>
          <p:nvPr/>
        </p:nvSpPr>
        <p:spPr>
          <a:xfrm>
            <a:off x="5098934" y="1091087"/>
            <a:ext cx="2610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Global AWS Services</a:t>
            </a:r>
          </a:p>
        </p:txBody>
      </p:sp>
      <p:sp>
        <p:nvSpPr>
          <p:cNvPr id="10277" name="TextBox 10276">
            <a:extLst>
              <a:ext uri="{FF2B5EF4-FFF2-40B4-BE49-F238E27FC236}">
                <a16:creationId xmlns:a16="http://schemas.microsoft.com/office/drawing/2014/main" id="{1A47AC84-4728-EFD3-E5D2-C7D08ABF26A3}"/>
              </a:ext>
            </a:extLst>
          </p:cNvPr>
          <p:cNvSpPr txBox="1"/>
          <p:nvPr/>
        </p:nvSpPr>
        <p:spPr>
          <a:xfrm>
            <a:off x="8136201" y="1541099"/>
            <a:ext cx="377483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AZs within a region, and datacenters within an AZ are linked together with high-speed, low latency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Most of AWS services are scoped to individual regions, several services are global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every region has every AWS 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AWS regions provide a clustered platform to enable scalable and resilient application deployment</a:t>
            </a:r>
          </a:p>
          <a:p>
            <a:endParaRPr lang="en-US" dirty="0"/>
          </a:p>
        </p:txBody>
      </p:sp>
      <p:sp>
        <p:nvSpPr>
          <p:cNvPr id="10278" name="TextBox 10277">
            <a:extLst>
              <a:ext uri="{FF2B5EF4-FFF2-40B4-BE49-F238E27FC236}">
                <a16:creationId xmlns:a16="http://schemas.microsoft.com/office/drawing/2014/main" id="{3D8278D1-0419-3853-44E6-291784277671}"/>
              </a:ext>
            </a:extLst>
          </p:cNvPr>
          <p:cNvSpPr txBox="1"/>
          <p:nvPr/>
        </p:nvSpPr>
        <p:spPr>
          <a:xfrm>
            <a:off x="1232964" y="1296149"/>
            <a:ext cx="1379737" cy="369332"/>
          </a:xfrm>
          <a:prstGeom prst="rect">
            <a:avLst/>
          </a:prstGeom>
          <a:solidFill>
            <a:srgbClr val="F68633"/>
          </a:solidFill>
          <a:ln>
            <a:solidFill>
              <a:srgbClr val="F6863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AWS Region</a:t>
            </a:r>
          </a:p>
        </p:txBody>
      </p:sp>
      <p:sp>
        <p:nvSpPr>
          <p:cNvPr id="10279" name="TextBox 10278">
            <a:extLst>
              <a:ext uri="{FF2B5EF4-FFF2-40B4-BE49-F238E27FC236}">
                <a16:creationId xmlns:a16="http://schemas.microsoft.com/office/drawing/2014/main" id="{6D186FA1-9F20-63A2-E781-26F7FB78528D}"/>
              </a:ext>
            </a:extLst>
          </p:cNvPr>
          <p:cNvSpPr txBox="1"/>
          <p:nvPr/>
        </p:nvSpPr>
        <p:spPr>
          <a:xfrm>
            <a:off x="8376111" y="5136054"/>
            <a:ext cx="36224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Properly deploying scalable and resilient applications within a region requires some networking knowledge</a:t>
            </a:r>
          </a:p>
        </p:txBody>
      </p:sp>
    </p:spTree>
    <p:extLst>
      <p:ext uri="{BB962C8B-B14F-4D97-AF65-F5344CB8AC3E}">
        <p14:creationId xmlns:p14="http://schemas.microsoft.com/office/powerpoint/2010/main" val="383822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1223E-471C-773E-3912-FB99F7535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2FBF2-9545-0E2A-43A8-099776744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" y="18255"/>
            <a:ext cx="10515600" cy="1325563"/>
          </a:xfrm>
        </p:spPr>
        <p:txBody>
          <a:bodyPr/>
          <a:lstStyle/>
          <a:p>
            <a:r>
              <a:rPr lang="en-US" dirty="0"/>
              <a:t>IP Addresses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8DFCB1E5-451B-624C-8BA6-FA3E35BBFA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25633"/>
          <a:stretch>
            <a:fillRect/>
          </a:stretch>
        </p:blipFill>
        <p:spPr>
          <a:xfrm>
            <a:off x="908972" y="1345303"/>
            <a:ext cx="7721600" cy="23139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773F4B-9E65-FA07-FD70-DE604D9512F3}"/>
              </a:ext>
            </a:extLst>
          </p:cNvPr>
          <p:cNvSpPr txBox="1"/>
          <p:nvPr/>
        </p:nvSpPr>
        <p:spPr>
          <a:xfrm>
            <a:off x="850357" y="1327513"/>
            <a:ext cx="118354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Dotted</a:t>
            </a:r>
            <a:br>
              <a:rPr lang="en-US" b="1" dirty="0"/>
            </a:br>
            <a:r>
              <a:rPr lang="en-US" b="1" dirty="0"/>
              <a:t>Decimal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016281-4B9A-4C40-9DFA-6F84F6DEAC26}"/>
              </a:ext>
            </a:extLst>
          </p:cNvPr>
          <p:cNvSpPr txBox="1"/>
          <p:nvPr/>
        </p:nvSpPr>
        <p:spPr>
          <a:xfrm>
            <a:off x="2101923" y="3951809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11111111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DA461A8-4285-AE0D-5636-FFC350AE0F02}"/>
              </a:ext>
            </a:extLst>
          </p:cNvPr>
          <p:cNvSpPr/>
          <p:nvPr/>
        </p:nvSpPr>
        <p:spPr>
          <a:xfrm>
            <a:off x="2080177" y="3905649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35D768-6772-B747-4925-50CF798B751D}"/>
              </a:ext>
            </a:extLst>
          </p:cNvPr>
          <p:cNvSpPr txBox="1"/>
          <p:nvPr/>
        </p:nvSpPr>
        <p:spPr>
          <a:xfrm>
            <a:off x="3575126" y="3951809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11111111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23C8111-3EFE-1865-AA48-07BD1EC7ED34}"/>
              </a:ext>
            </a:extLst>
          </p:cNvPr>
          <p:cNvSpPr/>
          <p:nvPr/>
        </p:nvSpPr>
        <p:spPr>
          <a:xfrm>
            <a:off x="3553380" y="3905649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2CCCD6-CE31-DD03-30CA-DA040C592767}"/>
              </a:ext>
            </a:extLst>
          </p:cNvPr>
          <p:cNvSpPr txBox="1"/>
          <p:nvPr/>
        </p:nvSpPr>
        <p:spPr>
          <a:xfrm>
            <a:off x="5048329" y="3951809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10000000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87A3FC1-116C-DFBD-33D1-D767152E1C7A}"/>
              </a:ext>
            </a:extLst>
          </p:cNvPr>
          <p:cNvSpPr/>
          <p:nvPr/>
        </p:nvSpPr>
        <p:spPr>
          <a:xfrm>
            <a:off x="5026583" y="3905649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87BB81-EB09-DC29-A0B3-027F204AE191}"/>
              </a:ext>
            </a:extLst>
          </p:cNvPr>
          <p:cNvSpPr txBox="1"/>
          <p:nvPr/>
        </p:nvSpPr>
        <p:spPr>
          <a:xfrm>
            <a:off x="6521532" y="3951809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A44AA9A-421E-FF32-A8AA-AAA96ED7B95F}"/>
              </a:ext>
            </a:extLst>
          </p:cNvPr>
          <p:cNvSpPr/>
          <p:nvPr/>
        </p:nvSpPr>
        <p:spPr>
          <a:xfrm>
            <a:off x="6499786" y="3905649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891FBF-610C-9EE8-8073-0AAE28A8631A}"/>
              </a:ext>
            </a:extLst>
          </p:cNvPr>
          <p:cNvSpPr txBox="1"/>
          <p:nvPr/>
        </p:nvSpPr>
        <p:spPr>
          <a:xfrm>
            <a:off x="849237" y="3828698"/>
            <a:ext cx="118354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7030A0"/>
                </a:solidFill>
              </a:rPr>
              <a:t>Subnet</a:t>
            </a:r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Mask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000ABDF-00B2-EB1B-1417-7277D07986E1}"/>
              </a:ext>
            </a:extLst>
          </p:cNvPr>
          <p:cNvSpPr/>
          <p:nvPr/>
        </p:nvSpPr>
        <p:spPr>
          <a:xfrm>
            <a:off x="2080176" y="4639257"/>
            <a:ext cx="3138331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334CF7A-15F8-9444-FD8D-9DC6B0FAF1AF}"/>
              </a:ext>
            </a:extLst>
          </p:cNvPr>
          <p:cNvSpPr/>
          <p:nvPr/>
        </p:nvSpPr>
        <p:spPr>
          <a:xfrm>
            <a:off x="5248720" y="4639257"/>
            <a:ext cx="2585991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3D3EAB-970B-5AE6-4212-7717F4E62459}"/>
              </a:ext>
            </a:extLst>
          </p:cNvPr>
          <p:cNvSpPr txBox="1"/>
          <p:nvPr/>
        </p:nvSpPr>
        <p:spPr>
          <a:xfrm>
            <a:off x="2110390" y="467695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11000000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678D8F-8528-8830-C391-996642AC85C0}"/>
              </a:ext>
            </a:extLst>
          </p:cNvPr>
          <p:cNvSpPr txBox="1"/>
          <p:nvPr/>
        </p:nvSpPr>
        <p:spPr>
          <a:xfrm>
            <a:off x="3583593" y="467695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10101000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163231-546E-6F88-9D0E-225BA99BF88B}"/>
              </a:ext>
            </a:extLst>
          </p:cNvPr>
          <p:cNvSpPr txBox="1"/>
          <p:nvPr/>
        </p:nvSpPr>
        <p:spPr>
          <a:xfrm>
            <a:off x="4955196" y="4683306"/>
            <a:ext cx="13981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F5CA5C-F2AE-059D-374C-7A9BD907CA3C}"/>
              </a:ext>
            </a:extLst>
          </p:cNvPr>
          <p:cNvSpPr txBox="1"/>
          <p:nvPr/>
        </p:nvSpPr>
        <p:spPr>
          <a:xfrm>
            <a:off x="6529999" y="467695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00101101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06E879-67C7-F907-2E23-44DDA79D6AF4}"/>
              </a:ext>
            </a:extLst>
          </p:cNvPr>
          <p:cNvSpPr txBox="1"/>
          <p:nvPr/>
        </p:nvSpPr>
        <p:spPr>
          <a:xfrm>
            <a:off x="598801" y="4571034"/>
            <a:ext cx="139957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0070C0"/>
                </a:solidFill>
              </a:rPr>
              <a:t>Network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F68633"/>
                </a:solidFill>
              </a:rPr>
              <a:t>Host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b="1" dirty="0"/>
              <a:t>Split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8D67151-D800-6A96-B258-2724CB56F4FB}"/>
              </a:ext>
            </a:extLst>
          </p:cNvPr>
          <p:cNvSpPr/>
          <p:nvPr/>
        </p:nvSpPr>
        <p:spPr>
          <a:xfrm>
            <a:off x="2085093" y="5401258"/>
            <a:ext cx="3138331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84C0787-B0E6-5E45-78BE-30BD900E75CE}"/>
              </a:ext>
            </a:extLst>
          </p:cNvPr>
          <p:cNvSpPr/>
          <p:nvPr/>
        </p:nvSpPr>
        <p:spPr>
          <a:xfrm>
            <a:off x="5253637" y="5401258"/>
            <a:ext cx="2585991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09BACE-BD6D-3FEF-9A2B-F7E8307FDF04}"/>
              </a:ext>
            </a:extLst>
          </p:cNvPr>
          <p:cNvSpPr txBox="1"/>
          <p:nvPr/>
        </p:nvSpPr>
        <p:spPr>
          <a:xfrm>
            <a:off x="2115307" y="543895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11000000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759690-2272-FF18-DE9A-BEE18AAAFDD6}"/>
              </a:ext>
            </a:extLst>
          </p:cNvPr>
          <p:cNvSpPr txBox="1"/>
          <p:nvPr/>
        </p:nvSpPr>
        <p:spPr>
          <a:xfrm>
            <a:off x="3588510" y="543895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10101000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CAA897-D236-5D33-964B-51B8EC015C96}"/>
              </a:ext>
            </a:extLst>
          </p:cNvPr>
          <p:cNvSpPr txBox="1"/>
          <p:nvPr/>
        </p:nvSpPr>
        <p:spPr>
          <a:xfrm>
            <a:off x="4960113" y="5445307"/>
            <a:ext cx="13981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1A5DB2-D12B-29FB-76E7-78044B6E8DA4}"/>
              </a:ext>
            </a:extLst>
          </p:cNvPr>
          <p:cNvSpPr txBox="1"/>
          <p:nvPr/>
        </p:nvSpPr>
        <p:spPr>
          <a:xfrm>
            <a:off x="6534916" y="543895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812996-555A-0ACF-6A6C-4A8C5A2036DC}"/>
              </a:ext>
            </a:extLst>
          </p:cNvPr>
          <p:cNvSpPr txBox="1"/>
          <p:nvPr/>
        </p:nvSpPr>
        <p:spPr>
          <a:xfrm>
            <a:off x="633214" y="5470684"/>
            <a:ext cx="139957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0070C0"/>
                </a:solidFill>
              </a:rPr>
              <a:t>Network ID</a:t>
            </a:r>
            <a:endParaRPr lang="en-US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44550F-6560-331D-5D66-06872334BD50}"/>
              </a:ext>
            </a:extLst>
          </p:cNvPr>
          <p:cNvSpPr txBox="1"/>
          <p:nvPr/>
        </p:nvSpPr>
        <p:spPr>
          <a:xfrm>
            <a:off x="2411636" y="617882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192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10C2514-2D79-7EAE-6084-126A7D2B496C}"/>
              </a:ext>
            </a:extLst>
          </p:cNvPr>
          <p:cNvSpPr/>
          <p:nvPr/>
        </p:nvSpPr>
        <p:spPr>
          <a:xfrm>
            <a:off x="2094923" y="6132660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459046-7D65-8A24-F6F5-1B97C9922D1D}"/>
              </a:ext>
            </a:extLst>
          </p:cNvPr>
          <p:cNvSpPr txBox="1"/>
          <p:nvPr/>
        </p:nvSpPr>
        <p:spPr>
          <a:xfrm>
            <a:off x="3884839" y="617882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168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BAC9359-D63D-5943-2E43-8A984F703DBA}"/>
              </a:ext>
            </a:extLst>
          </p:cNvPr>
          <p:cNvSpPr/>
          <p:nvPr/>
        </p:nvSpPr>
        <p:spPr>
          <a:xfrm>
            <a:off x="3568126" y="6132660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FB62C6-8ECD-4571-2659-9D0E2DE29082}"/>
              </a:ext>
            </a:extLst>
          </p:cNvPr>
          <p:cNvSpPr txBox="1"/>
          <p:nvPr/>
        </p:nvSpPr>
        <p:spPr>
          <a:xfrm>
            <a:off x="5535023" y="6178820"/>
            <a:ext cx="325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7799878E-3C6D-4C3A-709C-CB4C2F768941}"/>
              </a:ext>
            </a:extLst>
          </p:cNvPr>
          <p:cNvSpPr/>
          <p:nvPr/>
        </p:nvSpPr>
        <p:spPr>
          <a:xfrm>
            <a:off x="5041329" y="6132660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50EA04D-8989-CB11-E431-1398CBBCACE1}"/>
              </a:ext>
            </a:extLst>
          </p:cNvPr>
          <p:cNvSpPr txBox="1"/>
          <p:nvPr/>
        </p:nvSpPr>
        <p:spPr>
          <a:xfrm>
            <a:off x="7008226" y="6178820"/>
            <a:ext cx="325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35A59AC1-83AF-D712-5017-D4076EE6771B}"/>
              </a:ext>
            </a:extLst>
          </p:cNvPr>
          <p:cNvSpPr/>
          <p:nvPr/>
        </p:nvSpPr>
        <p:spPr>
          <a:xfrm>
            <a:off x="6494866" y="6132660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288FBB-640D-E05E-3DAD-000C7A0CF390}"/>
              </a:ext>
            </a:extLst>
          </p:cNvPr>
          <p:cNvSpPr txBox="1"/>
          <p:nvPr/>
        </p:nvSpPr>
        <p:spPr>
          <a:xfrm>
            <a:off x="0" y="6045872"/>
            <a:ext cx="199837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0070C0"/>
                </a:solidFill>
              </a:rPr>
              <a:t>Network ID</a:t>
            </a:r>
            <a:br>
              <a:rPr lang="en-US" b="1" dirty="0">
                <a:solidFill>
                  <a:srgbClr val="0070C0"/>
                </a:solidFill>
              </a:rPr>
            </a:br>
            <a:r>
              <a:rPr lang="en-US" b="1" dirty="0">
                <a:solidFill>
                  <a:srgbClr val="0070C0"/>
                </a:solidFill>
              </a:rPr>
              <a:t>Dotted Decimal</a:t>
            </a:r>
            <a:endParaRPr lang="en-US" b="1" dirty="0"/>
          </a:p>
        </p:txBody>
      </p:sp>
      <p:sp>
        <p:nvSpPr>
          <p:cNvPr id="47" name="Right Bracket 46">
            <a:extLst>
              <a:ext uri="{FF2B5EF4-FFF2-40B4-BE49-F238E27FC236}">
                <a16:creationId xmlns:a16="http://schemas.microsoft.com/office/drawing/2014/main" id="{579DD67B-6EED-39B4-B9A8-10A43574CE54}"/>
              </a:ext>
            </a:extLst>
          </p:cNvPr>
          <p:cNvSpPr/>
          <p:nvPr/>
        </p:nvSpPr>
        <p:spPr>
          <a:xfrm>
            <a:off x="7848096" y="3382297"/>
            <a:ext cx="165193" cy="786578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A2BB338-2D40-913C-CD1B-04CAD01C170D}"/>
              </a:ext>
            </a:extLst>
          </p:cNvPr>
          <p:cNvCxnSpPr>
            <a:cxnSpLocks/>
            <a:stCxn id="47" idx="2"/>
          </p:cNvCxnSpPr>
          <p:nvPr/>
        </p:nvCxnSpPr>
        <p:spPr>
          <a:xfrm flipV="1">
            <a:off x="8013289" y="3746091"/>
            <a:ext cx="157316" cy="29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B1F69CA-D631-A5DB-1FD9-D78342B4DBE6}"/>
              </a:ext>
            </a:extLst>
          </p:cNvPr>
          <p:cNvCxnSpPr>
            <a:cxnSpLocks/>
          </p:cNvCxnSpPr>
          <p:nvPr/>
        </p:nvCxnSpPr>
        <p:spPr>
          <a:xfrm>
            <a:off x="8170605" y="3746091"/>
            <a:ext cx="1651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5AF14CF-4BA4-D491-EF93-E18C8CFBC621}"/>
              </a:ext>
            </a:extLst>
          </p:cNvPr>
          <p:cNvCxnSpPr>
            <a:cxnSpLocks/>
          </p:cNvCxnSpPr>
          <p:nvPr/>
        </p:nvCxnSpPr>
        <p:spPr>
          <a:xfrm>
            <a:off x="8335798" y="3746091"/>
            <a:ext cx="0" cy="1946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6D3A8C8-813D-E604-78AE-0CF3532D3CAF}"/>
              </a:ext>
            </a:extLst>
          </p:cNvPr>
          <p:cNvCxnSpPr>
            <a:cxnSpLocks/>
          </p:cNvCxnSpPr>
          <p:nvPr/>
        </p:nvCxnSpPr>
        <p:spPr>
          <a:xfrm flipH="1">
            <a:off x="7829792" y="5692878"/>
            <a:ext cx="506006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29C655FC-6E74-05AD-2274-0400B163AC66}"/>
              </a:ext>
            </a:extLst>
          </p:cNvPr>
          <p:cNvSpPr txBox="1"/>
          <p:nvPr/>
        </p:nvSpPr>
        <p:spPr>
          <a:xfrm rot="5400000">
            <a:off x="7738821" y="4578933"/>
            <a:ext cx="1414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Bitwise AND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142C48-E523-B92B-2EA8-7C0D997B0C68}"/>
              </a:ext>
            </a:extLst>
          </p:cNvPr>
          <p:cNvSpPr txBox="1"/>
          <p:nvPr/>
        </p:nvSpPr>
        <p:spPr>
          <a:xfrm>
            <a:off x="9847576" y="2140992"/>
            <a:ext cx="230063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192.168.1.45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255.255.128.0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192.168.1.45/17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4B415B-9BD7-D4C5-88EE-009A6F83913F}"/>
              </a:ext>
            </a:extLst>
          </p:cNvPr>
          <p:cNvSpPr txBox="1"/>
          <p:nvPr/>
        </p:nvSpPr>
        <p:spPr>
          <a:xfrm>
            <a:off x="8731043" y="2156897"/>
            <a:ext cx="11977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IP &amp; Mask</a:t>
            </a:r>
            <a:br>
              <a:rPr lang="en-US" b="1" dirty="0"/>
            </a:br>
            <a:r>
              <a:rPr lang="en-US" b="1" dirty="0"/>
              <a:t>Notation: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FABF0C-8A58-E630-507A-642566B3B30B}"/>
              </a:ext>
            </a:extLst>
          </p:cNvPr>
          <p:cNvSpPr txBox="1"/>
          <p:nvPr/>
        </p:nvSpPr>
        <p:spPr>
          <a:xfrm>
            <a:off x="8215829" y="3065603"/>
            <a:ext cx="1757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CIDR Notation:</a:t>
            </a:r>
          </a:p>
        </p:txBody>
      </p:sp>
    </p:spTree>
    <p:extLst>
      <p:ext uri="{BB962C8B-B14F-4D97-AF65-F5344CB8AC3E}">
        <p14:creationId xmlns:p14="http://schemas.microsoft.com/office/powerpoint/2010/main" val="909640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EED2F-9439-7FF6-84AD-FB9565B41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2E417-9A03-B7E0-8855-40ADCEC04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978" y="-335618"/>
            <a:ext cx="10515600" cy="1325563"/>
          </a:xfrm>
        </p:spPr>
        <p:txBody>
          <a:bodyPr/>
          <a:lstStyle/>
          <a:p>
            <a:r>
              <a:rPr lang="en-US" dirty="0"/>
              <a:t>Subnetting and “Sandboxes”</a:t>
            </a:r>
          </a:p>
        </p:txBody>
      </p:sp>
      <p:pic>
        <p:nvPicPr>
          <p:cNvPr id="15362" name="Picture 2" descr="How to Build a Sandbox (with Pictures ...">
            <a:extLst>
              <a:ext uri="{FF2B5EF4-FFF2-40B4-BE49-F238E27FC236}">
                <a16:creationId xmlns:a16="http://schemas.microsoft.com/office/drawing/2014/main" id="{B8AAF103-B9F9-522E-DEEE-6949E7DD69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918"/>
          <a:stretch>
            <a:fillRect/>
          </a:stretch>
        </p:blipFill>
        <p:spPr bwMode="auto">
          <a:xfrm>
            <a:off x="426418" y="916213"/>
            <a:ext cx="8068949" cy="3483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AE559D0-788E-C4E9-6BC9-02B95B92C0CC}"/>
              </a:ext>
            </a:extLst>
          </p:cNvPr>
          <p:cNvCxnSpPr>
            <a:cxnSpLocks/>
          </p:cNvCxnSpPr>
          <p:nvPr/>
        </p:nvCxnSpPr>
        <p:spPr>
          <a:xfrm>
            <a:off x="3212196" y="1791284"/>
            <a:ext cx="2025445" cy="1691149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D4F2A4E-9ACF-CD88-B998-91B4C7ECF058}"/>
              </a:ext>
            </a:extLst>
          </p:cNvPr>
          <p:cNvCxnSpPr>
            <a:cxnSpLocks/>
          </p:cNvCxnSpPr>
          <p:nvPr/>
        </p:nvCxnSpPr>
        <p:spPr>
          <a:xfrm flipV="1">
            <a:off x="2327293" y="1965807"/>
            <a:ext cx="3352800" cy="135931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0D532B63-6064-7148-5097-E1CBA30FC147}"/>
              </a:ext>
            </a:extLst>
          </p:cNvPr>
          <p:cNvSpPr txBox="1"/>
          <p:nvPr/>
        </p:nvSpPr>
        <p:spPr>
          <a:xfrm>
            <a:off x="8660837" y="937810"/>
            <a:ext cx="322823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Overall network administrator will provide address ranges for a VPC.   That is the overall sandbox</a:t>
            </a:r>
          </a:p>
          <a:p>
            <a:endParaRPr lang="en-US" sz="2000" dirty="0"/>
          </a:p>
          <a:p>
            <a:r>
              <a:rPr lang="en-US" sz="2000" dirty="0"/>
              <a:t>You can then use leading bits from the “host” part to further divide up the network</a:t>
            </a:r>
          </a:p>
          <a:p>
            <a:br>
              <a:rPr lang="en-US" sz="2000" dirty="0"/>
            </a:br>
            <a:r>
              <a:rPr lang="en-US" sz="2000" b="1" dirty="0">
                <a:solidFill>
                  <a:srgbClr val="7030A0"/>
                </a:solidFill>
              </a:rPr>
              <a:t>These are called Subnets</a:t>
            </a:r>
          </a:p>
        </p:txBody>
      </p:sp>
      <p:sp>
        <p:nvSpPr>
          <p:cNvPr id="88" name="Rounded Rectangle 87">
            <a:extLst>
              <a:ext uri="{FF2B5EF4-FFF2-40B4-BE49-F238E27FC236}">
                <a16:creationId xmlns:a16="http://schemas.microsoft.com/office/drawing/2014/main" id="{94AFB788-0B47-6CB4-3EFA-F0393408206D}"/>
              </a:ext>
            </a:extLst>
          </p:cNvPr>
          <p:cNvSpPr/>
          <p:nvPr/>
        </p:nvSpPr>
        <p:spPr>
          <a:xfrm>
            <a:off x="348529" y="5060023"/>
            <a:ext cx="38290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87938D2C-6572-4A5E-7998-C2F2D558223D}"/>
              </a:ext>
            </a:extLst>
          </p:cNvPr>
          <p:cNvSpPr/>
          <p:nvPr/>
        </p:nvSpPr>
        <p:spPr>
          <a:xfrm>
            <a:off x="4696752" y="5060023"/>
            <a:ext cx="14063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3A62D7E-C030-BA88-F990-6F15E2BC8FCF}"/>
              </a:ext>
            </a:extLst>
          </p:cNvPr>
          <p:cNvSpPr txBox="1"/>
          <p:nvPr/>
        </p:nvSpPr>
        <p:spPr>
          <a:xfrm>
            <a:off x="378743" y="5024875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00001010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D4E1389-5E42-7B0B-C6A3-730AD640387A}"/>
              </a:ext>
            </a:extLst>
          </p:cNvPr>
          <p:cNvSpPr txBox="1"/>
          <p:nvPr/>
        </p:nvSpPr>
        <p:spPr>
          <a:xfrm>
            <a:off x="1851946" y="5024875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11110111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9AA2B6-592D-AD3A-880C-5C77B15C223C}"/>
              </a:ext>
            </a:extLst>
          </p:cNvPr>
          <p:cNvSpPr txBox="1"/>
          <p:nvPr/>
        </p:nvSpPr>
        <p:spPr>
          <a:xfrm>
            <a:off x="3223549" y="5031225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010111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00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8A9C8F-CFE6-2681-F900-02AC29FD4F30}"/>
              </a:ext>
            </a:extLst>
          </p:cNvPr>
          <p:cNvSpPr txBox="1"/>
          <p:nvPr/>
        </p:nvSpPr>
        <p:spPr>
          <a:xfrm>
            <a:off x="4798352" y="5024875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49A43392-C5D7-807C-6CD3-D442496E5D3A}"/>
              </a:ext>
            </a:extLst>
          </p:cNvPr>
          <p:cNvSpPr/>
          <p:nvPr/>
        </p:nvSpPr>
        <p:spPr>
          <a:xfrm>
            <a:off x="4207754" y="5051561"/>
            <a:ext cx="465947" cy="388808"/>
          </a:xfrm>
          <a:prstGeom prst="roundRect">
            <a:avLst>
              <a:gd name="adj" fmla="val 773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B331FAF-A929-EE41-438C-035E2809C196}"/>
              </a:ext>
            </a:extLst>
          </p:cNvPr>
          <p:cNvSpPr txBox="1"/>
          <p:nvPr/>
        </p:nvSpPr>
        <p:spPr>
          <a:xfrm>
            <a:off x="1728541" y="2231298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10.247.92.0/24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91BE1BE-B145-C420-9D27-F4EA8503DCEB}"/>
              </a:ext>
            </a:extLst>
          </p:cNvPr>
          <p:cNvSpPr txBox="1"/>
          <p:nvPr/>
        </p:nvSpPr>
        <p:spPr>
          <a:xfrm>
            <a:off x="3486156" y="1732307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10.247.94.0/24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2ED90C8-2473-168B-C3E5-45DB717E4CD9}"/>
              </a:ext>
            </a:extLst>
          </p:cNvPr>
          <p:cNvSpPr txBox="1"/>
          <p:nvPr/>
        </p:nvSpPr>
        <p:spPr>
          <a:xfrm>
            <a:off x="2667259" y="3326427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10.247.93.0/24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21FB0F5-45D3-FCC5-60AF-82BF870C04E4}"/>
              </a:ext>
            </a:extLst>
          </p:cNvPr>
          <p:cNvSpPr txBox="1"/>
          <p:nvPr/>
        </p:nvSpPr>
        <p:spPr>
          <a:xfrm>
            <a:off x="4634472" y="2457669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10.247.95.0/24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E8D7A-E9EF-6692-2F1B-DD07756319C4}"/>
              </a:ext>
            </a:extLst>
          </p:cNvPr>
          <p:cNvSpPr txBox="1"/>
          <p:nvPr/>
        </p:nvSpPr>
        <p:spPr>
          <a:xfrm rot="19671818">
            <a:off x="5280061" y="3287385"/>
            <a:ext cx="2569934" cy="523220"/>
          </a:xfrm>
          <a:prstGeom prst="rect">
            <a:avLst/>
          </a:prstGeom>
          <a:solidFill>
            <a:schemeClr val="accent6">
              <a:alpha val="28149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10.247.92.0/22</a:t>
            </a:r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8DE0B34A-3F7E-FEEB-3A23-4FA3546B7223}"/>
              </a:ext>
            </a:extLst>
          </p:cNvPr>
          <p:cNvSpPr/>
          <p:nvPr/>
        </p:nvSpPr>
        <p:spPr>
          <a:xfrm>
            <a:off x="343612" y="4456784"/>
            <a:ext cx="3853473" cy="419585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BEF2A17C-6B29-BFA3-8D67-78C6EC494FD3}"/>
              </a:ext>
            </a:extLst>
          </p:cNvPr>
          <p:cNvSpPr/>
          <p:nvPr/>
        </p:nvSpPr>
        <p:spPr>
          <a:xfrm>
            <a:off x="4227299" y="4456784"/>
            <a:ext cx="1870847" cy="419585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0D668EE-0C52-8D93-9747-5022853ACF99}"/>
              </a:ext>
            </a:extLst>
          </p:cNvPr>
          <p:cNvSpPr txBox="1"/>
          <p:nvPr/>
        </p:nvSpPr>
        <p:spPr>
          <a:xfrm>
            <a:off x="373826" y="445951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00001010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ADCE017-8CCB-447E-982A-10CC7E8A5CFE}"/>
              </a:ext>
            </a:extLst>
          </p:cNvPr>
          <p:cNvSpPr txBox="1"/>
          <p:nvPr/>
        </p:nvSpPr>
        <p:spPr>
          <a:xfrm>
            <a:off x="1847029" y="445951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11110111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BF9142E-F91F-1466-4FCA-0D9265067E3E}"/>
              </a:ext>
            </a:extLst>
          </p:cNvPr>
          <p:cNvSpPr txBox="1"/>
          <p:nvPr/>
        </p:nvSpPr>
        <p:spPr>
          <a:xfrm>
            <a:off x="3218632" y="4465867"/>
            <a:ext cx="145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010111 </a:t>
            </a:r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DF27DFA-35A0-8547-D787-ABF11F191638}"/>
              </a:ext>
            </a:extLst>
          </p:cNvPr>
          <p:cNvSpPr txBox="1"/>
          <p:nvPr/>
        </p:nvSpPr>
        <p:spPr>
          <a:xfrm>
            <a:off x="4793435" y="445951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49EF482B-C486-6471-6448-D7C9A42E3E58}"/>
              </a:ext>
            </a:extLst>
          </p:cNvPr>
          <p:cNvSpPr/>
          <p:nvPr/>
        </p:nvSpPr>
        <p:spPr>
          <a:xfrm>
            <a:off x="355044" y="5517224"/>
            <a:ext cx="38290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27149B67-F0A2-DF9F-BA91-C5096CCB6423}"/>
              </a:ext>
            </a:extLst>
          </p:cNvPr>
          <p:cNvSpPr/>
          <p:nvPr/>
        </p:nvSpPr>
        <p:spPr>
          <a:xfrm>
            <a:off x="4703267" y="5517224"/>
            <a:ext cx="14063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7EF36D5-4A26-BF1A-E316-129BF1E3C747}"/>
              </a:ext>
            </a:extLst>
          </p:cNvPr>
          <p:cNvSpPr txBox="1"/>
          <p:nvPr/>
        </p:nvSpPr>
        <p:spPr>
          <a:xfrm>
            <a:off x="385258" y="548207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00001010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0C115C9-66CC-175D-2648-A10337C9DE5E}"/>
              </a:ext>
            </a:extLst>
          </p:cNvPr>
          <p:cNvSpPr txBox="1"/>
          <p:nvPr/>
        </p:nvSpPr>
        <p:spPr>
          <a:xfrm>
            <a:off x="1858461" y="548207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11110111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3A3FDC5-2C1F-325E-0F55-B2E2FF6B851B}"/>
              </a:ext>
            </a:extLst>
          </p:cNvPr>
          <p:cNvSpPr txBox="1"/>
          <p:nvPr/>
        </p:nvSpPr>
        <p:spPr>
          <a:xfrm>
            <a:off x="3230064" y="5488426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010111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2D5D0D5-025D-2D14-BA5F-15AED6B41650}"/>
              </a:ext>
            </a:extLst>
          </p:cNvPr>
          <p:cNvSpPr txBox="1"/>
          <p:nvPr/>
        </p:nvSpPr>
        <p:spPr>
          <a:xfrm>
            <a:off x="4804867" y="548207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DB3F48C7-B8EF-5A6B-91A0-F95DE5841783}"/>
              </a:ext>
            </a:extLst>
          </p:cNvPr>
          <p:cNvSpPr/>
          <p:nvPr/>
        </p:nvSpPr>
        <p:spPr>
          <a:xfrm>
            <a:off x="4214269" y="5508762"/>
            <a:ext cx="465947" cy="388808"/>
          </a:xfrm>
          <a:prstGeom prst="roundRect">
            <a:avLst>
              <a:gd name="adj" fmla="val 773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A6AB55E3-0B4D-F434-0EB9-19F74D60F20E}"/>
              </a:ext>
            </a:extLst>
          </p:cNvPr>
          <p:cNvSpPr/>
          <p:nvPr/>
        </p:nvSpPr>
        <p:spPr>
          <a:xfrm>
            <a:off x="361559" y="5974425"/>
            <a:ext cx="38290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23A454B0-7D33-F9D3-6DA1-36DB7397BB00}"/>
              </a:ext>
            </a:extLst>
          </p:cNvPr>
          <p:cNvSpPr/>
          <p:nvPr/>
        </p:nvSpPr>
        <p:spPr>
          <a:xfrm>
            <a:off x="4709782" y="5974425"/>
            <a:ext cx="14063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302EDE5-EE12-CD58-1608-78075275BE5B}"/>
              </a:ext>
            </a:extLst>
          </p:cNvPr>
          <p:cNvSpPr txBox="1"/>
          <p:nvPr/>
        </p:nvSpPr>
        <p:spPr>
          <a:xfrm>
            <a:off x="391773" y="593927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00001010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39EEC25-7A88-4065-554F-A8541CF99D65}"/>
              </a:ext>
            </a:extLst>
          </p:cNvPr>
          <p:cNvSpPr txBox="1"/>
          <p:nvPr/>
        </p:nvSpPr>
        <p:spPr>
          <a:xfrm>
            <a:off x="1864976" y="593927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11110111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92F62CF-F1A5-B9D4-A7F9-28CD621C61E3}"/>
              </a:ext>
            </a:extLst>
          </p:cNvPr>
          <p:cNvSpPr txBox="1"/>
          <p:nvPr/>
        </p:nvSpPr>
        <p:spPr>
          <a:xfrm>
            <a:off x="3236579" y="5945627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010111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D27882E-F37C-A22C-22E0-55CEEC4750EC}"/>
              </a:ext>
            </a:extLst>
          </p:cNvPr>
          <p:cNvSpPr txBox="1"/>
          <p:nvPr/>
        </p:nvSpPr>
        <p:spPr>
          <a:xfrm>
            <a:off x="4811382" y="593927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255EE331-1F55-0DC4-BCB1-E432D9CF9931}"/>
              </a:ext>
            </a:extLst>
          </p:cNvPr>
          <p:cNvSpPr/>
          <p:nvPr/>
        </p:nvSpPr>
        <p:spPr>
          <a:xfrm>
            <a:off x="4220784" y="5965963"/>
            <a:ext cx="465947" cy="388808"/>
          </a:xfrm>
          <a:prstGeom prst="roundRect">
            <a:avLst>
              <a:gd name="adj" fmla="val 773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AA548D1A-E2FF-9BC6-20DD-7F95F5FD65FA}"/>
              </a:ext>
            </a:extLst>
          </p:cNvPr>
          <p:cNvSpPr/>
          <p:nvPr/>
        </p:nvSpPr>
        <p:spPr>
          <a:xfrm>
            <a:off x="368074" y="6431626"/>
            <a:ext cx="38290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CB30F7A4-CCEB-C8F2-2C99-09B66F4A5461}"/>
              </a:ext>
            </a:extLst>
          </p:cNvPr>
          <p:cNvSpPr/>
          <p:nvPr/>
        </p:nvSpPr>
        <p:spPr>
          <a:xfrm>
            <a:off x="4716297" y="6431626"/>
            <a:ext cx="14063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19A1FAD-6549-8C05-4214-568141B3F64F}"/>
              </a:ext>
            </a:extLst>
          </p:cNvPr>
          <p:cNvSpPr txBox="1"/>
          <p:nvPr/>
        </p:nvSpPr>
        <p:spPr>
          <a:xfrm>
            <a:off x="398288" y="6396478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00001010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4521D5F-3D80-4946-D805-07837D581CA8}"/>
              </a:ext>
            </a:extLst>
          </p:cNvPr>
          <p:cNvSpPr txBox="1"/>
          <p:nvPr/>
        </p:nvSpPr>
        <p:spPr>
          <a:xfrm>
            <a:off x="1871491" y="6396478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11110111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D96F98-BD66-F1DF-317C-174D09FCCCC0}"/>
              </a:ext>
            </a:extLst>
          </p:cNvPr>
          <p:cNvSpPr txBox="1"/>
          <p:nvPr/>
        </p:nvSpPr>
        <p:spPr>
          <a:xfrm>
            <a:off x="3243094" y="6402828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010111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A4D03A03-D4BA-427C-46AD-1F6D52D8697F}"/>
              </a:ext>
            </a:extLst>
          </p:cNvPr>
          <p:cNvSpPr txBox="1"/>
          <p:nvPr/>
        </p:nvSpPr>
        <p:spPr>
          <a:xfrm>
            <a:off x="4817897" y="6396478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127" name="Rounded Rectangle 126">
            <a:extLst>
              <a:ext uri="{FF2B5EF4-FFF2-40B4-BE49-F238E27FC236}">
                <a16:creationId xmlns:a16="http://schemas.microsoft.com/office/drawing/2014/main" id="{7D28650C-766E-AFB3-48A6-42968E0ADA50}"/>
              </a:ext>
            </a:extLst>
          </p:cNvPr>
          <p:cNvSpPr/>
          <p:nvPr/>
        </p:nvSpPr>
        <p:spPr>
          <a:xfrm>
            <a:off x="4227299" y="6423164"/>
            <a:ext cx="465947" cy="388808"/>
          </a:xfrm>
          <a:prstGeom prst="roundRect">
            <a:avLst>
              <a:gd name="adj" fmla="val 773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60" name="TextBox 15359">
            <a:extLst>
              <a:ext uri="{FF2B5EF4-FFF2-40B4-BE49-F238E27FC236}">
                <a16:creationId xmlns:a16="http://schemas.microsoft.com/office/drawing/2014/main" id="{DE8A79CE-F79D-D14B-525C-C6067210493F}"/>
              </a:ext>
            </a:extLst>
          </p:cNvPr>
          <p:cNvSpPr txBox="1"/>
          <p:nvPr/>
        </p:nvSpPr>
        <p:spPr>
          <a:xfrm>
            <a:off x="6217460" y="4440266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10.247.92.0/22</a:t>
            </a:r>
          </a:p>
        </p:txBody>
      </p:sp>
      <p:sp>
        <p:nvSpPr>
          <p:cNvPr id="15361" name="TextBox 15360">
            <a:extLst>
              <a:ext uri="{FF2B5EF4-FFF2-40B4-BE49-F238E27FC236}">
                <a16:creationId xmlns:a16="http://schemas.microsoft.com/office/drawing/2014/main" id="{45DF77A7-D5BD-AA62-8E54-BA1AC9959B47}"/>
              </a:ext>
            </a:extLst>
          </p:cNvPr>
          <p:cNvSpPr txBox="1"/>
          <p:nvPr/>
        </p:nvSpPr>
        <p:spPr>
          <a:xfrm>
            <a:off x="6213132" y="5048721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10.247.92.0/24</a:t>
            </a:r>
          </a:p>
        </p:txBody>
      </p:sp>
      <p:sp>
        <p:nvSpPr>
          <p:cNvPr id="15363" name="TextBox 15362">
            <a:extLst>
              <a:ext uri="{FF2B5EF4-FFF2-40B4-BE49-F238E27FC236}">
                <a16:creationId xmlns:a16="http://schemas.microsoft.com/office/drawing/2014/main" id="{F8F8F828-2708-4EA0-975B-2C01EDA06219}"/>
              </a:ext>
            </a:extLst>
          </p:cNvPr>
          <p:cNvSpPr txBox="1"/>
          <p:nvPr/>
        </p:nvSpPr>
        <p:spPr>
          <a:xfrm>
            <a:off x="6211178" y="5520080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10.247.93.0/24</a:t>
            </a:r>
          </a:p>
        </p:txBody>
      </p:sp>
      <p:sp>
        <p:nvSpPr>
          <p:cNvPr id="15364" name="TextBox 15363">
            <a:extLst>
              <a:ext uri="{FF2B5EF4-FFF2-40B4-BE49-F238E27FC236}">
                <a16:creationId xmlns:a16="http://schemas.microsoft.com/office/drawing/2014/main" id="{E05D4216-EB38-9098-BA75-315C46299FAF}"/>
              </a:ext>
            </a:extLst>
          </p:cNvPr>
          <p:cNvSpPr txBox="1"/>
          <p:nvPr/>
        </p:nvSpPr>
        <p:spPr>
          <a:xfrm>
            <a:off x="6209224" y="5991439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10.247.94.0/24</a:t>
            </a:r>
          </a:p>
        </p:txBody>
      </p:sp>
      <p:sp>
        <p:nvSpPr>
          <p:cNvPr id="15365" name="TextBox 15364">
            <a:extLst>
              <a:ext uri="{FF2B5EF4-FFF2-40B4-BE49-F238E27FC236}">
                <a16:creationId xmlns:a16="http://schemas.microsoft.com/office/drawing/2014/main" id="{8B2CCF53-A012-44C0-1A5B-D22CF619A5A1}"/>
              </a:ext>
            </a:extLst>
          </p:cNvPr>
          <p:cNvSpPr txBox="1"/>
          <p:nvPr/>
        </p:nvSpPr>
        <p:spPr>
          <a:xfrm>
            <a:off x="6207270" y="6462798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10.247.95.0/24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B9D576-46F4-653C-148F-7E59A34E87D9}"/>
              </a:ext>
            </a:extLst>
          </p:cNvPr>
          <p:cNvSpPr txBox="1"/>
          <p:nvPr/>
        </p:nvSpPr>
        <p:spPr>
          <a:xfrm>
            <a:off x="8660837" y="4503648"/>
            <a:ext cx="349074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AWS reserves 5 IP addresses in every subnet for its own use.  Address </a:t>
            </a:r>
            <a:r>
              <a:rPr lang="en-US" b="1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/>
              <a:t> is the </a:t>
            </a:r>
            <a:r>
              <a:rPr lang="en-US" b="1" dirty="0"/>
              <a:t>network identifier</a:t>
            </a:r>
            <a:r>
              <a:rPr lang="en-US" dirty="0"/>
              <a:t>, </a:t>
            </a:r>
            <a:r>
              <a:rPr lang="en-US" b="1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/>
              <a:t> is the </a:t>
            </a:r>
            <a:r>
              <a:rPr lang="en-US" b="1" dirty="0"/>
              <a:t>VPC router</a:t>
            </a:r>
            <a:r>
              <a:rPr lang="en-US" dirty="0"/>
              <a:t>, </a:t>
            </a:r>
            <a:r>
              <a:rPr lang="en-US" b="1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/>
              <a:t> is the </a:t>
            </a:r>
            <a:r>
              <a:rPr lang="en-US" b="1" dirty="0"/>
              <a:t>DNS resolver</a:t>
            </a:r>
            <a:r>
              <a:rPr lang="en-US" dirty="0"/>
              <a:t>, </a:t>
            </a:r>
            <a:r>
              <a:rPr lang="en-US" b="1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dirty="0"/>
              <a:t> is </a:t>
            </a:r>
            <a:r>
              <a:rPr lang="en-US" b="1" dirty="0"/>
              <a:t>reserved for future use</a:t>
            </a:r>
            <a:r>
              <a:rPr lang="en-US" dirty="0"/>
              <a:t>, and the highest address all bits </a:t>
            </a:r>
            <a:r>
              <a:rPr lang="en-US" b="1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/>
              <a:t> are for the </a:t>
            </a:r>
            <a:r>
              <a:rPr lang="en-US" b="1" dirty="0"/>
              <a:t>broadcast address</a:t>
            </a:r>
          </a:p>
        </p:txBody>
      </p:sp>
    </p:spTree>
    <p:extLst>
      <p:ext uri="{BB962C8B-B14F-4D97-AF65-F5344CB8AC3E}">
        <p14:creationId xmlns:p14="http://schemas.microsoft.com/office/powerpoint/2010/main" val="507894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DB46-2276-42FF-A6C1-DA2B5ABB9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67C05-C4AA-00F6-7E35-22433BA32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" y="-183767"/>
            <a:ext cx="10515600" cy="1325563"/>
          </a:xfrm>
        </p:spPr>
        <p:txBody>
          <a:bodyPr/>
          <a:lstStyle/>
          <a:p>
            <a:r>
              <a:rPr lang="en-US" dirty="0"/>
              <a:t>Private and Public Network Addresses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39A123-FB78-D1CC-33BC-9ABBBD303B4E}"/>
              </a:ext>
            </a:extLst>
          </p:cNvPr>
          <p:cNvSpPr txBox="1"/>
          <p:nvPr/>
        </p:nvSpPr>
        <p:spPr>
          <a:xfrm>
            <a:off x="622693" y="1023209"/>
            <a:ext cx="8306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RFC 1918 Defined 3 Private (Non-Routable) address ranges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BB11C1-AF21-49D6-AEFC-0FAC85A4F2A9}"/>
              </a:ext>
            </a:extLst>
          </p:cNvPr>
          <p:cNvSpPr txBox="1"/>
          <p:nvPr/>
        </p:nvSpPr>
        <p:spPr>
          <a:xfrm>
            <a:off x="622693" y="1484874"/>
            <a:ext cx="255069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10.0.0.0/8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172.16.0.0/12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192.168.0.0/16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2C1FF41B-957D-E066-C43A-D1524ABA141E}"/>
              </a:ext>
            </a:extLst>
          </p:cNvPr>
          <p:cNvSpPr/>
          <p:nvPr/>
        </p:nvSpPr>
        <p:spPr>
          <a:xfrm>
            <a:off x="3173391" y="1484874"/>
            <a:ext cx="388516" cy="11094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BF211A-40F4-3780-1B8E-6F567548838F}"/>
              </a:ext>
            </a:extLst>
          </p:cNvPr>
          <p:cNvSpPr txBox="1"/>
          <p:nvPr/>
        </p:nvSpPr>
        <p:spPr>
          <a:xfrm>
            <a:off x="3848987" y="1531777"/>
            <a:ext cx="70919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IP addresses in these ranges are considered to be non-routable on the </a:t>
            </a:r>
            <a:r>
              <a:rPr lang="en-US" sz="2000" b="1" dirty="0">
                <a:solidFill>
                  <a:srgbClr val="7030A0"/>
                </a:solidFill>
              </a:rPr>
              <a:t>public internet</a:t>
            </a:r>
            <a:r>
              <a:rPr lang="en-US" sz="2000" dirty="0"/>
              <a:t>.  Thus any addresses in these ranges are considered to be on a </a:t>
            </a:r>
            <a:r>
              <a:rPr lang="en-US" sz="2000" b="1" dirty="0">
                <a:solidFill>
                  <a:srgbClr val="7030A0"/>
                </a:solidFill>
              </a:rPr>
              <a:t>private network</a:t>
            </a:r>
          </a:p>
        </p:txBody>
      </p:sp>
      <p:pic>
        <p:nvPicPr>
          <p:cNvPr id="22530" name="Picture 2" descr="Cloud Storage Icon Padlock Symbol ...">
            <a:extLst>
              <a:ext uri="{FF2B5EF4-FFF2-40B4-BE49-F238E27FC236}">
                <a16:creationId xmlns:a16="http://schemas.microsoft.com/office/drawing/2014/main" id="{AEFB316C-973A-DC64-1F8D-6342EFBBD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23" t="17857" r="21046" b="10382"/>
          <a:stretch>
            <a:fillRect/>
          </a:stretch>
        </p:blipFill>
        <p:spPr bwMode="auto">
          <a:xfrm>
            <a:off x="2594347" y="3117715"/>
            <a:ext cx="2743200" cy="1936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2" name="Picture 4" descr="Internet Cloud Icons - Free SVG &amp; PNG ...">
            <a:extLst>
              <a:ext uri="{FF2B5EF4-FFF2-40B4-BE49-F238E27FC236}">
                <a16:creationId xmlns:a16="http://schemas.microsoft.com/office/drawing/2014/main" id="{DAD676FB-1ED4-B144-A501-262AEA06FB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16" b="13299"/>
          <a:stretch>
            <a:fillRect/>
          </a:stretch>
        </p:blipFill>
        <p:spPr bwMode="auto">
          <a:xfrm>
            <a:off x="6569218" y="3179702"/>
            <a:ext cx="2540000" cy="193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4" name="Picture 6" descr="Cloud Nat Vector SVG Icon - SVG Repo">
            <a:extLst>
              <a:ext uri="{FF2B5EF4-FFF2-40B4-BE49-F238E27FC236}">
                <a16:creationId xmlns:a16="http://schemas.microsoft.com/office/drawing/2014/main" id="{01C6E322-091A-1B4E-9E07-A0D79580E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5385" y="3314792"/>
            <a:ext cx="1664947" cy="1664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EEFDA5-1B98-6957-90DB-E82694A08212}"/>
              </a:ext>
            </a:extLst>
          </p:cNvPr>
          <p:cNvSpPr txBox="1"/>
          <p:nvPr/>
        </p:nvSpPr>
        <p:spPr>
          <a:xfrm>
            <a:off x="-47253" y="3244659"/>
            <a:ext cx="27432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Private IP Addresses in RFC 1918 Ranges. Internet traffic </a:t>
            </a:r>
            <a:r>
              <a:rPr lang="en-US" sz="2000" b="1" dirty="0"/>
              <a:t>MUST BE INITIATED </a:t>
            </a:r>
            <a:r>
              <a:rPr lang="en-US" sz="2000" dirty="0"/>
              <a:t>from the private network side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2FD69-FEAC-67AF-6902-348DF085DAB5}"/>
              </a:ext>
            </a:extLst>
          </p:cNvPr>
          <p:cNvSpPr txBox="1"/>
          <p:nvPr/>
        </p:nvSpPr>
        <p:spPr>
          <a:xfrm>
            <a:off x="9098585" y="3278406"/>
            <a:ext cx="29582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Public IP Addresses NOT in RFC 1918 Ranges, if any traffic with these addresses got to the Internet they would be dropped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6E4E48-C703-3F41-128C-EB72F164DD03}"/>
              </a:ext>
            </a:extLst>
          </p:cNvPr>
          <p:cNvSpPr txBox="1"/>
          <p:nvPr/>
        </p:nvSpPr>
        <p:spPr>
          <a:xfrm>
            <a:off x="4892777" y="5311905"/>
            <a:ext cx="29582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Public IP Adress as Proxy for all Private IP traffic ingress and egress to internet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26CF951-32C5-A145-0559-45CCF3A0040E}"/>
              </a:ext>
            </a:extLst>
          </p:cNvPr>
          <p:cNvCxnSpPr>
            <a:stCxn id="9" idx="0"/>
          </p:cNvCxnSpPr>
          <p:nvPr/>
        </p:nvCxnSpPr>
        <p:spPr>
          <a:xfrm flipV="1">
            <a:off x="6371907" y="4439846"/>
            <a:ext cx="7630" cy="872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42D4C3E-D237-D920-5EAD-7F0C11AECD20}"/>
              </a:ext>
            </a:extLst>
          </p:cNvPr>
          <p:cNvSpPr txBox="1"/>
          <p:nvPr/>
        </p:nvSpPr>
        <p:spPr>
          <a:xfrm>
            <a:off x="4951444" y="3040384"/>
            <a:ext cx="18317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4285F4"/>
                </a:solidFill>
              </a:rPr>
              <a:t>NAT GATEWAY</a:t>
            </a:r>
          </a:p>
        </p:txBody>
      </p:sp>
    </p:spTree>
    <p:extLst>
      <p:ext uri="{BB962C8B-B14F-4D97-AF65-F5344CB8AC3E}">
        <p14:creationId xmlns:p14="http://schemas.microsoft.com/office/powerpoint/2010/main" val="4035476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F4164-1475-D9BF-AA7A-F2B7C5CD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3281A-16BF-6B94-827B-8B04162B3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" y="-31912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IP Assignment: How Instances Get Their Addresses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49D9AE99-796A-8AF7-BCBB-4D13241058B5}"/>
              </a:ext>
            </a:extLst>
          </p:cNvPr>
          <p:cNvSpPr/>
          <p:nvPr/>
        </p:nvSpPr>
        <p:spPr>
          <a:xfrm>
            <a:off x="320039" y="904052"/>
            <a:ext cx="97855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69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 (Dynamic Host Configuration Protocol)</a:t>
            </a:r>
            <a:endParaRPr lang="en-US" sz="2400" dirty="0">
              <a:solidFill>
                <a:srgbClr val="669DF6"/>
              </a:solidFill>
            </a:endParaRPr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71E989C5-77EA-BEA5-F9E0-FD35691CE0CD}"/>
              </a:ext>
            </a:extLst>
          </p:cNvPr>
          <p:cNvSpPr/>
          <p:nvPr/>
        </p:nvSpPr>
        <p:spPr>
          <a:xfrm>
            <a:off x="320039" y="1205804"/>
            <a:ext cx="108504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EC2 instance launches, AWS acts as a DHCP server — automatically assigning a private IP from the subnet's CIDR range. You can also assign a specific IP at launch. The private IP persists for the lifetime of the instance (even across stop/start).</a:t>
            </a:r>
            <a:endParaRPr lang="en-US" sz="2000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A62ED39B-FB22-5214-D5D6-E048F1096549}"/>
              </a:ext>
            </a:extLst>
          </p:cNvPr>
          <p:cNvSpPr/>
          <p:nvPr/>
        </p:nvSpPr>
        <p:spPr>
          <a:xfrm>
            <a:off x="270611" y="2351090"/>
            <a:ext cx="4743134" cy="3034726"/>
          </a:xfrm>
          <a:prstGeom prst="rect">
            <a:avLst/>
          </a:prstGeom>
          <a:solidFill>
            <a:srgbClr val="EBF3FB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B19A62AD-2429-D7D2-4DC7-AEE46CBA62DB}"/>
              </a:ext>
            </a:extLst>
          </p:cNvPr>
          <p:cNvSpPr/>
          <p:nvPr/>
        </p:nvSpPr>
        <p:spPr>
          <a:xfrm>
            <a:off x="270611" y="2351090"/>
            <a:ext cx="474313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IP Address</a:t>
            </a:r>
            <a:endParaRPr lang="en-US" sz="20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A1FAAB2E-FB3A-1A1F-EFEA-F80AA8E7E968}"/>
              </a:ext>
            </a:extLst>
          </p:cNvPr>
          <p:cNvSpPr/>
          <p:nvPr/>
        </p:nvSpPr>
        <p:spPr>
          <a:xfrm>
            <a:off x="453491" y="2735138"/>
            <a:ext cx="456025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RFC 1918 range (10.x, 172.16.x, 192.168.x)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Assigned by AWS DHCP at launch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Stays assigned for instance lifetime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Survives stop → start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Never routable on the public internet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Used for all internal VPC communication</a:t>
            </a:r>
            <a:endParaRPr lang="en-US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589E2713-9049-8374-6D31-2FA301D4E61C}"/>
              </a:ext>
            </a:extLst>
          </p:cNvPr>
          <p:cNvSpPr/>
          <p:nvPr/>
        </p:nvSpPr>
        <p:spPr>
          <a:xfrm>
            <a:off x="5301261" y="2351090"/>
            <a:ext cx="6758933" cy="3034726"/>
          </a:xfrm>
          <a:prstGeom prst="rect">
            <a:avLst/>
          </a:prstGeom>
          <a:solidFill>
            <a:srgbClr val="F8F9FA"/>
          </a:solidFill>
          <a:ln w="9525">
            <a:solidFill>
              <a:srgbClr val="D0D7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3151E916-39AA-8301-9E9A-E2A5071C8308}"/>
              </a:ext>
            </a:extLst>
          </p:cNvPr>
          <p:cNvSpPr/>
          <p:nvPr/>
        </p:nvSpPr>
        <p:spPr>
          <a:xfrm>
            <a:off x="5301262" y="2351090"/>
            <a:ext cx="67589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IP Address (two types)</a:t>
            </a:r>
            <a:endParaRPr lang="en-US" sz="20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8A516180-EA02-15E9-6065-77CB7356CBD3}"/>
              </a:ext>
            </a:extLst>
          </p:cNvPr>
          <p:cNvSpPr/>
          <p:nvPr/>
        </p:nvSpPr>
        <p:spPr>
          <a:xfrm>
            <a:off x="5484142" y="2762570"/>
            <a:ext cx="2953266" cy="2423876"/>
          </a:xfrm>
          <a:prstGeom prst="rect">
            <a:avLst/>
          </a:prstGeom>
          <a:solidFill>
            <a:srgbClr val="FEF3E8"/>
          </a:solidFill>
          <a:ln w="9525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B30A1953-B292-868E-E8DF-04EB6CB2D734}"/>
              </a:ext>
            </a:extLst>
          </p:cNvPr>
          <p:cNvSpPr/>
          <p:nvPr/>
        </p:nvSpPr>
        <p:spPr>
          <a:xfrm>
            <a:off x="5484141" y="2762570"/>
            <a:ext cx="29532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Auto-Assigned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IP</a:t>
            </a:r>
            <a:endParaRPr lang="en-US" sz="2000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8350071E-FFBD-5F9D-2895-9E0F27B1E209}"/>
              </a:ext>
            </a:extLst>
          </p:cNvPr>
          <p:cNvSpPr/>
          <p:nvPr/>
        </p:nvSpPr>
        <p:spPr>
          <a:xfrm>
            <a:off x="5529861" y="3091754"/>
            <a:ext cx="3058083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Free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Ephemeral — lost on stop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Changes every restart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Cannot be predicted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OK for dev/test</a:t>
            </a:r>
            <a:endParaRPr lang="en-US" dirty="0"/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A7793E01-233B-D2A8-8990-63F40CBF3CB6}"/>
              </a:ext>
            </a:extLst>
          </p:cNvPr>
          <p:cNvSpPr/>
          <p:nvPr/>
        </p:nvSpPr>
        <p:spPr>
          <a:xfrm>
            <a:off x="8507517" y="2762570"/>
            <a:ext cx="3413872" cy="2423876"/>
          </a:xfrm>
          <a:prstGeom prst="rect">
            <a:avLst/>
          </a:prstGeom>
          <a:solidFill>
            <a:srgbClr val="F4EEFF"/>
          </a:solidFill>
          <a:ln w="9525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1108C1F8-A542-707E-78F6-D4643E5CFCC6}"/>
              </a:ext>
            </a:extLst>
          </p:cNvPr>
          <p:cNvSpPr/>
          <p:nvPr/>
        </p:nvSpPr>
        <p:spPr>
          <a:xfrm>
            <a:off x="9119286" y="2850642"/>
            <a:ext cx="23414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IP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(EIP)</a:t>
            </a:r>
            <a:endParaRPr lang="en-US" sz="2000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4B40316A-3127-5CAD-4C0A-3B8ABA359D95}"/>
              </a:ext>
            </a:extLst>
          </p:cNvPr>
          <p:cNvSpPr/>
          <p:nvPr/>
        </p:nvSpPr>
        <p:spPr>
          <a:xfrm>
            <a:off x="8567207" y="3121411"/>
            <a:ext cx="3406489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$0.005/hr if unused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Persistent — survives stop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Reassignable to any instance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Required for stable public endpoint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Limited: 5 per region by default</a:t>
            </a:r>
            <a:endParaRPr lang="en-US" dirty="0"/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7AA26E58-1C38-06AC-4059-0BC31598301F}"/>
              </a:ext>
            </a:extLst>
          </p:cNvPr>
          <p:cNvSpPr/>
          <p:nvPr/>
        </p:nvSpPr>
        <p:spPr>
          <a:xfrm>
            <a:off x="5484141" y="5475869"/>
            <a:ext cx="6437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r>
              <a:rPr lang="en-US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an instance without an Elastic IP → it gets a new public IP on restart. Scripts or DNS records pointing at the old IP will break.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4C776E0C-3764-05D8-B564-42D83358C625}"/>
              </a:ext>
            </a:extLst>
          </p:cNvPr>
          <p:cNvSpPr/>
          <p:nvPr/>
        </p:nvSpPr>
        <p:spPr>
          <a:xfrm>
            <a:off x="79248" y="6279642"/>
            <a:ext cx="11980946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IPs are stable for the instance lifetime. Public IPs are ephemeral unless you use an Elastic IP — important for any public-facing resource.</a:t>
            </a:r>
            <a:endParaRPr lang="en-US" sz="24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3998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9DF7D-6106-59C6-2FB9-E094E737A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2D491-4F92-3039-4583-F7C2F083B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8" y="-310905"/>
            <a:ext cx="10515600" cy="1325563"/>
          </a:xfrm>
        </p:spPr>
        <p:txBody>
          <a:bodyPr/>
          <a:lstStyle/>
          <a:p>
            <a:r>
              <a:rPr lang="en-US" dirty="0"/>
              <a:t>Controlling Public (Internet Access)</a:t>
            </a:r>
          </a:p>
        </p:txBody>
      </p:sp>
      <p:pic>
        <p:nvPicPr>
          <p:cNvPr id="3074" name="Picture 2" descr="AWS Cloud Resource | Internet Gateway">
            <a:extLst>
              <a:ext uri="{FF2B5EF4-FFF2-40B4-BE49-F238E27FC236}">
                <a16:creationId xmlns:a16="http://schemas.microsoft.com/office/drawing/2014/main" id="{7E217245-52AA-D4BB-3852-50FB66783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8879" y="1201371"/>
            <a:ext cx="1993900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VPC NAT Gateway | AWS Compute">
            <a:extLst>
              <a:ext uri="{FF2B5EF4-FFF2-40B4-BE49-F238E27FC236}">
                <a16:creationId xmlns:a16="http://schemas.microsoft.com/office/drawing/2014/main" id="{607BC1B3-4027-1AB6-E7A4-CC9688D74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0206" y="1201371"/>
            <a:ext cx="1879600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73CACD-9EDB-929E-B5C6-B27AF39ABF2B}"/>
              </a:ext>
            </a:extLst>
          </p:cNvPr>
          <p:cNvSpPr txBox="1"/>
          <p:nvPr/>
        </p:nvSpPr>
        <p:spPr>
          <a:xfrm>
            <a:off x="1030240" y="3198167"/>
            <a:ext cx="3303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</a:rPr>
              <a:t>AWS Internet Gateway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1FE2A0-44AA-10A3-349C-15CE838E9147}"/>
              </a:ext>
            </a:extLst>
          </p:cNvPr>
          <p:cNvSpPr txBox="1"/>
          <p:nvPr/>
        </p:nvSpPr>
        <p:spPr>
          <a:xfrm>
            <a:off x="6925816" y="3198166"/>
            <a:ext cx="4388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38435"/>
                </a:solidFill>
              </a:rPr>
              <a:t>AWS NAT Gateway</a:t>
            </a:r>
            <a:br>
              <a:rPr lang="en-US" sz="2400" b="1" dirty="0">
                <a:solidFill>
                  <a:srgbClr val="F38435"/>
                </a:solidFill>
              </a:rPr>
            </a:br>
            <a:r>
              <a:rPr lang="en-US" sz="2400" b="1" dirty="0">
                <a:solidFill>
                  <a:srgbClr val="F38435"/>
                </a:solidFill>
              </a:rPr>
              <a:t>(Network Address Translation)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66489F-4AD6-4F9F-4111-75ADC3196F13}"/>
              </a:ext>
            </a:extLst>
          </p:cNvPr>
          <p:cNvSpPr txBox="1"/>
          <p:nvPr/>
        </p:nvSpPr>
        <p:spPr>
          <a:xfrm>
            <a:off x="88504" y="588775"/>
            <a:ext cx="8091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AWS VPCs are Designed around the Constructs of PUBLIC and PRIVATE Subnets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656C4B-15A3-C37C-E4D5-E03C962FFBF8}"/>
              </a:ext>
            </a:extLst>
          </p:cNvPr>
          <p:cNvSpPr txBox="1"/>
          <p:nvPr/>
        </p:nvSpPr>
        <p:spPr>
          <a:xfrm>
            <a:off x="333633" y="4201297"/>
            <a:ext cx="522690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</a:rPr>
              <a:t>VPCs are Private by default.  That means all subnets are private by default - No Internet Access. To gain Internet access an AWS Internet Gateway MUST be attached to the VPC.  AWS Internet Gateways have no cost.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15FD1-BF17-7B92-33B4-CDF4D8311777}"/>
              </a:ext>
            </a:extLst>
          </p:cNvPr>
          <p:cNvSpPr txBox="1"/>
          <p:nvPr/>
        </p:nvSpPr>
        <p:spPr>
          <a:xfrm>
            <a:off x="6096000" y="4146358"/>
            <a:ext cx="576236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38435"/>
                </a:solidFill>
              </a:rPr>
              <a:t>Once an Internet Gateway is attached to a VPC, private subnets still have no Internet access.  To gain internet access you must deploy add routing to an AWS NAT Gateway service.  NAT Gateways have costs about $0.05 per hour (~$1.20/day, ~$36.50/month)</a:t>
            </a:r>
          </a:p>
        </p:txBody>
      </p:sp>
    </p:spTree>
    <p:extLst>
      <p:ext uri="{BB962C8B-B14F-4D97-AF65-F5344CB8AC3E}">
        <p14:creationId xmlns:p14="http://schemas.microsoft.com/office/powerpoint/2010/main" val="1541519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B78F2-0110-3EF2-0C76-42561C934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AB743-EDC2-BE13-2A2D-3EC8B02A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978" y="-335618"/>
            <a:ext cx="10515600" cy="1325563"/>
          </a:xfrm>
        </p:spPr>
        <p:txBody>
          <a:bodyPr/>
          <a:lstStyle/>
          <a:p>
            <a:r>
              <a:rPr lang="en-US" dirty="0"/>
              <a:t>Public and Private Subnets</a:t>
            </a:r>
          </a:p>
        </p:txBody>
      </p:sp>
      <p:pic>
        <p:nvPicPr>
          <p:cNvPr id="16386" name="Picture 2" descr="Example: VPC for a test environment - Amazon Virtual Private Cloud">
            <a:extLst>
              <a:ext uri="{FF2B5EF4-FFF2-40B4-BE49-F238E27FC236}">
                <a16:creationId xmlns:a16="http://schemas.microsoft.com/office/drawing/2014/main" id="{01E22613-3341-76C4-47D2-94DBA5EA6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765" y="1427356"/>
            <a:ext cx="4830613" cy="2745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1EBF61-EDD1-1839-CE18-C499593C4F2D}"/>
              </a:ext>
            </a:extLst>
          </p:cNvPr>
          <p:cNvSpPr txBox="1"/>
          <p:nvPr/>
        </p:nvSpPr>
        <p:spPr>
          <a:xfrm>
            <a:off x="591015" y="4425625"/>
            <a:ext cx="3039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Must have Route Table Entry: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AED7C7-0D5A-C73B-088A-9ED1685E768F}"/>
              </a:ext>
            </a:extLst>
          </p:cNvPr>
          <p:cNvSpPr txBox="1"/>
          <p:nvPr/>
        </p:nvSpPr>
        <p:spPr>
          <a:xfrm>
            <a:off x="1156009" y="4784313"/>
            <a:ext cx="44903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Destination Target       Status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0.0.0.0/0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ig-xxxxxxx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Active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7440D8-F88C-5B10-9F5F-1B40E014FB14}"/>
              </a:ext>
            </a:extLst>
          </p:cNvPr>
          <p:cNvSpPr txBox="1"/>
          <p:nvPr/>
        </p:nvSpPr>
        <p:spPr>
          <a:xfrm>
            <a:off x="591015" y="5604666"/>
            <a:ext cx="39756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Internal Resources must have a public</a:t>
            </a:r>
            <a:br>
              <a:rPr lang="en-US" dirty="0"/>
            </a:br>
            <a:r>
              <a:rPr lang="en-US" dirty="0"/>
              <a:t>IP or an elastic IP assigned</a:t>
            </a:r>
          </a:p>
        </p:txBody>
      </p:sp>
      <p:pic>
        <p:nvPicPr>
          <p:cNvPr id="16388" name="Picture 4" descr="What is AWS Virtual Private Cloud (VPC) and why is it important? - N2W  Software">
            <a:extLst>
              <a:ext uri="{FF2B5EF4-FFF2-40B4-BE49-F238E27FC236}">
                <a16:creationId xmlns:a16="http://schemas.microsoft.com/office/drawing/2014/main" id="{BBDE0306-CE2F-B8E6-35B3-44923CC9F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2227" y="1326648"/>
            <a:ext cx="3917820" cy="3120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2C3617-E7C3-52A7-FDDF-D88C1C9924CC}"/>
              </a:ext>
            </a:extLst>
          </p:cNvPr>
          <p:cNvSpPr txBox="1"/>
          <p:nvPr/>
        </p:nvSpPr>
        <p:spPr>
          <a:xfrm>
            <a:off x="6789721" y="4507247"/>
            <a:ext cx="51978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resources must have private IP addresses (RFC 1918) 10.0.0.0/8, 172.16.0.0/12 192.168.0.0/16</a:t>
            </a:r>
            <a:br>
              <a:rPr lang="en-US" dirty="0"/>
            </a:br>
            <a:br>
              <a:rPr lang="en-US" sz="900" dirty="0"/>
            </a:br>
            <a:r>
              <a:rPr lang="en-US" dirty="0"/>
              <a:t>No routes to internet gateway</a:t>
            </a:r>
          </a:p>
          <a:p>
            <a:endParaRPr lang="en-US" sz="900" dirty="0"/>
          </a:p>
          <a:p>
            <a:r>
              <a:rPr lang="en-US" dirty="0"/>
              <a:t>Internet access only via NAT gateway in public subnet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04292-7CE9-9A6D-D59D-BC5F8C393444}"/>
              </a:ext>
            </a:extLst>
          </p:cNvPr>
          <p:cNvSpPr txBox="1"/>
          <p:nvPr/>
        </p:nvSpPr>
        <p:spPr>
          <a:xfrm>
            <a:off x="7253275" y="6211669"/>
            <a:ext cx="4616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Destination Target       Status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0.0.0.0/0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nat-xxxxxxx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Active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653373-7859-D6F4-B16E-9226E19F975D}"/>
              </a:ext>
            </a:extLst>
          </p:cNvPr>
          <p:cNvSpPr txBox="1"/>
          <p:nvPr/>
        </p:nvSpPr>
        <p:spPr>
          <a:xfrm>
            <a:off x="886929" y="759112"/>
            <a:ext cx="2448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</a:rPr>
              <a:t>PUBLIC SUBNET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10D6C9-C1CB-1F72-E868-36281786CB62}"/>
              </a:ext>
            </a:extLst>
          </p:cNvPr>
          <p:cNvSpPr txBox="1"/>
          <p:nvPr/>
        </p:nvSpPr>
        <p:spPr>
          <a:xfrm>
            <a:off x="8147472" y="818749"/>
            <a:ext cx="2546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</a:rPr>
              <a:t>PRIVATE SUBNET</a:t>
            </a:r>
          </a:p>
        </p:txBody>
      </p:sp>
    </p:spTree>
    <p:extLst>
      <p:ext uri="{BB962C8B-B14F-4D97-AF65-F5344CB8AC3E}">
        <p14:creationId xmlns:p14="http://schemas.microsoft.com/office/powerpoint/2010/main" val="239538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70ECF-17EE-54EC-DB56-71E16869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AACA3-69E7-F9CE-EF59-C8C21D74F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" y="18255"/>
            <a:ext cx="10515600" cy="1325563"/>
          </a:xfrm>
        </p:spPr>
        <p:txBody>
          <a:bodyPr/>
          <a:lstStyle/>
          <a:p>
            <a:r>
              <a:rPr lang="en-US" dirty="0"/>
              <a:t>Route Tables</a:t>
            </a:r>
          </a:p>
        </p:txBody>
      </p:sp>
      <p:pic>
        <p:nvPicPr>
          <p:cNvPr id="3" name="Picture 4" descr="Route Table | AWS Networking &amp; Content ...">
            <a:extLst>
              <a:ext uri="{FF2B5EF4-FFF2-40B4-BE49-F238E27FC236}">
                <a16:creationId xmlns:a16="http://schemas.microsoft.com/office/drawing/2014/main" id="{FF6340B8-DC0B-EE24-E5A0-004419456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2287" y="166065"/>
            <a:ext cx="1029942" cy="1029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VPC peering | Databricks on AWS">
            <a:extLst>
              <a:ext uri="{FF2B5EF4-FFF2-40B4-BE49-F238E27FC236}">
                <a16:creationId xmlns:a16="http://schemas.microsoft.com/office/drawing/2014/main" id="{2BF01D96-C49E-EDC7-537C-7A518EE21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86" y="2225949"/>
            <a:ext cx="6192791" cy="3587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2FC3AB-6518-84D5-6990-10FBE00FDEA9}"/>
              </a:ext>
            </a:extLst>
          </p:cNvPr>
          <p:cNvSpPr txBox="1"/>
          <p:nvPr/>
        </p:nvSpPr>
        <p:spPr>
          <a:xfrm>
            <a:off x="163287" y="1196007"/>
            <a:ext cx="118218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"A </a:t>
            </a:r>
            <a:r>
              <a:rPr lang="en-US" sz="2400" b="1" dirty="0"/>
              <a:t>route table</a:t>
            </a:r>
            <a:r>
              <a:rPr lang="en-US" sz="2400" dirty="0"/>
              <a:t> is a set of rules used by network devices to determine the best path for directing data packets from their source to a specific destination network."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179419-7A46-0B2A-DDD5-230A6C908186}"/>
              </a:ext>
            </a:extLst>
          </p:cNvPr>
          <p:cNvSpPr txBox="1"/>
          <p:nvPr/>
        </p:nvSpPr>
        <p:spPr>
          <a:xfrm>
            <a:off x="6892157" y="2225949"/>
            <a:ext cx="468298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VPCs are configured with a default route table associated with all subnets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Additional Route tables can be created and associated with a VPC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VPC can have MANY route tables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Subnets must be associated with exactly one route table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Route targets may be a network CIDR range or be an AWS resource such as an internet gateway</a:t>
            </a:r>
          </a:p>
        </p:txBody>
      </p:sp>
    </p:spTree>
    <p:extLst>
      <p:ext uri="{BB962C8B-B14F-4D97-AF65-F5344CB8AC3E}">
        <p14:creationId xmlns:p14="http://schemas.microsoft.com/office/powerpoint/2010/main" val="3591875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3BBE-AC3A-D5B6-3C16-9A424B34B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6883B8C-A83B-3B5C-2DFF-093D249D7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628" y="1106038"/>
            <a:ext cx="7119280" cy="558589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432A700D-3088-8E95-3F6E-8ABD0E61B331}"/>
              </a:ext>
            </a:extLst>
          </p:cNvPr>
          <p:cNvSpPr txBox="1">
            <a:spLocks/>
          </p:cNvSpPr>
          <p:nvPr/>
        </p:nvSpPr>
        <p:spPr>
          <a:xfrm>
            <a:off x="79248" y="182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Route Tables</a:t>
            </a:r>
          </a:p>
        </p:txBody>
      </p:sp>
      <p:pic>
        <p:nvPicPr>
          <p:cNvPr id="28" name="Picture 4" descr="Route Table | AWS Networking &amp; Content ...">
            <a:extLst>
              <a:ext uri="{FF2B5EF4-FFF2-40B4-BE49-F238E27FC236}">
                <a16:creationId xmlns:a16="http://schemas.microsoft.com/office/drawing/2014/main" id="{347A357A-2DB1-2998-3042-F6F4A2C22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2287" y="166065"/>
            <a:ext cx="1029942" cy="1029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BA0434D-172A-0495-8B4A-F9A04A9D4E15}"/>
              </a:ext>
            </a:extLst>
          </p:cNvPr>
          <p:cNvCxnSpPr>
            <a:cxnSpLocks/>
          </p:cNvCxnSpPr>
          <p:nvPr/>
        </p:nvCxnSpPr>
        <p:spPr>
          <a:xfrm>
            <a:off x="7025269" y="2286001"/>
            <a:ext cx="0" cy="334536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989E5B3-5AE3-C409-2565-DA3EBECF82DD}"/>
              </a:ext>
            </a:extLst>
          </p:cNvPr>
          <p:cNvCxnSpPr>
            <a:cxnSpLocks/>
          </p:cNvCxnSpPr>
          <p:nvPr/>
        </p:nvCxnSpPr>
        <p:spPr>
          <a:xfrm>
            <a:off x="7025269" y="2620536"/>
            <a:ext cx="3569579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1E893BE-3068-7E0F-2676-DF6547C9F717}"/>
              </a:ext>
            </a:extLst>
          </p:cNvPr>
          <p:cNvCxnSpPr>
            <a:cxnSpLocks/>
          </p:cNvCxnSpPr>
          <p:nvPr/>
        </p:nvCxnSpPr>
        <p:spPr>
          <a:xfrm>
            <a:off x="8393150" y="2453269"/>
            <a:ext cx="0" cy="241609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2DC51AE-708A-8B2E-C9C7-8CCEED13BC16}"/>
              </a:ext>
            </a:extLst>
          </p:cNvPr>
          <p:cNvCxnSpPr>
            <a:cxnSpLocks/>
          </p:cNvCxnSpPr>
          <p:nvPr/>
        </p:nvCxnSpPr>
        <p:spPr>
          <a:xfrm>
            <a:off x="9541723" y="2282287"/>
            <a:ext cx="0" cy="334536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69D4A91-D5EE-1FF1-6F73-7E22E0C42596}"/>
              </a:ext>
            </a:extLst>
          </p:cNvPr>
          <p:cNvCxnSpPr>
            <a:cxnSpLocks/>
          </p:cNvCxnSpPr>
          <p:nvPr/>
        </p:nvCxnSpPr>
        <p:spPr>
          <a:xfrm>
            <a:off x="10575064" y="2278573"/>
            <a:ext cx="0" cy="334536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A94439B-E578-1227-2CDA-9B8E147A839B}"/>
              </a:ext>
            </a:extLst>
          </p:cNvPr>
          <p:cNvCxnSpPr>
            <a:cxnSpLocks/>
          </p:cNvCxnSpPr>
          <p:nvPr/>
        </p:nvCxnSpPr>
        <p:spPr>
          <a:xfrm>
            <a:off x="8393150" y="3094464"/>
            <a:ext cx="0" cy="1462667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2A5C103-EF91-B556-9907-60BB9B20D03E}"/>
              </a:ext>
            </a:extLst>
          </p:cNvPr>
          <p:cNvCxnSpPr>
            <a:cxnSpLocks/>
          </p:cNvCxnSpPr>
          <p:nvPr/>
        </p:nvCxnSpPr>
        <p:spPr>
          <a:xfrm>
            <a:off x="7619999" y="4557131"/>
            <a:ext cx="142364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643CA3C-4D45-EF0D-F258-0653CE0A78BF}"/>
              </a:ext>
            </a:extLst>
          </p:cNvPr>
          <p:cNvCxnSpPr>
            <a:cxnSpLocks/>
          </p:cNvCxnSpPr>
          <p:nvPr/>
        </p:nvCxnSpPr>
        <p:spPr>
          <a:xfrm>
            <a:off x="7619999" y="3248722"/>
            <a:ext cx="773151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D16EB19-1B56-36C9-0F0B-2BBEC5F37CBB}"/>
              </a:ext>
            </a:extLst>
          </p:cNvPr>
          <p:cNvCxnSpPr>
            <a:cxnSpLocks/>
          </p:cNvCxnSpPr>
          <p:nvPr/>
        </p:nvCxnSpPr>
        <p:spPr>
          <a:xfrm>
            <a:off x="8653346" y="3429000"/>
            <a:ext cx="451624" cy="0"/>
          </a:xfrm>
          <a:prstGeom prst="line">
            <a:avLst/>
          </a:prstGeom>
          <a:ln w="508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0D76C5A-2763-331E-EEA2-8E888A946F73}"/>
              </a:ext>
            </a:extLst>
          </p:cNvPr>
          <p:cNvCxnSpPr>
            <a:cxnSpLocks/>
          </p:cNvCxnSpPr>
          <p:nvPr/>
        </p:nvCxnSpPr>
        <p:spPr>
          <a:xfrm>
            <a:off x="8671932" y="3409484"/>
            <a:ext cx="0" cy="1541657"/>
          </a:xfrm>
          <a:prstGeom prst="line">
            <a:avLst/>
          </a:prstGeom>
          <a:ln w="508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4E19297-2F3B-FA1B-E9A6-070E94A9FEC6}"/>
              </a:ext>
            </a:extLst>
          </p:cNvPr>
          <p:cNvCxnSpPr>
            <a:cxnSpLocks/>
          </p:cNvCxnSpPr>
          <p:nvPr/>
        </p:nvCxnSpPr>
        <p:spPr>
          <a:xfrm>
            <a:off x="8674719" y="4930698"/>
            <a:ext cx="451624" cy="0"/>
          </a:xfrm>
          <a:prstGeom prst="line">
            <a:avLst/>
          </a:prstGeom>
          <a:ln w="508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3C2810C-339B-BC0C-5DE6-1577FB94604A}"/>
              </a:ext>
            </a:extLst>
          </p:cNvPr>
          <p:cNvSpPr txBox="1"/>
          <p:nvPr/>
        </p:nvSpPr>
        <p:spPr>
          <a:xfrm>
            <a:off x="494255" y="3063145"/>
            <a:ext cx="35340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All VPCs have a single </a:t>
            </a:r>
            <a:br>
              <a:rPr lang="en-US" sz="2400" b="1" dirty="0"/>
            </a:br>
            <a:r>
              <a:rPr lang="en-US" sz="2400" b="1" dirty="0"/>
              <a:t>global route table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EF9D08-1FCA-5B71-3EEE-905573BB9D17}"/>
              </a:ext>
            </a:extLst>
          </p:cNvPr>
          <p:cNvSpPr txBox="1"/>
          <p:nvPr/>
        </p:nvSpPr>
        <p:spPr>
          <a:xfrm>
            <a:off x="515628" y="4156502"/>
            <a:ext cx="35340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Individual subnets may define their own route table to override or add rules found in the global route table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20D16D-A95C-3916-C46F-95D3B4FFECB3}"/>
              </a:ext>
            </a:extLst>
          </p:cNvPr>
          <p:cNvCxnSpPr>
            <a:stCxn id="3" idx="3"/>
          </p:cNvCxnSpPr>
          <p:nvPr/>
        </p:nvCxnSpPr>
        <p:spPr>
          <a:xfrm flipV="1">
            <a:off x="4049661" y="3571103"/>
            <a:ext cx="5055309" cy="155489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D1E409E-7BF2-45FC-CCFD-7B22344D1B3E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4028288" y="2910525"/>
            <a:ext cx="4114053" cy="56811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BB7BF09-1A1D-1C3F-E9E7-FD932C4DEF5A}"/>
              </a:ext>
            </a:extLst>
          </p:cNvPr>
          <p:cNvSpPr txBox="1"/>
          <p:nvPr/>
        </p:nvSpPr>
        <p:spPr>
          <a:xfrm>
            <a:off x="515627" y="1401670"/>
            <a:ext cx="35340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Routing traffic outside the VPC is managed by route tables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234F9DA-0FCF-E743-A872-17FFC12F4D8E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049660" y="1507524"/>
            <a:ext cx="2975609" cy="494311"/>
          </a:xfrm>
          <a:prstGeom prst="straightConnector1">
            <a:avLst/>
          </a:prstGeom>
          <a:ln w="3175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1342E32-5A0B-27F2-E3E8-35A7F017A03E}"/>
              </a:ext>
            </a:extLst>
          </p:cNvPr>
          <p:cNvCxnSpPr>
            <a:cxnSpLocks/>
          </p:cNvCxnSpPr>
          <p:nvPr/>
        </p:nvCxnSpPr>
        <p:spPr>
          <a:xfrm>
            <a:off x="7025269" y="1507524"/>
            <a:ext cx="3549795" cy="0"/>
          </a:xfrm>
          <a:prstGeom prst="straightConnector1">
            <a:avLst/>
          </a:prstGeom>
          <a:ln w="3175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882217-EA70-BE5F-6717-CB558435438C}"/>
              </a:ext>
            </a:extLst>
          </p:cNvPr>
          <p:cNvCxnSpPr>
            <a:cxnSpLocks/>
          </p:cNvCxnSpPr>
          <p:nvPr/>
        </p:nvCxnSpPr>
        <p:spPr>
          <a:xfrm>
            <a:off x="7025269" y="1507524"/>
            <a:ext cx="0" cy="26272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D638B10-1657-38D2-AC76-94BE4045450F}"/>
              </a:ext>
            </a:extLst>
          </p:cNvPr>
          <p:cNvCxnSpPr>
            <a:cxnSpLocks/>
          </p:cNvCxnSpPr>
          <p:nvPr/>
        </p:nvCxnSpPr>
        <p:spPr>
          <a:xfrm>
            <a:off x="8354085" y="1513195"/>
            <a:ext cx="0" cy="26272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C75324-18EA-CECA-CA97-3C61573F8707}"/>
              </a:ext>
            </a:extLst>
          </p:cNvPr>
          <p:cNvCxnSpPr>
            <a:cxnSpLocks/>
          </p:cNvCxnSpPr>
          <p:nvPr/>
        </p:nvCxnSpPr>
        <p:spPr>
          <a:xfrm>
            <a:off x="9485191" y="1518866"/>
            <a:ext cx="0" cy="26272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83CB9C8-A13B-0B23-0302-D5D65FBEC5EC}"/>
              </a:ext>
            </a:extLst>
          </p:cNvPr>
          <p:cNvCxnSpPr>
            <a:cxnSpLocks/>
          </p:cNvCxnSpPr>
          <p:nvPr/>
        </p:nvCxnSpPr>
        <p:spPr>
          <a:xfrm>
            <a:off x="10579226" y="1499823"/>
            <a:ext cx="0" cy="26272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1949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553A0-7251-E772-F746-2F2B7ADAB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90F74E0-D1EB-1993-BB6E-C725EFAEFFDE}"/>
              </a:ext>
            </a:extLst>
          </p:cNvPr>
          <p:cNvSpPr txBox="1"/>
          <p:nvPr/>
        </p:nvSpPr>
        <p:spPr>
          <a:xfrm>
            <a:off x="334838" y="1799295"/>
            <a:ext cx="516301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STATEFUL: If traffic is allowed out, return traffic is allowed in and vice versa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ALLOW ONLY: Rules can be allow only, if no rules match, traffic is denied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Rules match based on Protocol, Port, Port Range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Source can be IP Range (CIDR) or AWS Resource (e.g., Internet Gateway)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6706E72-B5E5-FBFD-33F2-2160EA0670DD}"/>
              </a:ext>
            </a:extLst>
          </p:cNvPr>
          <p:cNvSpPr txBox="1">
            <a:spLocks/>
          </p:cNvSpPr>
          <p:nvPr/>
        </p:nvSpPr>
        <p:spPr>
          <a:xfrm>
            <a:off x="79248" y="182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Security Groups</a:t>
            </a:r>
          </a:p>
        </p:txBody>
      </p:sp>
      <p:pic>
        <p:nvPicPr>
          <p:cNvPr id="2" name="Picture 8" descr="AWS Cloud Resource | Security Group">
            <a:extLst>
              <a:ext uri="{FF2B5EF4-FFF2-40B4-BE49-F238E27FC236}">
                <a16:creationId xmlns:a16="http://schemas.microsoft.com/office/drawing/2014/main" id="{2AB22B48-4F0C-6E2D-924E-CC40874D8C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75" b="10127"/>
          <a:stretch>
            <a:fillRect/>
          </a:stretch>
        </p:blipFill>
        <p:spPr bwMode="auto">
          <a:xfrm>
            <a:off x="9669057" y="307487"/>
            <a:ext cx="925791" cy="747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New – Descriptions for Security Group Rules | AWS News Blog">
            <a:extLst>
              <a:ext uri="{FF2B5EF4-FFF2-40B4-BE49-F238E27FC236}">
                <a16:creationId xmlns:a16="http://schemas.microsoft.com/office/drawing/2014/main" id="{CA108F31-374E-F0E6-DB22-E7E94A39D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0754" y="1757566"/>
            <a:ext cx="5955197" cy="3519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4785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83D88-40B9-EE4E-FDFE-73CA3BEEC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59786-6045-2B09-7BFD-92FF25FCA219}"/>
              </a:ext>
            </a:extLst>
          </p:cNvPr>
          <p:cNvSpPr txBox="1">
            <a:spLocks/>
          </p:cNvSpPr>
          <p:nvPr/>
        </p:nvSpPr>
        <p:spPr>
          <a:xfrm>
            <a:off x="79248" y="182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Security Groups</a:t>
            </a:r>
          </a:p>
        </p:txBody>
      </p:sp>
      <p:pic>
        <p:nvPicPr>
          <p:cNvPr id="4" name="Picture 8" descr="AWS Cloud Resource | Security Group">
            <a:extLst>
              <a:ext uri="{FF2B5EF4-FFF2-40B4-BE49-F238E27FC236}">
                <a16:creationId xmlns:a16="http://schemas.microsoft.com/office/drawing/2014/main" id="{76BB68A3-BD9D-0D70-289D-A0CBE24A07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75" b="10127"/>
          <a:stretch>
            <a:fillRect/>
          </a:stretch>
        </p:blipFill>
        <p:spPr bwMode="auto">
          <a:xfrm>
            <a:off x="9669057" y="307487"/>
            <a:ext cx="925791" cy="747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0" name="Picture 2" descr="A VPC with two security groups and servers in two subnets. The servers in subnet A are associated with security group 1. The servers in subnet B are associated with security group 2.">
            <a:extLst>
              <a:ext uri="{FF2B5EF4-FFF2-40B4-BE49-F238E27FC236}">
                <a16:creationId xmlns:a16="http://schemas.microsoft.com/office/drawing/2014/main" id="{7E0BA2C3-8CD0-7B95-2B85-810579147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9068" y="1633050"/>
            <a:ext cx="7513429" cy="4387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A8767A-027E-3F75-EF3B-BB61ABE645BC}"/>
              </a:ext>
            </a:extLst>
          </p:cNvPr>
          <p:cNvSpPr txBox="1"/>
          <p:nvPr/>
        </p:nvSpPr>
        <p:spPr>
          <a:xfrm>
            <a:off x="179503" y="1933812"/>
            <a:ext cx="38488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Security Groups are the </a:t>
            </a:r>
            <a:r>
              <a:rPr lang="en-US" sz="2400" b="1" dirty="0">
                <a:solidFill>
                  <a:srgbClr val="7030A0"/>
                </a:solidFill>
              </a:rPr>
              <a:t>most granular</a:t>
            </a:r>
            <a:r>
              <a:rPr lang="en-US" sz="2400" b="1" dirty="0"/>
              <a:t>, they are applied to </a:t>
            </a:r>
            <a:r>
              <a:rPr lang="en-US" sz="2400" b="1" dirty="0">
                <a:solidFill>
                  <a:srgbClr val="7030A0"/>
                </a:solidFill>
              </a:rPr>
              <a:t>individual resources</a:t>
            </a:r>
            <a:r>
              <a:rPr lang="en-US" sz="2400" b="1" dirty="0"/>
              <a:t> in a subnet.</a:t>
            </a:r>
            <a:br>
              <a:rPr lang="en-US" sz="2400" b="1" dirty="0"/>
            </a:br>
            <a:br>
              <a:rPr lang="en-US" sz="2400" b="1" dirty="0"/>
            </a:br>
            <a:r>
              <a:rPr lang="en-US" sz="2400" b="1" dirty="0"/>
              <a:t>Recall NACLs are for </a:t>
            </a:r>
            <a:r>
              <a:rPr lang="en-US" sz="2400" b="1" dirty="0">
                <a:solidFill>
                  <a:srgbClr val="7030A0"/>
                </a:solidFill>
              </a:rPr>
              <a:t>entire subnet</a:t>
            </a:r>
            <a:r>
              <a:rPr lang="en-US" sz="2400" b="1" dirty="0"/>
              <a:t>, and Route Tables are for the </a:t>
            </a:r>
            <a:r>
              <a:rPr lang="en-US" sz="2400" b="1" dirty="0">
                <a:solidFill>
                  <a:srgbClr val="7030A0"/>
                </a:solidFill>
              </a:rPr>
              <a:t>entire VPC</a:t>
            </a:r>
            <a:r>
              <a:rPr lang="en-US" sz="2400" b="1" dirty="0"/>
              <a:t> unless a custom route table is defined for a specific subnet</a:t>
            </a:r>
          </a:p>
        </p:txBody>
      </p:sp>
    </p:spTree>
    <p:extLst>
      <p:ext uri="{BB962C8B-B14F-4D97-AF65-F5344CB8AC3E}">
        <p14:creationId xmlns:p14="http://schemas.microsoft.com/office/powerpoint/2010/main" val="333403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4AB9F-5AF7-D68E-474F-A6A2749A7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1C84116D-2D82-0482-5393-A820B01E3325}"/>
              </a:ext>
            </a:extLst>
          </p:cNvPr>
          <p:cNvSpPr txBox="1">
            <a:spLocks/>
          </p:cNvSpPr>
          <p:nvPr/>
        </p:nvSpPr>
        <p:spPr>
          <a:xfrm>
            <a:off x="79248" y="182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Internet Gateway</a:t>
            </a:r>
          </a:p>
        </p:txBody>
      </p:sp>
      <p:pic>
        <p:nvPicPr>
          <p:cNvPr id="14340" name="Picture 4" descr="Image showing that the internet gateway sits between the VPC we create and the AWS region, showing a traffic flow from the public subnet in AZ A through to the internet.">
            <a:extLst>
              <a:ext uri="{FF2B5EF4-FFF2-40B4-BE49-F238E27FC236}">
                <a16:creationId xmlns:a16="http://schemas.microsoft.com/office/drawing/2014/main" id="{F164248C-1412-5204-BC65-28809C182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3631" y="202433"/>
            <a:ext cx="6137422" cy="6453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FA0A35-ABE6-A6B4-6EFC-528378F32FF8}"/>
              </a:ext>
            </a:extLst>
          </p:cNvPr>
          <p:cNvSpPr txBox="1"/>
          <p:nvPr/>
        </p:nvSpPr>
        <p:spPr>
          <a:xfrm>
            <a:off x="426067" y="1698171"/>
            <a:ext cx="510074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Connects to edge of VPC that enables internet access</a:t>
            </a:r>
          </a:p>
          <a:p>
            <a:endParaRPr lang="en-US" sz="2400" dirty="0"/>
          </a:p>
          <a:p>
            <a:r>
              <a:rPr lang="en-US" sz="2400" dirty="0"/>
              <a:t>All resources in public subnets with public IPs can send and receive data over internet</a:t>
            </a:r>
          </a:p>
          <a:p>
            <a:endParaRPr lang="en-US" sz="2400" dirty="0"/>
          </a:p>
          <a:p>
            <a:r>
              <a:rPr lang="en-US" sz="2400" dirty="0"/>
              <a:t>Can be restricted with things like security groups</a:t>
            </a:r>
          </a:p>
        </p:txBody>
      </p:sp>
    </p:spTree>
    <p:extLst>
      <p:ext uri="{BB962C8B-B14F-4D97-AF65-F5344CB8AC3E}">
        <p14:creationId xmlns:p14="http://schemas.microsoft.com/office/powerpoint/2010/main" val="708850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E3B99-5897-D0C4-DF84-F4AC9F04A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99FDB15B-AD48-C617-4B58-A1D9EFDFBC13}"/>
              </a:ext>
            </a:extLst>
          </p:cNvPr>
          <p:cNvSpPr txBox="1">
            <a:spLocks/>
          </p:cNvSpPr>
          <p:nvPr/>
        </p:nvSpPr>
        <p:spPr>
          <a:xfrm>
            <a:off x="79248" y="182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NAT Gateway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6DF7D7-0157-C57E-4156-27A8A82EADE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86497" y="-301083"/>
            <a:ext cx="4775200" cy="6858000"/>
          </a:xfrm>
          <a:prstGeom prst="rect">
            <a:avLst/>
          </a:prstGeom>
        </p:spPr>
      </p:pic>
      <p:pic>
        <p:nvPicPr>
          <p:cNvPr id="17410" name="Picture 2" descr="NAT Gateway SVG and PNG Icons | AWS Icons">
            <a:extLst>
              <a:ext uri="{FF2B5EF4-FFF2-40B4-BE49-F238E27FC236}">
                <a16:creationId xmlns:a16="http://schemas.microsoft.com/office/drawing/2014/main" id="{A3B145A4-9DE2-38A7-9515-37DA89C90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3046" y="189364"/>
            <a:ext cx="1029852" cy="983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A8F592-E7B3-1D1E-3E87-F61CA9A8969E}"/>
              </a:ext>
            </a:extLst>
          </p:cNvPr>
          <p:cNvSpPr txBox="1"/>
          <p:nvPr/>
        </p:nvSpPr>
        <p:spPr>
          <a:xfrm>
            <a:off x="426067" y="1872875"/>
            <a:ext cx="611361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RFC 1918 Private addresses are used in a private subnet</a:t>
            </a:r>
          </a:p>
          <a:p>
            <a:endParaRPr lang="en-US" sz="2400" dirty="0"/>
          </a:p>
          <a:p>
            <a:r>
              <a:rPr lang="en-US" sz="2400" dirty="0"/>
              <a:t>Internet traffic targeted at NAT gateway, via NACL</a:t>
            </a:r>
          </a:p>
          <a:p>
            <a:endParaRPr lang="en-US" sz="2400" dirty="0"/>
          </a:p>
          <a:p>
            <a:r>
              <a:rPr lang="en-US" sz="2400" dirty="0"/>
              <a:t>NAT gateway in public subnet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Proxies traffic to and from internet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Internal servers not reachable from Internet</a:t>
            </a:r>
          </a:p>
        </p:txBody>
      </p:sp>
    </p:spTree>
    <p:extLst>
      <p:ext uri="{BB962C8B-B14F-4D97-AF65-F5344CB8AC3E}">
        <p14:creationId xmlns:p14="http://schemas.microsoft.com/office/powerpoint/2010/main" val="1157616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12F0F-45C5-80CB-A15D-E1A3E62EA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3541FF68-E2FD-FA40-3FF7-C56DB67B03E5}"/>
              </a:ext>
            </a:extLst>
          </p:cNvPr>
          <p:cNvSpPr txBox="1">
            <a:spLocks/>
          </p:cNvSpPr>
          <p:nvPr/>
        </p:nvSpPr>
        <p:spPr>
          <a:xfrm>
            <a:off x="132852" y="29408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What we are going to build in Lab3 – Part 1</a:t>
            </a:r>
          </a:p>
        </p:txBody>
      </p:sp>
      <p:pic>
        <p:nvPicPr>
          <p:cNvPr id="17410" name="Picture 2" descr="NAT Gateway SVG and PNG Icons | AWS Icons">
            <a:extLst>
              <a:ext uri="{FF2B5EF4-FFF2-40B4-BE49-F238E27FC236}">
                <a16:creationId xmlns:a16="http://schemas.microsoft.com/office/drawing/2014/main" id="{81A89A87-BF9A-AFB4-45B3-B302E84AD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4898" y="4179637"/>
            <a:ext cx="451778" cy="431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759F322-61D8-4FF7-6A2F-6BA0092318FD}"/>
              </a:ext>
            </a:extLst>
          </p:cNvPr>
          <p:cNvSpPr/>
          <p:nvPr/>
        </p:nvSpPr>
        <p:spPr>
          <a:xfrm>
            <a:off x="1901943" y="1818640"/>
            <a:ext cx="9672320" cy="4429760"/>
          </a:xfrm>
          <a:prstGeom prst="rect">
            <a:avLst/>
          </a:prstGeom>
          <a:noFill/>
          <a:ln>
            <a:solidFill>
              <a:srgbClr val="F384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37455A-1B91-54EC-108F-66F4207E56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3548" y="1388076"/>
            <a:ext cx="1045361" cy="65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7BFBAB-17ED-AE01-12A4-1BFBF59480CB}"/>
              </a:ext>
            </a:extLst>
          </p:cNvPr>
          <p:cNvSpPr txBox="1"/>
          <p:nvPr/>
        </p:nvSpPr>
        <p:spPr>
          <a:xfrm>
            <a:off x="2581032" y="1818640"/>
            <a:ext cx="1495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Your account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8C757E-A3E6-2C64-7E56-9BF37C188F39}"/>
              </a:ext>
            </a:extLst>
          </p:cNvPr>
          <p:cNvSpPr/>
          <p:nvPr/>
        </p:nvSpPr>
        <p:spPr>
          <a:xfrm>
            <a:off x="2389623" y="2397720"/>
            <a:ext cx="8575040" cy="3515400"/>
          </a:xfrm>
          <a:prstGeom prst="rect">
            <a:avLst/>
          </a:prstGeom>
          <a:noFill/>
          <a:ln>
            <a:solidFill>
              <a:srgbClr val="F384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AWS VPC Icon SVG Vector &amp; PNG Free ...">
            <a:extLst>
              <a:ext uri="{FF2B5EF4-FFF2-40B4-BE49-F238E27FC236}">
                <a16:creationId xmlns:a16="http://schemas.microsoft.com/office/drawing/2014/main" id="{5D532FE9-6FA0-B8A6-0531-A831481678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6561" y="2004750"/>
            <a:ext cx="910028" cy="910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AWS Cloud Resource | Internet Gateway">
            <a:extLst>
              <a:ext uri="{FF2B5EF4-FFF2-40B4-BE49-F238E27FC236}">
                <a16:creationId xmlns:a16="http://schemas.microsoft.com/office/drawing/2014/main" id="{870CCCD1-22E2-C0A7-7F21-965A928079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4836" y="1967155"/>
            <a:ext cx="822760" cy="775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647B6A7-A9B1-36E3-A0DB-0EDA03E930CA}"/>
              </a:ext>
            </a:extLst>
          </p:cNvPr>
          <p:cNvSpPr/>
          <p:nvPr/>
        </p:nvSpPr>
        <p:spPr>
          <a:xfrm>
            <a:off x="6738103" y="3348465"/>
            <a:ext cx="3837685" cy="22702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1F3181-63DE-5036-F2C1-A294A0268516}"/>
              </a:ext>
            </a:extLst>
          </p:cNvPr>
          <p:cNvSpPr/>
          <p:nvPr/>
        </p:nvSpPr>
        <p:spPr>
          <a:xfrm>
            <a:off x="2588909" y="3318707"/>
            <a:ext cx="3837685" cy="22702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3693CF-21F9-159C-2123-056B9DE2D307}"/>
              </a:ext>
            </a:extLst>
          </p:cNvPr>
          <p:cNvSpPr txBox="1"/>
          <p:nvPr/>
        </p:nvSpPr>
        <p:spPr>
          <a:xfrm>
            <a:off x="3171848" y="2381588"/>
            <a:ext cx="3497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Custom VPC w/ Internet Gateway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C8F106-44D8-DD3B-7000-0E457A69148C}"/>
              </a:ext>
            </a:extLst>
          </p:cNvPr>
          <p:cNvSpPr txBox="1"/>
          <p:nvPr/>
        </p:nvSpPr>
        <p:spPr>
          <a:xfrm>
            <a:off x="2613286" y="3359338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DB8D32-AD60-9C83-FB1F-BC7FCA1D380C}"/>
              </a:ext>
            </a:extLst>
          </p:cNvPr>
          <p:cNvSpPr txBox="1"/>
          <p:nvPr/>
        </p:nvSpPr>
        <p:spPr>
          <a:xfrm>
            <a:off x="6822134" y="340882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86DA1E-50A2-914B-530B-0CA6641794B6}"/>
              </a:ext>
            </a:extLst>
          </p:cNvPr>
          <p:cNvSpPr/>
          <p:nvPr/>
        </p:nvSpPr>
        <p:spPr>
          <a:xfrm>
            <a:off x="2775704" y="3824644"/>
            <a:ext cx="1463040" cy="1631275"/>
          </a:xfrm>
          <a:prstGeom prst="rect">
            <a:avLst/>
          </a:pr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F7A1A4-9795-FBFF-8BF5-7A1BF6526983}"/>
              </a:ext>
            </a:extLst>
          </p:cNvPr>
          <p:cNvSpPr/>
          <p:nvPr/>
        </p:nvSpPr>
        <p:spPr>
          <a:xfrm>
            <a:off x="4726424" y="3824643"/>
            <a:ext cx="1463040" cy="1631275"/>
          </a:xfrm>
          <a:prstGeom prst="rect">
            <a:avLst/>
          </a:prstGeom>
          <a:noFill/>
          <a:ln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751808-485D-CA1D-668B-577C3BCF4090}"/>
              </a:ext>
            </a:extLst>
          </p:cNvPr>
          <p:cNvSpPr txBox="1"/>
          <p:nvPr/>
        </p:nvSpPr>
        <p:spPr>
          <a:xfrm>
            <a:off x="2704065" y="3835765"/>
            <a:ext cx="1412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Public Subnet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542DDA-00F9-B55A-4F05-F1019A0D6576}"/>
              </a:ext>
            </a:extLst>
          </p:cNvPr>
          <p:cNvSpPr txBox="1"/>
          <p:nvPr/>
        </p:nvSpPr>
        <p:spPr>
          <a:xfrm>
            <a:off x="4698472" y="3812605"/>
            <a:ext cx="14663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Private Subnet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49A90B-0F4E-BCCA-FB32-738850207A5D}"/>
              </a:ext>
            </a:extLst>
          </p:cNvPr>
          <p:cNvSpPr/>
          <p:nvPr/>
        </p:nvSpPr>
        <p:spPr>
          <a:xfrm>
            <a:off x="6952929" y="3824643"/>
            <a:ext cx="1463040" cy="1631275"/>
          </a:xfrm>
          <a:prstGeom prst="rect">
            <a:avLst/>
          </a:pr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FEBAED-AD5E-E5C4-733A-36B375E7FF79}"/>
              </a:ext>
            </a:extLst>
          </p:cNvPr>
          <p:cNvSpPr/>
          <p:nvPr/>
        </p:nvSpPr>
        <p:spPr>
          <a:xfrm>
            <a:off x="8903649" y="3824642"/>
            <a:ext cx="1463040" cy="1631275"/>
          </a:xfrm>
          <a:prstGeom prst="rect">
            <a:avLst/>
          </a:prstGeom>
          <a:noFill/>
          <a:ln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2458C6-5F10-1350-39C5-E1E44C8604C1}"/>
              </a:ext>
            </a:extLst>
          </p:cNvPr>
          <p:cNvSpPr txBox="1"/>
          <p:nvPr/>
        </p:nvSpPr>
        <p:spPr>
          <a:xfrm>
            <a:off x="6881290" y="3835764"/>
            <a:ext cx="1412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Public Subnet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9C456C-7A70-3054-E80F-06C5CB025474}"/>
              </a:ext>
            </a:extLst>
          </p:cNvPr>
          <p:cNvSpPr txBox="1"/>
          <p:nvPr/>
        </p:nvSpPr>
        <p:spPr>
          <a:xfrm>
            <a:off x="8875697" y="3812604"/>
            <a:ext cx="14663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Private Subnet</a:t>
            </a:r>
          </a:p>
        </p:txBody>
      </p:sp>
      <p:pic>
        <p:nvPicPr>
          <p:cNvPr id="1030" name="Picture 6" descr="VPC Elastic Network Interface | AWS Compute">
            <a:extLst>
              <a:ext uri="{FF2B5EF4-FFF2-40B4-BE49-F238E27FC236}">
                <a16:creationId xmlns:a16="http://schemas.microsoft.com/office/drawing/2014/main" id="{D653A5D7-8EED-FCB4-5F57-9EDC9D29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319" y="4159677"/>
            <a:ext cx="488950" cy="48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8EFB75F-6BCD-0768-3033-71392261C846}"/>
              </a:ext>
            </a:extLst>
          </p:cNvPr>
          <p:cNvSpPr txBox="1"/>
          <p:nvPr/>
        </p:nvSpPr>
        <p:spPr>
          <a:xfrm>
            <a:off x="2854502" y="4576642"/>
            <a:ext cx="780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NAT GW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00E916-2102-0B09-DF4E-DFF75C8D97C6}"/>
              </a:ext>
            </a:extLst>
          </p:cNvPr>
          <p:cNvSpPr txBox="1"/>
          <p:nvPr/>
        </p:nvSpPr>
        <p:spPr>
          <a:xfrm>
            <a:off x="3486079" y="4585435"/>
            <a:ext cx="8514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Elastic IP</a:t>
            </a:r>
          </a:p>
        </p:txBody>
      </p:sp>
      <p:pic>
        <p:nvPicPr>
          <p:cNvPr id="1032" name="Picture 8" descr="Aws Ec2 SVG icon">
            <a:extLst>
              <a:ext uri="{FF2B5EF4-FFF2-40B4-BE49-F238E27FC236}">
                <a16:creationId xmlns:a16="http://schemas.microsoft.com/office/drawing/2014/main" id="{CCB7A963-866A-31F3-2EC0-631369338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005" y="4851648"/>
            <a:ext cx="487316" cy="487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8" descr="Aws Ec2 SVG icon">
            <a:extLst>
              <a:ext uri="{FF2B5EF4-FFF2-40B4-BE49-F238E27FC236}">
                <a16:creationId xmlns:a16="http://schemas.microsoft.com/office/drawing/2014/main" id="{2B536A36-EE85-4F38-6898-9ADC4FC6B9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0922" y="4853641"/>
            <a:ext cx="487316" cy="487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A60A80C-6342-6CC9-2E0F-BEC0892A6BE5}"/>
              </a:ext>
            </a:extLst>
          </p:cNvPr>
          <p:cNvSpPr txBox="1"/>
          <p:nvPr/>
        </p:nvSpPr>
        <p:spPr>
          <a:xfrm>
            <a:off x="2854502" y="6317049"/>
            <a:ext cx="2161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Goal SSH into HERE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C799EA5-E162-49C8-D9F2-2B315B98FC4A}"/>
              </a:ext>
            </a:extLst>
          </p:cNvPr>
          <p:cNvCxnSpPr>
            <a:stCxn id="28" idx="3"/>
            <a:endCxn id="26" idx="2"/>
          </p:cNvCxnSpPr>
          <p:nvPr/>
        </p:nvCxnSpPr>
        <p:spPr>
          <a:xfrm flipV="1">
            <a:off x="5016119" y="5340957"/>
            <a:ext cx="108461" cy="1160758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20AF671-F0A4-EA81-A6D9-3C0F9CAEAE13}"/>
              </a:ext>
            </a:extLst>
          </p:cNvPr>
          <p:cNvSpPr txBox="1"/>
          <p:nvPr/>
        </p:nvSpPr>
        <p:spPr>
          <a:xfrm>
            <a:off x="7576136" y="6355245"/>
            <a:ext cx="2088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Why Nothing Here?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CF5C454-4CCF-569F-A54C-D356D0A6AE16}"/>
              </a:ext>
            </a:extLst>
          </p:cNvPr>
          <p:cNvCxnSpPr>
            <a:cxnSpLocks/>
          </p:cNvCxnSpPr>
          <p:nvPr/>
        </p:nvCxnSpPr>
        <p:spPr>
          <a:xfrm flipV="1">
            <a:off x="8672957" y="5211986"/>
            <a:ext cx="555986" cy="1165273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048716B-21ED-A716-E5C5-EA7AF5D977CC}"/>
              </a:ext>
            </a:extLst>
          </p:cNvPr>
          <p:cNvCxnSpPr>
            <a:cxnSpLocks/>
          </p:cNvCxnSpPr>
          <p:nvPr/>
        </p:nvCxnSpPr>
        <p:spPr>
          <a:xfrm flipH="1" flipV="1">
            <a:off x="8082423" y="5211986"/>
            <a:ext cx="466699" cy="1163072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4" descr="Route Table | AWS Networking &amp; Content ...">
            <a:extLst>
              <a:ext uri="{FF2B5EF4-FFF2-40B4-BE49-F238E27FC236}">
                <a16:creationId xmlns:a16="http://schemas.microsoft.com/office/drawing/2014/main" id="{5450486B-3D3B-8952-95B8-EE7BC44E7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5884" y="4115016"/>
            <a:ext cx="434007" cy="434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B7B88727-B62D-34E3-57EE-12BD62682A91}"/>
              </a:ext>
            </a:extLst>
          </p:cNvPr>
          <p:cNvSpPr txBox="1"/>
          <p:nvPr/>
        </p:nvSpPr>
        <p:spPr>
          <a:xfrm>
            <a:off x="5253939" y="4055001"/>
            <a:ext cx="8514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Private Route Table</a:t>
            </a:r>
          </a:p>
        </p:txBody>
      </p:sp>
      <p:pic>
        <p:nvPicPr>
          <p:cNvPr id="38" name="Picture 8" descr="AWS Cloud Resource | Security Group">
            <a:extLst>
              <a:ext uri="{FF2B5EF4-FFF2-40B4-BE49-F238E27FC236}">
                <a16:creationId xmlns:a16="http://schemas.microsoft.com/office/drawing/2014/main" id="{EFA93BC8-1CF8-4CE2-BA5F-E008E296FC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75" b="10127"/>
          <a:stretch>
            <a:fillRect/>
          </a:stretch>
        </p:blipFill>
        <p:spPr bwMode="auto">
          <a:xfrm>
            <a:off x="3484015" y="4898792"/>
            <a:ext cx="551417" cy="444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8" descr="AWS Cloud Resource | Security Group">
            <a:extLst>
              <a:ext uri="{FF2B5EF4-FFF2-40B4-BE49-F238E27FC236}">
                <a16:creationId xmlns:a16="http://schemas.microsoft.com/office/drawing/2014/main" id="{D97E2EAF-706B-7447-42F8-DA2F323BBD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75" b="10127"/>
          <a:stretch>
            <a:fillRect/>
          </a:stretch>
        </p:blipFill>
        <p:spPr bwMode="auto">
          <a:xfrm>
            <a:off x="5466888" y="4909405"/>
            <a:ext cx="551417" cy="444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5A7C09B-09DD-EA21-938C-DDF693770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29" y="2459764"/>
            <a:ext cx="680670" cy="680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Dragon Icon">
            <a:extLst>
              <a:ext uri="{FF2B5EF4-FFF2-40B4-BE49-F238E27FC236}">
                <a16:creationId xmlns:a16="http://schemas.microsoft.com/office/drawing/2014/main" id="{9FD01E2C-A237-A18E-B226-008509AE8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097" y="3444187"/>
            <a:ext cx="905884" cy="641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jumping into the cloud">
            <a:extLst>
              <a:ext uri="{FF2B5EF4-FFF2-40B4-BE49-F238E27FC236}">
                <a16:creationId xmlns:a16="http://schemas.microsoft.com/office/drawing/2014/main" id="{BCE5F128-B9E1-FA75-F136-611DE28E8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83" y="4453827"/>
            <a:ext cx="1490628" cy="1117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535B903-9BE6-5C1F-3AB1-8D1DC1076FCE}"/>
              </a:ext>
            </a:extLst>
          </p:cNvPr>
          <p:cNvCxnSpPr>
            <a:stCxn id="1034" idx="2"/>
            <a:endCxn id="1036" idx="0"/>
          </p:cNvCxnSpPr>
          <p:nvPr/>
        </p:nvCxnSpPr>
        <p:spPr>
          <a:xfrm flipH="1">
            <a:off x="815039" y="3140434"/>
            <a:ext cx="725" cy="3037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069751-6506-D8AA-C311-5B0239EA1358}"/>
              </a:ext>
            </a:extLst>
          </p:cNvPr>
          <p:cNvCxnSpPr>
            <a:cxnSpLocks/>
            <a:stCxn id="1036" idx="2"/>
          </p:cNvCxnSpPr>
          <p:nvPr/>
        </p:nvCxnSpPr>
        <p:spPr>
          <a:xfrm flipH="1">
            <a:off x="814314" y="4085431"/>
            <a:ext cx="725" cy="455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>
            <a:extLst>
              <a:ext uri="{FF2B5EF4-FFF2-40B4-BE49-F238E27FC236}">
                <a16:creationId xmlns:a16="http://schemas.microsoft.com/office/drawing/2014/main" id="{2DC6D1EF-FFE5-5750-27C0-2496EB6554B9}"/>
              </a:ext>
            </a:extLst>
          </p:cNvPr>
          <p:cNvSpPr/>
          <p:nvPr/>
        </p:nvSpPr>
        <p:spPr>
          <a:xfrm>
            <a:off x="843280" y="5364480"/>
            <a:ext cx="2357120" cy="416560"/>
          </a:xfrm>
          <a:custGeom>
            <a:avLst/>
            <a:gdLst>
              <a:gd name="csX0" fmla="*/ 0 w 2357120"/>
              <a:gd name="csY0" fmla="*/ 0 h 416560"/>
              <a:gd name="csX1" fmla="*/ 1168400 w 2357120"/>
              <a:gd name="csY1" fmla="*/ 416560 h 416560"/>
              <a:gd name="csX2" fmla="*/ 2357120 w 2357120"/>
              <a:gd name="csY2" fmla="*/ 0 h 416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57120" h="416560">
                <a:moveTo>
                  <a:pt x="0" y="0"/>
                </a:moveTo>
                <a:cubicBezTo>
                  <a:pt x="387773" y="208280"/>
                  <a:pt x="775547" y="416560"/>
                  <a:pt x="1168400" y="416560"/>
                </a:cubicBezTo>
                <a:cubicBezTo>
                  <a:pt x="1561253" y="416560"/>
                  <a:pt x="1959186" y="208280"/>
                  <a:pt x="2357120" y="0"/>
                </a:cubicBezTo>
              </a:path>
            </a:pathLst>
          </a:custGeom>
          <a:noFill/>
          <a:ln>
            <a:tailEnd type="triangl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4D0C5C4E-4801-E900-4A1A-FC5A09B006C7}"/>
              </a:ext>
            </a:extLst>
          </p:cNvPr>
          <p:cNvSpPr/>
          <p:nvPr/>
        </p:nvSpPr>
        <p:spPr>
          <a:xfrm>
            <a:off x="3238052" y="5372795"/>
            <a:ext cx="1746536" cy="416560"/>
          </a:xfrm>
          <a:custGeom>
            <a:avLst/>
            <a:gdLst>
              <a:gd name="csX0" fmla="*/ 0 w 2357120"/>
              <a:gd name="csY0" fmla="*/ 0 h 416560"/>
              <a:gd name="csX1" fmla="*/ 1168400 w 2357120"/>
              <a:gd name="csY1" fmla="*/ 416560 h 416560"/>
              <a:gd name="csX2" fmla="*/ 2357120 w 2357120"/>
              <a:gd name="csY2" fmla="*/ 0 h 416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57120" h="416560">
                <a:moveTo>
                  <a:pt x="0" y="0"/>
                </a:moveTo>
                <a:cubicBezTo>
                  <a:pt x="387773" y="208280"/>
                  <a:pt x="775547" y="416560"/>
                  <a:pt x="1168400" y="416560"/>
                </a:cubicBezTo>
                <a:cubicBezTo>
                  <a:pt x="1561253" y="416560"/>
                  <a:pt x="1959186" y="208280"/>
                  <a:pt x="2357120" y="0"/>
                </a:cubicBezTo>
              </a:path>
            </a:pathLst>
          </a:custGeom>
          <a:noFill/>
          <a:ln>
            <a:tailEnd type="triangl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733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46604</TotalTime>
  <Words>1212</Words>
  <Application>Microsoft Macintosh PowerPoint</Application>
  <PresentationFormat>Widescreen</PresentationFormat>
  <Paragraphs>176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Consolas</vt:lpstr>
      <vt:lpstr>Office Theme</vt:lpstr>
      <vt:lpstr>Cloud Native Platform Engineering</vt:lpstr>
      <vt:lpstr>VPCs– Software Datacenter Clusters</vt:lpstr>
      <vt:lpstr>IP Addresses</vt:lpstr>
      <vt:lpstr>Subnetting and “Sandboxes”</vt:lpstr>
      <vt:lpstr>Private and Public Network Addresses </vt:lpstr>
      <vt:lpstr>IP Assignment: How Instances Get Their Addresses</vt:lpstr>
      <vt:lpstr>Controlling Public (Internet Access)</vt:lpstr>
      <vt:lpstr>Public and Private Subnets</vt:lpstr>
      <vt:lpstr>Route Tables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Mitchell,Brian</dc:creator>
  <cp:lastModifiedBy>Mitchell,Brian</cp:lastModifiedBy>
  <cp:revision>17</cp:revision>
  <dcterms:created xsi:type="dcterms:W3CDTF">2024-07-24T15:07:03Z</dcterms:created>
  <dcterms:modified xsi:type="dcterms:W3CDTF">2026-04-20T19:16:22Z</dcterms:modified>
</cp:coreProperties>
</file>